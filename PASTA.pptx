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5" r:id="rId2"/>
  </p:sldMasterIdLst>
  <p:notesMasterIdLst>
    <p:notesMasterId r:id="rId21"/>
  </p:notesMasterIdLst>
  <p:sldIdLst>
    <p:sldId id="257" r:id="rId3"/>
    <p:sldId id="259" r:id="rId4"/>
    <p:sldId id="258" r:id="rId5"/>
    <p:sldId id="260" r:id="rId6"/>
    <p:sldId id="262" r:id="rId7"/>
    <p:sldId id="263" r:id="rId8"/>
    <p:sldId id="264" r:id="rId9"/>
    <p:sldId id="265" r:id="rId10"/>
    <p:sldId id="266" r:id="rId11"/>
    <p:sldId id="274" r:id="rId12"/>
    <p:sldId id="267" r:id="rId13"/>
    <p:sldId id="275" r:id="rId14"/>
    <p:sldId id="268" r:id="rId15"/>
    <p:sldId id="269" r:id="rId16"/>
    <p:sldId id="270" r:id="rId17"/>
    <p:sldId id="271" r:id="rId18"/>
    <p:sldId id="272" r:id="rId19"/>
    <p:sldId id="273"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78"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D9C08D-10E4-4D5B-9404-C0C421B4EC5E}" type="datetimeFigureOut">
              <a:rPr lang="zh-CN" altLang="en-US" smtClean="0"/>
              <a:t>2025/4/5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1F4292-B878-4E42-8E92-7127891275B7}" type="slidenum">
              <a:rPr lang="zh-CN" altLang="en-US" smtClean="0"/>
              <a:t>‹#›</a:t>
            </a:fld>
            <a:endParaRPr lang="zh-CN" altLang="en-US"/>
          </a:p>
        </p:txBody>
      </p:sp>
    </p:spTree>
    <p:extLst>
      <p:ext uri="{BB962C8B-B14F-4D97-AF65-F5344CB8AC3E}">
        <p14:creationId xmlns:p14="http://schemas.microsoft.com/office/powerpoint/2010/main" val="354512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311778-5E3D-4D77-A70D-2361FA50AFDD}" type="slidenum">
              <a:rPr lang="zh-CN" altLang="en-US" smtClean="0"/>
              <a:t>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579057D-9F7F-4282-BF53-B0C3B643D74C}" type="datetimeFigureOut">
              <a:rPr lang="zh-CN" altLang="en-US" smtClean="0"/>
              <a:t>2025/4/5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13B30A-8348-4917-8A13-EE1873E3F65D}" type="slidenum">
              <a:rPr lang="zh-CN" altLang="en-US" smtClean="0"/>
              <a:t>‹#›</a:t>
            </a:fld>
            <a:endParaRPr lang="zh-CN" altLang="en-US"/>
          </a:p>
        </p:txBody>
      </p:sp>
    </p:spTree>
    <p:extLst>
      <p:ext uri="{BB962C8B-B14F-4D97-AF65-F5344CB8AC3E}">
        <p14:creationId xmlns:p14="http://schemas.microsoft.com/office/powerpoint/2010/main" val="378198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模板">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5240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封皮">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5000"/>
                    </a14:imgEffect>
                  </a14:imgLayer>
                </a14:imgProps>
              </a:ext>
              <a:ext uri="{28A0092B-C50C-407E-A947-70E740481C1C}">
                <a14:useLocalDpi xmlns:a14="http://schemas.microsoft.com/office/drawing/2010/main" val="0"/>
              </a:ext>
            </a:extLst>
          </a:blip>
          <a:srcRect l="353" t="-144" r="72822" b="144"/>
          <a:stretch>
            <a:fillRect/>
          </a:stretch>
        </p:blipFill>
        <p:spPr>
          <a:xfrm flipH="1">
            <a:off x="8695007" y="1874982"/>
            <a:ext cx="3496993" cy="4983018"/>
          </a:xfrm>
          <a:prstGeom prst="rect">
            <a:avLst/>
          </a:prstGeom>
        </p:spPr>
      </p:pic>
      <p:pic>
        <p:nvPicPr>
          <p:cNvPr id="4" name="图片 3"/>
          <p:cNvPicPr>
            <a:picLocks noChangeAspect="1"/>
          </p:cNvPicPr>
          <p:nvPr/>
        </p:nvPicPr>
        <p:blipFill rotWithShape="1">
          <a:blip r:embed="rId4">
            <a:extLst>
              <a:ext uri="{28A0092B-C50C-407E-A947-70E740481C1C}">
                <a14:useLocalDpi xmlns:a14="http://schemas.microsoft.com/office/drawing/2010/main" val="0"/>
              </a:ext>
            </a:extLst>
          </a:blip>
          <a:srcRect l="55940" t="136" r="19363"/>
          <a:stretch>
            <a:fillRect/>
          </a:stretch>
        </p:blipFill>
        <p:spPr>
          <a:xfrm rot="10800000">
            <a:off x="0" y="-1"/>
            <a:ext cx="5011838" cy="7420197"/>
          </a:xfrm>
          <a:prstGeom prst="rect">
            <a:avLst/>
          </a:prstGeom>
        </p:spPr>
      </p:pic>
      <p:sp>
        <p:nvSpPr>
          <p:cNvPr id="2" name="矩形 1"/>
          <p:cNvSpPr/>
          <p:nvPr/>
        </p:nvSpPr>
        <p:spPr>
          <a:xfrm>
            <a:off x="0" y="6858000"/>
            <a:ext cx="6682154" cy="1887415"/>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4106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353" t="-144" r="72822" b="144"/>
          <a:stretch>
            <a:fillRect/>
          </a:stretch>
        </p:blipFill>
        <p:spPr>
          <a:xfrm>
            <a:off x="0" y="1173481"/>
            <a:ext cx="4164741" cy="5684519"/>
          </a:xfrm>
          <a:prstGeom prst="rect">
            <a:avLst/>
          </a:prstGeom>
        </p:spPr>
      </p:pic>
      <p:sp>
        <p:nvSpPr>
          <p:cNvPr id="8" name="矩形 7"/>
          <p:cNvSpPr/>
          <p:nvPr/>
        </p:nvSpPr>
        <p:spPr>
          <a:xfrm>
            <a:off x="0" y="-4"/>
            <a:ext cx="12192000"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6200000">
            <a:off x="6446944" y="-1112947"/>
            <a:ext cx="4632112" cy="6858000"/>
          </a:xfrm>
          <a:prstGeom prst="rect">
            <a:avLst/>
          </a:prstGeom>
        </p:spPr>
      </p:pic>
    </p:spTree>
    <p:extLst>
      <p:ext uri="{BB962C8B-B14F-4D97-AF65-F5344CB8AC3E}">
        <p14:creationId xmlns:p14="http://schemas.microsoft.com/office/powerpoint/2010/main" val="495870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6200000" flipV="1">
            <a:off x="899584" y="-899587"/>
            <a:ext cx="4632112" cy="6431280"/>
          </a:xfrm>
          <a:prstGeom prst="rect">
            <a:avLst/>
          </a:prstGeom>
        </p:spPr>
      </p:pic>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353" t="-144" r="72822" b="144"/>
          <a:stretch>
            <a:fillRect/>
          </a:stretch>
        </p:blipFill>
        <p:spPr>
          <a:xfrm flipH="1">
            <a:off x="8695007" y="1874982"/>
            <a:ext cx="3496993" cy="4983018"/>
          </a:xfrm>
          <a:prstGeom prst="rect">
            <a:avLst/>
          </a:prstGeom>
        </p:spPr>
      </p:pic>
    </p:spTree>
    <p:extLst>
      <p:ext uri="{BB962C8B-B14F-4D97-AF65-F5344CB8AC3E}">
        <p14:creationId xmlns:p14="http://schemas.microsoft.com/office/powerpoint/2010/main" val="24326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6200000" flipH="1" flipV="1">
            <a:off x="1518137" y="1134829"/>
            <a:ext cx="4205035" cy="7241308"/>
          </a:xfrm>
          <a:prstGeom prst="rect">
            <a:avLst/>
          </a:prstGeom>
        </p:spPr>
      </p:pic>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l="353" t="-144" r="72822" b="144"/>
          <a:stretch>
            <a:fillRect/>
          </a:stretch>
        </p:blipFill>
        <p:spPr>
          <a:xfrm rot="10800000">
            <a:off x="7604759" y="-1"/>
            <a:ext cx="4587240" cy="6261195"/>
          </a:xfrm>
          <a:prstGeom prst="rect">
            <a:avLst/>
          </a:prstGeom>
        </p:spPr>
      </p:pic>
    </p:spTree>
    <p:extLst>
      <p:ext uri="{BB962C8B-B14F-4D97-AF65-F5344CB8AC3E}">
        <p14:creationId xmlns:p14="http://schemas.microsoft.com/office/powerpoint/2010/main" val="3741746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grpSp>
        <p:nvGrpSpPr>
          <p:cNvPr id="2" name="组合 1"/>
          <p:cNvGrpSpPr/>
          <p:nvPr/>
        </p:nvGrpSpPr>
        <p:grpSpPr>
          <a:xfrm flipH="1">
            <a:off x="-1200" y="0"/>
            <a:ext cx="12193200" cy="6858001"/>
            <a:chOff x="1" y="-1"/>
            <a:chExt cx="12191998" cy="6858001"/>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l="55940" t="136" r="19363"/>
            <a:stretch>
              <a:fillRect/>
            </a:stretch>
          </p:blipFill>
          <p:spPr>
            <a:xfrm rot="16200000" flipH="1" flipV="1">
              <a:off x="1518137" y="1134829"/>
              <a:ext cx="4205035" cy="7241308"/>
            </a:xfrm>
            <a:prstGeom prst="rect">
              <a:avLst/>
            </a:prstGeom>
          </p:spPr>
        </p:pic>
        <p:pic>
          <p:nvPicPr>
            <p:cNvPr id="5" name="图片 4"/>
            <p:cNvPicPr>
              <a:picLocks noChangeAspect="1"/>
            </p:cNvPicPr>
            <p:nvPr userDrawn="1"/>
          </p:nvPicPr>
          <p:blipFill rotWithShape="1">
            <a:blip r:embed="rId2">
              <a:extLst>
                <a:ext uri="{28A0092B-C50C-407E-A947-70E740481C1C}">
                  <a14:useLocalDpi xmlns:a14="http://schemas.microsoft.com/office/drawing/2010/main" val="0"/>
                </a:ext>
              </a:extLst>
            </a:blip>
            <a:srcRect l="353" t="-144" r="72822" b="144"/>
            <a:stretch>
              <a:fillRect/>
            </a:stretch>
          </p:blipFill>
          <p:spPr>
            <a:xfrm rot="10800000">
              <a:off x="7604759" y="-1"/>
              <a:ext cx="4587240" cy="6261195"/>
            </a:xfrm>
            <a:prstGeom prst="rect">
              <a:avLst/>
            </a:prstGeom>
          </p:spPr>
        </p:pic>
      </p:grpSp>
    </p:spTree>
    <p:extLst>
      <p:ext uri="{BB962C8B-B14F-4D97-AF65-F5344CB8AC3E}">
        <p14:creationId xmlns:p14="http://schemas.microsoft.com/office/powerpoint/2010/main" val="1228506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0_自定义版式">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flipV="1">
            <a:off x="7621812" y="2287814"/>
            <a:ext cx="3684841" cy="5455534"/>
          </a:xfrm>
          <a:prstGeom prst="rect">
            <a:avLst/>
          </a:prstGeom>
        </p:spPr>
      </p:pic>
    </p:spTree>
    <p:extLst>
      <p:ext uri="{BB962C8B-B14F-4D97-AF65-F5344CB8AC3E}">
        <p14:creationId xmlns:p14="http://schemas.microsoft.com/office/powerpoint/2010/main" val="100829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flipV="1">
            <a:off x="8064071" y="2730072"/>
            <a:ext cx="3328258" cy="4927600"/>
          </a:xfrm>
          <a:prstGeom prst="rect">
            <a:avLst/>
          </a:prstGeom>
        </p:spPr>
      </p:pic>
      <p:sp>
        <p:nvSpPr>
          <p:cNvPr id="8" name="矩形 7"/>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61" name="图片 60"/>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Tree>
    <p:extLst>
      <p:ext uri="{BB962C8B-B14F-4D97-AF65-F5344CB8AC3E}">
        <p14:creationId xmlns:p14="http://schemas.microsoft.com/office/powerpoint/2010/main" val="412871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6_自定义版式">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flipV="1">
            <a:off x="8064071" y="2730072"/>
            <a:ext cx="3328258" cy="4927600"/>
          </a:xfrm>
          <a:prstGeom prst="rect">
            <a:avLst/>
          </a:prstGeom>
        </p:spPr>
      </p:pic>
      <p:sp>
        <p:nvSpPr>
          <p:cNvPr id="8" name="矩形 7"/>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 name="图片 60"/>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
        <p:nvSpPr>
          <p:cNvPr id="63" name="Big Image"/>
          <p:cNvSpPr>
            <a:spLocks noGrp="1"/>
          </p:cNvSpPr>
          <p:nvPr>
            <p:ph type="pic" sz="quarter" idx="16" hasCustomPrompt="1"/>
          </p:nvPr>
        </p:nvSpPr>
        <p:spPr>
          <a:xfrm>
            <a:off x="1558926" y="1740743"/>
            <a:ext cx="3871884" cy="3744914"/>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Tree>
    <p:extLst>
      <p:ext uri="{BB962C8B-B14F-4D97-AF65-F5344CB8AC3E}">
        <p14:creationId xmlns:p14="http://schemas.microsoft.com/office/powerpoint/2010/main" val="319045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par>
                                <p:cTn id="10" presetID="31" presetClass="entr" presetSubtype="0" fill="hold" grpId="0" nodeType="with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p:cTn id="12" dur="1000" fill="hold"/>
                                        <p:tgtEl>
                                          <p:spTgt spid="63"/>
                                        </p:tgtEl>
                                        <p:attrNameLst>
                                          <p:attrName>ppt_w</p:attrName>
                                        </p:attrNameLst>
                                      </p:cBhvr>
                                      <p:tavLst>
                                        <p:tav tm="0">
                                          <p:val>
                                            <p:fltVal val="0"/>
                                          </p:val>
                                        </p:tav>
                                        <p:tav tm="100000">
                                          <p:val>
                                            <p:strVal val="#ppt_w"/>
                                          </p:val>
                                        </p:tav>
                                      </p:tavLst>
                                    </p:anim>
                                    <p:anim calcmode="lin" valueType="num">
                                      <p:cBhvr>
                                        <p:cTn id="13" dur="1000" fill="hold"/>
                                        <p:tgtEl>
                                          <p:spTgt spid="63"/>
                                        </p:tgtEl>
                                        <p:attrNameLst>
                                          <p:attrName>ppt_h</p:attrName>
                                        </p:attrNameLst>
                                      </p:cBhvr>
                                      <p:tavLst>
                                        <p:tav tm="0">
                                          <p:val>
                                            <p:fltVal val="0"/>
                                          </p:val>
                                        </p:tav>
                                        <p:tav tm="100000">
                                          <p:val>
                                            <p:strVal val="#ppt_h"/>
                                          </p:val>
                                        </p:tav>
                                      </p:tavLst>
                                    </p:anim>
                                    <p:anim calcmode="lin" valueType="num">
                                      <p:cBhvr>
                                        <p:cTn id="14" dur="1000" fill="hold"/>
                                        <p:tgtEl>
                                          <p:spTgt spid="63"/>
                                        </p:tgtEl>
                                        <p:attrNameLst>
                                          <p:attrName>style.rotation</p:attrName>
                                        </p:attrNameLst>
                                      </p:cBhvr>
                                      <p:tavLst>
                                        <p:tav tm="0">
                                          <p:val>
                                            <p:fltVal val="90"/>
                                          </p:val>
                                        </p:tav>
                                        <p:tav tm="100000">
                                          <p:val>
                                            <p:fltVal val="0"/>
                                          </p:val>
                                        </p:tav>
                                      </p:tavLst>
                                    </p:anim>
                                    <p:animEffect transition="in" filter="fade">
                                      <p:cBhvr>
                                        <p:cTn id="15"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0800000">
            <a:off x="0" y="426721"/>
            <a:ext cx="2027835" cy="3002279"/>
          </a:xfrm>
          <a:prstGeom prst="rect">
            <a:avLst/>
          </a:prstGeom>
        </p:spPr>
      </p:pic>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flipV="1">
            <a:off x="7851291" y="2517291"/>
            <a:ext cx="3499818" cy="5181600"/>
          </a:xfrm>
          <a:prstGeom prst="rect">
            <a:avLst/>
          </a:prstGeom>
        </p:spPr>
      </p:pic>
      <p:sp>
        <p:nvSpPr>
          <p:cNvPr id="8" name="矩形 7"/>
          <p:cNvSpPr/>
          <p:nvPr/>
        </p:nvSpPr>
        <p:spPr>
          <a:xfrm>
            <a:off x="2199190" y="-4"/>
            <a:ext cx="9992810"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2" name="图片 61"/>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Tree>
    <p:extLst>
      <p:ext uri="{BB962C8B-B14F-4D97-AF65-F5344CB8AC3E}">
        <p14:creationId xmlns:p14="http://schemas.microsoft.com/office/powerpoint/2010/main" val="350882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1000"/>
                                        <p:tgtEl>
                                          <p:spTgt spid="62"/>
                                        </p:tgtEl>
                                      </p:cBhvr>
                                    </p:animEffect>
                                    <p:anim calcmode="lin" valueType="num">
                                      <p:cBhvr>
                                        <p:cTn id="8" dur="1000" fill="hold"/>
                                        <p:tgtEl>
                                          <p:spTgt spid="62"/>
                                        </p:tgtEl>
                                        <p:attrNameLst>
                                          <p:attrName>ppt_x</p:attrName>
                                        </p:attrNameLst>
                                      </p:cBhvr>
                                      <p:tavLst>
                                        <p:tav tm="0">
                                          <p:val>
                                            <p:strVal val="#ppt_x"/>
                                          </p:val>
                                        </p:tav>
                                        <p:tav tm="100000">
                                          <p:val>
                                            <p:strVal val="#ppt_x"/>
                                          </p:val>
                                        </p:tav>
                                      </p:tavLst>
                                    </p:anim>
                                    <p:anim calcmode="lin" valueType="num">
                                      <p:cBhvr>
                                        <p:cTn id="9"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3_自定义版式">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0800000">
            <a:off x="3563" y="439837"/>
            <a:ext cx="2027835" cy="3002279"/>
          </a:xfrm>
          <a:prstGeom prst="rect">
            <a:avLst/>
          </a:prstGeom>
        </p:spPr>
      </p:pic>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flipV="1">
            <a:off x="7851291" y="2517291"/>
            <a:ext cx="3499818" cy="5181600"/>
          </a:xfrm>
          <a:prstGeom prst="rect">
            <a:avLst/>
          </a:prstGeom>
        </p:spPr>
      </p:pic>
      <p:sp>
        <p:nvSpPr>
          <p:cNvPr id="8" name="矩形 7"/>
          <p:cNvSpPr/>
          <p:nvPr/>
        </p:nvSpPr>
        <p:spPr>
          <a:xfrm>
            <a:off x="2199190" y="-4"/>
            <a:ext cx="9992810"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0045305" y="134684"/>
            <a:ext cx="1406500" cy="397751"/>
            <a:chOff x="479376" y="479847"/>
            <a:chExt cx="4271963" cy="1208088"/>
          </a:xfrm>
        </p:grpSpPr>
        <p:sp>
          <p:nvSpPr>
            <p:cNvPr id="11"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2"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9"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0"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1"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62" name="图片 61"/>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
        <p:nvSpPr>
          <p:cNvPr id="64" name="Big Image"/>
          <p:cNvSpPr>
            <a:spLocks noGrp="1"/>
          </p:cNvSpPr>
          <p:nvPr>
            <p:ph type="pic" sz="quarter" idx="16" hasCustomPrompt="1"/>
          </p:nvPr>
        </p:nvSpPr>
        <p:spPr>
          <a:xfrm>
            <a:off x="4403435" y="1692899"/>
            <a:ext cx="3435926" cy="3421509"/>
          </a:xfrm>
          <a:prstGeom prst="flowChartConnector">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Tree>
    <p:extLst>
      <p:ext uri="{BB962C8B-B14F-4D97-AF65-F5344CB8AC3E}">
        <p14:creationId xmlns:p14="http://schemas.microsoft.com/office/powerpoint/2010/main" val="368682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1000"/>
                                        <p:tgtEl>
                                          <p:spTgt spid="62"/>
                                        </p:tgtEl>
                                      </p:cBhvr>
                                    </p:animEffect>
                                    <p:anim calcmode="lin" valueType="num">
                                      <p:cBhvr>
                                        <p:cTn id="8" dur="1000" fill="hold"/>
                                        <p:tgtEl>
                                          <p:spTgt spid="62"/>
                                        </p:tgtEl>
                                        <p:attrNameLst>
                                          <p:attrName>ppt_x</p:attrName>
                                        </p:attrNameLst>
                                      </p:cBhvr>
                                      <p:tavLst>
                                        <p:tav tm="0">
                                          <p:val>
                                            <p:strVal val="#ppt_x"/>
                                          </p:val>
                                        </p:tav>
                                        <p:tav tm="100000">
                                          <p:val>
                                            <p:strVal val="#ppt_x"/>
                                          </p:val>
                                        </p:tav>
                                      </p:tavLst>
                                    </p:anim>
                                    <p:anim calcmode="lin" valueType="num">
                                      <p:cBhvr>
                                        <p:cTn id="9" dur="1000" fill="hold"/>
                                        <p:tgtEl>
                                          <p:spTgt spid="62"/>
                                        </p:tgtEl>
                                        <p:attrNameLst>
                                          <p:attrName>ppt_y</p:attrName>
                                        </p:attrNameLst>
                                      </p:cBhvr>
                                      <p:tavLst>
                                        <p:tav tm="0">
                                          <p:val>
                                            <p:strVal val="#ppt_y-.1"/>
                                          </p:val>
                                        </p:tav>
                                        <p:tav tm="100000">
                                          <p:val>
                                            <p:strVal val="#ppt_y"/>
                                          </p:val>
                                        </p:tav>
                                      </p:tavLst>
                                    </p:anim>
                                  </p:childTnLst>
                                </p:cTn>
                              </p:par>
                              <p:par>
                                <p:cTn id="10" presetID="45" presetClass="entr" presetSubtype="0" fill="hold" grpId="0" nodeType="with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1000"/>
                                        <p:tgtEl>
                                          <p:spTgt spid="64"/>
                                        </p:tgtEl>
                                      </p:cBhvr>
                                    </p:animEffect>
                                    <p:anim calcmode="lin" valueType="num">
                                      <p:cBhvr>
                                        <p:cTn id="13" dur="1000" fill="hold"/>
                                        <p:tgtEl>
                                          <p:spTgt spid="64"/>
                                        </p:tgtEl>
                                        <p:attrNameLst>
                                          <p:attrName>ppt_w</p:attrName>
                                        </p:attrNameLst>
                                      </p:cBhvr>
                                      <p:tavLst>
                                        <p:tav tm="0" fmla="#ppt_w*sin(2.5*pi*$)">
                                          <p:val>
                                            <p:fltVal val="0"/>
                                          </p:val>
                                        </p:tav>
                                        <p:tav tm="100000">
                                          <p:val>
                                            <p:fltVal val="1"/>
                                          </p:val>
                                        </p:tav>
                                      </p:tavLst>
                                    </p:anim>
                                    <p:anim calcmode="lin" valueType="num">
                                      <p:cBhvr>
                                        <p:cTn id="14" dur="1000" fill="hold"/>
                                        <p:tgtEl>
                                          <p:spTgt spid="6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flipV="1">
            <a:off x="7851291" y="2517291"/>
            <a:ext cx="3499818" cy="5181600"/>
          </a:xfrm>
          <a:prstGeom prst="rect">
            <a:avLst/>
          </a:prstGeom>
        </p:spPr>
      </p:pic>
      <p:sp>
        <p:nvSpPr>
          <p:cNvPr id="8" name="矩形 7"/>
          <p:cNvSpPr/>
          <p:nvPr/>
        </p:nvSpPr>
        <p:spPr>
          <a:xfrm>
            <a:off x="0" y="-4"/>
            <a:ext cx="12192000"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0045305" y="134684"/>
            <a:ext cx="1406500" cy="397751"/>
            <a:chOff x="479376" y="479847"/>
            <a:chExt cx="4271963" cy="1208088"/>
          </a:xfrm>
        </p:grpSpPr>
        <p:sp>
          <p:nvSpPr>
            <p:cNvPr id="10"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2"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9"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0"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61" name="图片 60"/>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Tree>
    <p:extLst>
      <p:ext uri="{BB962C8B-B14F-4D97-AF65-F5344CB8AC3E}">
        <p14:creationId xmlns:p14="http://schemas.microsoft.com/office/powerpoint/2010/main" val="2217447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5_自定义版式">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flipV="1">
            <a:off x="7851291" y="2517291"/>
            <a:ext cx="3499818" cy="5181600"/>
          </a:xfrm>
          <a:prstGeom prst="rect">
            <a:avLst/>
          </a:prstGeom>
        </p:spPr>
      </p:pic>
      <p:sp>
        <p:nvSpPr>
          <p:cNvPr id="8" name="矩形 7"/>
          <p:cNvSpPr/>
          <p:nvPr/>
        </p:nvSpPr>
        <p:spPr>
          <a:xfrm>
            <a:off x="0" y="-4"/>
            <a:ext cx="12192000"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0045305" y="134684"/>
            <a:ext cx="1406500" cy="397751"/>
            <a:chOff x="479376" y="479847"/>
            <a:chExt cx="4271963" cy="1208088"/>
          </a:xfrm>
        </p:grpSpPr>
        <p:sp>
          <p:nvSpPr>
            <p:cNvPr id="10"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2"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9"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0"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61" name="图片 60"/>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
        <p:nvSpPr>
          <p:cNvPr id="62" name="Big Image"/>
          <p:cNvSpPr>
            <a:spLocks noGrp="1"/>
          </p:cNvSpPr>
          <p:nvPr>
            <p:ph type="pic" sz="quarter" idx="16" hasCustomPrompt="1"/>
          </p:nvPr>
        </p:nvSpPr>
        <p:spPr>
          <a:xfrm>
            <a:off x="1558927" y="1352549"/>
            <a:ext cx="2824942" cy="2851180"/>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
        <p:nvSpPr>
          <p:cNvPr id="64" name="Big Image"/>
          <p:cNvSpPr>
            <a:spLocks noGrp="1"/>
          </p:cNvSpPr>
          <p:nvPr>
            <p:ph type="pic" sz="quarter" idx="18" hasCustomPrompt="1"/>
          </p:nvPr>
        </p:nvSpPr>
        <p:spPr>
          <a:xfrm>
            <a:off x="7843059" y="1352549"/>
            <a:ext cx="2824942" cy="2851180"/>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
        <p:nvSpPr>
          <p:cNvPr id="63" name="Big Image"/>
          <p:cNvSpPr>
            <a:spLocks noGrp="1"/>
          </p:cNvSpPr>
          <p:nvPr>
            <p:ph type="pic" sz="quarter" idx="17" hasCustomPrompt="1"/>
          </p:nvPr>
        </p:nvSpPr>
        <p:spPr>
          <a:xfrm>
            <a:off x="4700994" y="1352549"/>
            <a:ext cx="2824942" cy="2851180"/>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Tree>
    <p:extLst>
      <p:ext uri="{BB962C8B-B14F-4D97-AF65-F5344CB8AC3E}">
        <p14:creationId xmlns:p14="http://schemas.microsoft.com/office/powerpoint/2010/main" val="257715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500"/>
                                        <p:tgtEl>
                                          <p:spTgt spid="62"/>
                                        </p:tgtEl>
                                      </p:cBhvr>
                                    </p:animEffect>
                                    <p:anim calcmode="lin" valueType="num">
                                      <p:cBhvr>
                                        <p:cTn id="14" dur="500" fill="hold"/>
                                        <p:tgtEl>
                                          <p:spTgt spid="62"/>
                                        </p:tgtEl>
                                        <p:attrNameLst>
                                          <p:attrName>ppt_x</p:attrName>
                                        </p:attrNameLst>
                                      </p:cBhvr>
                                      <p:tavLst>
                                        <p:tav tm="0">
                                          <p:val>
                                            <p:strVal val="#ppt_x"/>
                                          </p:val>
                                        </p:tav>
                                        <p:tav tm="100000">
                                          <p:val>
                                            <p:strVal val="#ppt_x"/>
                                          </p:val>
                                        </p:tav>
                                      </p:tavLst>
                                    </p:anim>
                                    <p:anim calcmode="lin" valueType="num">
                                      <p:cBhvr>
                                        <p:cTn id="15" dur="500" fill="hold"/>
                                        <p:tgtEl>
                                          <p:spTgt spid="62"/>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fade">
                                      <p:cBhvr>
                                        <p:cTn id="19" dur="500"/>
                                        <p:tgtEl>
                                          <p:spTgt spid="63"/>
                                        </p:tgtEl>
                                      </p:cBhvr>
                                    </p:animEffect>
                                    <p:anim calcmode="lin" valueType="num">
                                      <p:cBhvr>
                                        <p:cTn id="20" dur="500" fill="hold"/>
                                        <p:tgtEl>
                                          <p:spTgt spid="63"/>
                                        </p:tgtEl>
                                        <p:attrNameLst>
                                          <p:attrName>ppt_x</p:attrName>
                                        </p:attrNameLst>
                                      </p:cBhvr>
                                      <p:tavLst>
                                        <p:tav tm="0">
                                          <p:val>
                                            <p:strVal val="#ppt_x"/>
                                          </p:val>
                                        </p:tav>
                                        <p:tav tm="100000">
                                          <p:val>
                                            <p:strVal val="#ppt_x"/>
                                          </p:val>
                                        </p:tav>
                                      </p:tavLst>
                                    </p:anim>
                                    <p:anim calcmode="lin" valueType="num">
                                      <p:cBhvr>
                                        <p:cTn id="21" dur="500" fill="hold"/>
                                        <p:tgtEl>
                                          <p:spTgt spid="63"/>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7" presetClass="entr" presetSubtype="0" fill="hold" grpId="0" nodeType="after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anim calcmode="lin" valueType="num">
                                      <p:cBhvr>
                                        <p:cTn id="26" dur="500" fill="hold"/>
                                        <p:tgtEl>
                                          <p:spTgt spid="64"/>
                                        </p:tgtEl>
                                        <p:attrNameLst>
                                          <p:attrName>ppt_x</p:attrName>
                                        </p:attrNameLst>
                                      </p:cBhvr>
                                      <p:tavLst>
                                        <p:tav tm="0">
                                          <p:val>
                                            <p:strVal val="#ppt_x"/>
                                          </p:val>
                                        </p:tav>
                                        <p:tav tm="100000">
                                          <p:val>
                                            <p:strVal val="#ppt_x"/>
                                          </p:val>
                                        </p:tav>
                                      </p:tavLst>
                                    </p:anim>
                                    <p:anim calcmode="lin" valueType="num">
                                      <p:cBhvr>
                                        <p:cTn id="27" dur="500" fill="hold"/>
                                        <p:tgtEl>
                                          <p:spTgt spid="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4" grpId="0" animBg="1"/>
      <p:bldP spid="63"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4_自定义版式">
    <p:spTree>
      <p:nvGrpSpPr>
        <p:cNvPr id="1" name=""/>
        <p:cNvGrpSpPr/>
        <p:nvPr/>
      </p:nvGrpSpPr>
      <p:grpSpPr>
        <a:xfrm>
          <a:off x="0" y="0"/>
          <a:ext cx="0" cy="0"/>
          <a:chOff x="0" y="0"/>
          <a:chExt cx="0" cy="0"/>
        </a:xfrm>
      </p:grpSpPr>
      <p:sp>
        <p:nvSpPr>
          <p:cNvPr id="8" name="矩形 7"/>
          <p:cNvSpPr/>
          <p:nvPr/>
        </p:nvSpPr>
        <p:spPr>
          <a:xfrm>
            <a:off x="0" y="-4"/>
            <a:ext cx="12192000"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Big Image"/>
          <p:cNvSpPr>
            <a:spLocks noGrp="1"/>
          </p:cNvSpPr>
          <p:nvPr>
            <p:ph type="pic" sz="quarter" idx="17" hasCustomPrompt="1"/>
          </p:nvPr>
        </p:nvSpPr>
        <p:spPr>
          <a:xfrm>
            <a:off x="2787954" y="3721201"/>
            <a:ext cx="2660073" cy="3136797"/>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
        <p:nvSpPr>
          <p:cNvPr id="62" name="Big Image"/>
          <p:cNvSpPr>
            <a:spLocks noGrp="1"/>
          </p:cNvSpPr>
          <p:nvPr>
            <p:ph type="pic" sz="quarter" idx="16" hasCustomPrompt="1"/>
          </p:nvPr>
        </p:nvSpPr>
        <p:spPr>
          <a:xfrm>
            <a:off x="592467" y="1342841"/>
            <a:ext cx="2660073" cy="2715212"/>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flipV="1">
            <a:off x="7851291" y="2517291"/>
            <a:ext cx="3499818" cy="5181600"/>
          </a:xfrm>
          <a:prstGeom prst="rect">
            <a:avLst/>
          </a:prstGeom>
        </p:spPr>
      </p:pic>
      <p:sp>
        <p:nvSpPr>
          <p:cNvPr id="5" name="矩形 4"/>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0045305" y="134684"/>
            <a:ext cx="1406500" cy="397751"/>
            <a:chOff x="479376" y="479847"/>
            <a:chExt cx="4271963" cy="1208088"/>
          </a:xfrm>
        </p:grpSpPr>
        <p:sp>
          <p:nvSpPr>
            <p:cNvPr id="10"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2"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9"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0"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61" name="图片 60"/>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
        <p:nvSpPr>
          <p:cNvPr id="67" name="Big Image"/>
          <p:cNvSpPr>
            <a:spLocks noGrp="1"/>
          </p:cNvSpPr>
          <p:nvPr>
            <p:ph type="pic" sz="quarter" idx="18" hasCustomPrompt="1"/>
          </p:nvPr>
        </p:nvSpPr>
        <p:spPr>
          <a:xfrm>
            <a:off x="-104457" y="3721201"/>
            <a:ext cx="2666391" cy="2589000"/>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Tree>
    <p:extLst>
      <p:ext uri="{BB962C8B-B14F-4D97-AF65-F5344CB8AC3E}">
        <p14:creationId xmlns:p14="http://schemas.microsoft.com/office/powerpoint/2010/main" val="3994149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1" fill="hold" grpId="0" nodeType="afterEffect">
                                  <p:stCondLst>
                                    <p:cond delay="0"/>
                                  </p:stCondLst>
                                  <p:childTnLst>
                                    <p:set>
                                      <p:cBhvr>
                                        <p:cTn id="12" dur="1" fill="hold">
                                          <p:stCondLst>
                                            <p:cond delay="0"/>
                                          </p:stCondLst>
                                        </p:cTn>
                                        <p:tgtEl>
                                          <p:spTgt spid="62"/>
                                        </p:tgtEl>
                                        <p:attrNameLst>
                                          <p:attrName>style.visibility</p:attrName>
                                        </p:attrNameLst>
                                      </p:cBhvr>
                                      <p:to>
                                        <p:strVal val="visible"/>
                                      </p:to>
                                    </p:set>
                                    <p:anim calcmode="lin" valueType="num">
                                      <p:cBhvr additive="base">
                                        <p:cTn id="13" dur="500" fill="hold"/>
                                        <p:tgtEl>
                                          <p:spTgt spid="62"/>
                                        </p:tgtEl>
                                        <p:attrNameLst>
                                          <p:attrName>ppt_x</p:attrName>
                                        </p:attrNameLst>
                                      </p:cBhvr>
                                      <p:tavLst>
                                        <p:tav tm="0">
                                          <p:val>
                                            <p:strVal val="#ppt_x"/>
                                          </p:val>
                                        </p:tav>
                                        <p:tav tm="100000">
                                          <p:val>
                                            <p:strVal val="#ppt_x"/>
                                          </p:val>
                                        </p:tav>
                                      </p:tavLst>
                                    </p:anim>
                                    <p:anim calcmode="lin" valueType="num">
                                      <p:cBhvr additive="base">
                                        <p:cTn id="14" dur="500" fill="hold"/>
                                        <p:tgtEl>
                                          <p:spTgt spid="62"/>
                                        </p:tgtEl>
                                        <p:attrNameLst>
                                          <p:attrName>ppt_y</p:attrName>
                                        </p:attrNameLst>
                                      </p:cBhvr>
                                      <p:tavLst>
                                        <p:tav tm="0">
                                          <p:val>
                                            <p:strVal val="0-#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7"/>
                                        </p:tgtEl>
                                        <p:attrNameLst>
                                          <p:attrName>style.visibility</p:attrName>
                                        </p:attrNameLst>
                                      </p:cBhvr>
                                      <p:to>
                                        <p:strVal val="visible"/>
                                      </p:to>
                                    </p:set>
                                    <p:anim calcmode="lin" valueType="num">
                                      <p:cBhvr additive="base">
                                        <p:cTn id="17" dur="500" fill="hold"/>
                                        <p:tgtEl>
                                          <p:spTgt spid="67"/>
                                        </p:tgtEl>
                                        <p:attrNameLst>
                                          <p:attrName>ppt_x</p:attrName>
                                        </p:attrNameLst>
                                      </p:cBhvr>
                                      <p:tavLst>
                                        <p:tav tm="0">
                                          <p:val>
                                            <p:strVal val="#ppt_x"/>
                                          </p:val>
                                        </p:tav>
                                        <p:tav tm="100000">
                                          <p:val>
                                            <p:strVal val="#ppt_x"/>
                                          </p:val>
                                        </p:tav>
                                      </p:tavLst>
                                    </p:anim>
                                    <p:anim calcmode="lin" valueType="num">
                                      <p:cBhvr additive="base">
                                        <p:cTn id="18" dur="500" fill="hold"/>
                                        <p:tgtEl>
                                          <p:spTgt spid="6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6"/>
                                        </p:tgtEl>
                                        <p:attrNameLst>
                                          <p:attrName>style.visibility</p:attrName>
                                        </p:attrNameLst>
                                      </p:cBhvr>
                                      <p:to>
                                        <p:strVal val="visible"/>
                                      </p:to>
                                    </p:set>
                                    <p:anim calcmode="lin" valueType="num">
                                      <p:cBhvr additive="base">
                                        <p:cTn id="21" dur="500" fill="hold"/>
                                        <p:tgtEl>
                                          <p:spTgt spid="66"/>
                                        </p:tgtEl>
                                        <p:attrNameLst>
                                          <p:attrName>ppt_x</p:attrName>
                                        </p:attrNameLst>
                                      </p:cBhvr>
                                      <p:tavLst>
                                        <p:tav tm="0">
                                          <p:val>
                                            <p:strVal val="#ppt_x"/>
                                          </p:val>
                                        </p:tav>
                                        <p:tav tm="100000">
                                          <p:val>
                                            <p:strVal val="#ppt_x"/>
                                          </p:val>
                                        </p:tav>
                                      </p:tavLst>
                                    </p:anim>
                                    <p:anim calcmode="lin" valueType="num">
                                      <p:cBhvr additive="base">
                                        <p:cTn id="22"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2" grpId="0" animBg="1"/>
      <p:bldP spid="67" grpId="0"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0800000" flipH="1">
            <a:off x="10163572" y="422025"/>
            <a:ext cx="2028428" cy="3002279"/>
          </a:xfrm>
          <a:prstGeom prst="rect">
            <a:avLst/>
          </a:prstGeom>
        </p:spPr>
      </p:pic>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6200000" flipH="1" flipV="1">
            <a:off x="841648" y="2516530"/>
            <a:ext cx="3499818" cy="5183115"/>
          </a:xfrm>
          <a:prstGeom prst="rect">
            <a:avLst/>
          </a:prstGeom>
        </p:spPr>
      </p:pic>
      <p:sp>
        <p:nvSpPr>
          <p:cNvPr id="8" name="矩形 7"/>
          <p:cNvSpPr/>
          <p:nvPr/>
        </p:nvSpPr>
        <p:spPr>
          <a:xfrm>
            <a:off x="0" y="-4"/>
            <a:ext cx="10034328"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0045305" y="134684"/>
            <a:ext cx="1406500" cy="397751"/>
            <a:chOff x="479376" y="479847"/>
            <a:chExt cx="4271963" cy="1208088"/>
          </a:xfrm>
        </p:grpSpPr>
        <p:sp>
          <p:nvSpPr>
            <p:cNvPr id="13"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9"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0"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1"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2"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3"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66" name="图片 65"/>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Tree>
    <p:extLst>
      <p:ext uri="{BB962C8B-B14F-4D97-AF65-F5344CB8AC3E}">
        <p14:creationId xmlns:p14="http://schemas.microsoft.com/office/powerpoint/2010/main" val="217333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9_自定义版式">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0800000" flipH="1">
            <a:off x="10163572" y="422025"/>
            <a:ext cx="2028428" cy="3002279"/>
          </a:xfrm>
          <a:prstGeom prst="rect">
            <a:avLst/>
          </a:prstGeom>
        </p:spPr>
      </p:pic>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6200000" flipH="1" flipV="1">
            <a:off x="841648" y="2516530"/>
            <a:ext cx="3499818" cy="5183115"/>
          </a:xfrm>
          <a:prstGeom prst="rect">
            <a:avLst/>
          </a:prstGeom>
        </p:spPr>
      </p:pic>
      <p:sp>
        <p:nvSpPr>
          <p:cNvPr id="8" name="矩形 7"/>
          <p:cNvSpPr/>
          <p:nvPr/>
        </p:nvSpPr>
        <p:spPr>
          <a:xfrm>
            <a:off x="0" y="-4"/>
            <a:ext cx="10034328"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0045305" y="134684"/>
            <a:ext cx="1406500" cy="397751"/>
            <a:chOff x="479376" y="479847"/>
            <a:chExt cx="4271963" cy="1208088"/>
          </a:xfrm>
        </p:grpSpPr>
        <p:sp>
          <p:nvSpPr>
            <p:cNvPr id="13"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9"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0"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1"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2"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3"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66" name="图片 65"/>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
        <p:nvSpPr>
          <p:cNvPr id="64" name="Big Image"/>
          <p:cNvSpPr>
            <a:spLocks noGrp="1"/>
          </p:cNvSpPr>
          <p:nvPr>
            <p:ph type="pic" sz="quarter" idx="16" hasCustomPrompt="1"/>
          </p:nvPr>
        </p:nvSpPr>
        <p:spPr>
          <a:xfrm>
            <a:off x="6953682" y="1235031"/>
            <a:ext cx="3714318" cy="4950544"/>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Tree>
    <p:extLst>
      <p:ext uri="{BB962C8B-B14F-4D97-AF65-F5344CB8AC3E}">
        <p14:creationId xmlns:p14="http://schemas.microsoft.com/office/powerpoint/2010/main" val="3875535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55" presetClass="entr" presetSubtype="0" fill="hold" grpId="0" nodeType="withEffect">
                                  <p:stCondLst>
                                    <p:cond delay="0"/>
                                  </p:stCondLst>
                                  <p:childTnLst>
                                    <p:set>
                                      <p:cBhvr>
                                        <p:cTn id="11" dur="1" fill="hold">
                                          <p:stCondLst>
                                            <p:cond delay="0"/>
                                          </p:stCondLst>
                                        </p:cTn>
                                        <p:tgtEl>
                                          <p:spTgt spid="64"/>
                                        </p:tgtEl>
                                        <p:attrNameLst>
                                          <p:attrName>style.visibility</p:attrName>
                                        </p:attrNameLst>
                                      </p:cBhvr>
                                      <p:to>
                                        <p:strVal val="visible"/>
                                      </p:to>
                                    </p:set>
                                    <p:anim calcmode="lin" valueType="num">
                                      <p:cBhvr>
                                        <p:cTn id="12" dur="500" fill="hold"/>
                                        <p:tgtEl>
                                          <p:spTgt spid="64"/>
                                        </p:tgtEl>
                                        <p:attrNameLst>
                                          <p:attrName>ppt_w</p:attrName>
                                        </p:attrNameLst>
                                      </p:cBhvr>
                                      <p:tavLst>
                                        <p:tav tm="0">
                                          <p:val>
                                            <p:strVal val="#ppt_w*0.70"/>
                                          </p:val>
                                        </p:tav>
                                        <p:tav tm="100000">
                                          <p:val>
                                            <p:strVal val="#ppt_w"/>
                                          </p:val>
                                        </p:tav>
                                      </p:tavLst>
                                    </p:anim>
                                    <p:anim calcmode="lin" valueType="num">
                                      <p:cBhvr>
                                        <p:cTn id="13" dur="500" fill="hold"/>
                                        <p:tgtEl>
                                          <p:spTgt spid="64"/>
                                        </p:tgtEl>
                                        <p:attrNameLst>
                                          <p:attrName>ppt_h</p:attrName>
                                        </p:attrNameLst>
                                      </p:cBhvr>
                                      <p:tavLst>
                                        <p:tav tm="0">
                                          <p:val>
                                            <p:strVal val="#ppt_h"/>
                                          </p:val>
                                        </p:tav>
                                        <p:tav tm="100000">
                                          <p:val>
                                            <p:strVal val="#ppt_h"/>
                                          </p:val>
                                        </p:tav>
                                      </p:tavLst>
                                    </p:anim>
                                    <p:animEffect transition="in" filter="fade">
                                      <p:cBhvr>
                                        <p:cTn id="14"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7_自定义版式">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0800000" flipH="1">
            <a:off x="10163572" y="422025"/>
            <a:ext cx="2028428" cy="3002279"/>
          </a:xfrm>
          <a:prstGeom prst="rect">
            <a:avLst/>
          </a:prstGeom>
        </p:spPr>
      </p:pic>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6200000" flipH="1" flipV="1">
            <a:off x="841648" y="2516530"/>
            <a:ext cx="3499818" cy="5183115"/>
          </a:xfrm>
          <a:prstGeom prst="rect">
            <a:avLst/>
          </a:prstGeom>
        </p:spPr>
      </p:pic>
      <p:sp>
        <p:nvSpPr>
          <p:cNvPr id="8" name="矩形 7"/>
          <p:cNvSpPr/>
          <p:nvPr/>
        </p:nvSpPr>
        <p:spPr>
          <a:xfrm>
            <a:off x="0" y="-4"/>
            <a:ext cx="10034328"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0045305" y="134684"/>
            <a:ext cx="1406500" cy="397751"/>
            <a:chOff x="479376" y="479847"/>
            <a:chExt cx="4271963" cy="1208088"/>
          </a:xfrm>
        </p:grpSpPr>
        <p:sp>
          <p:nvSpPr>
            <p:cNvPr id="13"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9"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0"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1"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2"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3"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66" name="图片 65"/>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
        <p:nvSpPr>
          <p:cNvPr id="64" name="Big Image"/>
          <p:cNvSpPr>
            <a:spLocks noGrp="1"/>
          </p:cNvSpPr>
          <p:nvPr>
            <p:ph type="pic" sz="quarter" idx="16" hasCustomPrompt="1"/>
          </p:nvPr>
        </p:nvSpPr>
        <p:spPr>
          <a:xfrm>
            <a:off x="4246951" y="1681017"/>
            <a:ext cx="3694547" cy="2325349"/>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Tree>
    <p:extLst>
      <p:ext uri="{BB962C8B-B14F-4D97-AF65-F5344CB8AC3E}">
        <p14:creationId xmlns:p14="http://schemas.microsoft.com/office/powerpoint/2010/main" val="1148267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4" presetClass="entr" presetSubtype="10" fill="hold" grpId="0" nodeType="afterEffect">
                                  <p:stCondLst>
                                    <p:cond delay="0"/>
                                  </p:stCondLst>
                                  <p:childTnLst>
                                    <p:set>
                                      <p:cBhvr>
                                        <p:cTn id="12" dur="1" fill="hold">
                                          <p:stCondLst>
                                            <p:cond delay="0"/>
                                          </p:stCondLst>
                                        </p:cTn>
                                        <p:tgtEl>
                                          <p:spTgt spid="64"/>
                                        </p:tgtEl>
                                        <p:attrNameLst>
                                          <p:attrName>style.visibility</p:attrName>
                                        </p:attrNameLst>
                                      </p:cBhvr>
                                      <p:to>
                                        <p:strVal val="visible"/>
                                      </p:to>
                                    </p:set>
                                    <p:animEffect transition="in" filter="randombar(horizontal)">
                                      <p:cBhvr>
                                        <p:cTn id="1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8_自定义版式">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a:off x="993291" y="2364891"/>
            <a:ext cx="3499818" cy="5486400"/>
          </a:xfrm>
          <a:prstGeom prst="rect">
            <a:avLst/>
          </a:prstGeom>
        </p:spPr>
      </p:pic>
      <p:sp>
        <p:nvSpPr>
          <p:cNvPr id="8" name="矩形 7"/>
          <p:cNvSpPr/>
          <p:nvPr/>
        </p:nvSpPr>
        <p:spPr>
          <a:xfrm>
            <a:off x="0" y="-4"/>
            <a:ext cx="12192000"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0045305" y="134684"/>
            <a:ext cx="1406500" cy="397751"/>
            <a:chOff x="479376" y="479847"/>
            <a:chExt cx="4271963" cy="1208088"/>
          </a:xfrm>
        </p:grpSpPr>
        <p:sp>
          <p:nvSpPr>
            <p:cNvPr id="6"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2"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59" name="图片 58"/>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Tree>
    <p:extLst>
      <p:ext uri="{BB962C8B-B14F-4D97-AF65-F5344CB8AC3E}">
        <p14:creationId xmlns:p14="http://schemas.microsoft.com/office/powerpoint/2010/main" val="181748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anim calcmode="lin" valueType="num">
                                      <p:cBhvr>
                                        <p:cTn id="8" dur="1000" fill="hold"/>
                                        <p:tgtEl>
                                          <p:spTgt spid="59"/>
                                        </p:tgtEl>
                                        <p:attrNameLst>
                                          <p:attrName>ppt_x</p:attrName>
                                        </p:attrNameLst>
                                      </p:cBhvr>
                                      <p:tavLst>
                                        <p:tav tm="0">
                                          <p:val>
                                            <p:strVal val="#ppt_x"/>
                                          </p:val>
                                        </p:tav>
                                        <p:tav tm="100000">
                                          <p:val>
                                            <p:strVal val="#ppt_x"/>
                                          </p:val>
                                        </p:tav>
                                      </p:tavLst>
                                    </p:anim>
                                    <p:anim calcmode="lin" valueType="num">
                                      <p:cBhvr>
                                        <p:cTn id="9"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_自定义版式">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flipH="1">
            <a:off x="967740" y="-967740"/>
            <a:ext cx="3550920" cy="5486400"/>
          </a:xfrm>
          <a:prstGeom prst="rect">
            <a:avLst/>
          </a:prstGeom>
        </p:spPr>
      </p:pic>
      <p:sp>
        <p:nvSpPr>
          <p:cNvPr id="8" name="矩形 7"/>
          <p:cNvSpPr/>
          <p:nvPr/>
        </p:nvSpPr>
        <p:spPr>
          <a:xfrm>
            <a:off x="0" y="-4"/>
            <a:ext cx="12192000"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0045305" y="134684"/>
            <a:ext cx="1406500" cy="397751"/>
            <a:chOff x="479376" y="479847"/>
            <a:chExt cx="4271963" cy="1208088"/>
          </a:xfrm>
        </p:grpSpPr>
        <p:sp>
          <p:nvSpPr>
            <p:cNvPr id="6"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2"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59" name="图片 58"/>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Tree>
    <p:extLst>
      <p:ext uri="{BB962C8B-B14F-4D97-AF65-F5344CB8AC3E}">
        <p14:creationId xmlns:p14="http://schemas.microsoft.com/office/powerpoint/2010/main" val="175009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anim calcmode="lin" valueType="num">
                                      <p:cBhvr>
                                        <p:cTn id="8" dur="1000" fill="hold"/>
                                        <p:tgtEl>
                                          <p:spTgt spid="59"/>
                                        </p:tgtEl>
                                        <p:attrNameLst>
                                          <p:attrName>ppt_x</p:attrName>
                                        </p:attrNameLst>
                                      </p:cBhvr>
                                      <p:tavLst>
                                        <p:tav tm="0">
                                          <p:val>
                                            <p:strVal val="#ppt_x"/>
                                          </p:val>
                                        </p:tav>
                                        <p:tav tm="100000">
                                          <p:val>
                                            <p:strVal val="#ppt_x"/>
                                          </p:val>
                                        </p:tav>
                                      </p:tavLst>
                                    </p:anim>
                                    <p:anim calcmode="lin" valueType="num">
                                      <p:cBhvr>
                                        <p:cTn id="9"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8_自定义版式">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flipH="1">
            <a:off x="967740" y="-967740"/>
            <a:ext cx="3550920" cy="5486400"/>
          </a:xfrm>
          <a:prstGeom prst="rect">
            <a:avLst/>
          </a:prstGeom>
        </p:spPr>
      </p:pic>
      <p:sp>
        <p:nvSpPr>
          <p:cNvPr id="8" name="矩形 7"/>
          <p:cNvSpPr/>
          <p:nvPr/>
        </p:nvSpPr>
        <p:spPr>
          <a:xfrm>
            <a:off x="0" y="-4"/>
            <a:ext cx="12192000"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Big Image"/>
          <p:cNvSpPr>
            <a:spLocks noGrp="1"/>
          </p:cNvSpPr>
          <p:nvPr>
            <p:ph type="pic" sz="quarter" idx="16" hasCustomPrompt="1"/>
          </p:nvPr>
        </p:nvSpPr>
        <p:spPr>
          <a:xfrm>
            <a:off x="7437650" y="1186180"/>
            <a:ext cx="3424585" cy="4617520"/>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
        <p:nvSpPr>
          <p:cNvPr id="4" name="矩形 3"/>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0045305" y="134684"/>
            <a:ext cx="1406500" cy="397751"/>
            <a:chOff x="479376" y="479847"/>
            <a:chExt cx="4271963" cy="1208088"/>
          </a:xfrm>
        </p:grpSpPr>
        <p:sp>
          <p:nvSpPr>
            <p:cNvPr id="6"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2"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59" name="图片 58"/>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Tree>
    <p:extLst>
      <p:ext uri="{BB962C8B-B14F-4D97-AF65-F5344CB8AC3E}">
        <p14:creationId xmlns:p14="http://schemas.microsoft.com/office/powerpoint/2010/main" val="74062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anim calcmode="lin" valueType="num">
                                      <p:cBhvr>
                                        <p:cTn id="8" dur="1000" fill="hold"/>
                                        <p:tgtEl>
                                          <p:spTgt spid="59"/>
                                        </p:tgtEl>
                                        <p:attrNameLst>
                                          <p:attrName>ppt_x</p:attrName>
                                        </p:attrNameLst>
                                      </p:cBhvr>
                                      <p:tavLst>
                                        <p:tav tm="0">
                                          <p:val>
                                            <p:strVal val="#ppt_x"/>
                                          </p:val>
                                        </p:tav>
                                        <p:tav tm="100000">
                                          <p:val>
                                            <p:strVal val="#ppt_x"/>
                                          </p:val>
                                        </p:tav>
                                      </p:tavLst>
                                    </p:anim>
                                    <p:anim calcmode="lin" valueType="num">
                                      <p:cBhvr>
                                        <p:cTn id="9" dur="1000" fill="hold"/>
                                        <p:tgtEl>
                                          <p:spTgt spid="5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4" presetClass="entr" presetSubtype="10" fill="hold" grpId="0" nodeType="after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randombar(horizontal)">
                                      <p:cBhvr>
                                        <p:cTn id="13"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封皮">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5000"/>
                    </a14:imgEffect>
                  </a14:imgLayer>
                </a14:imgProps>
              </a:ext>
              <a:ext uri="{28A0092B-C50C-407E-A947-70E740481C1C}">
                <a14:useLocalDpi xmlns:a14="http://schemas.microsoft.com/office/drawing/2010/main" val="0"/>
              </a:ext>
            </a:extLst>
          </a:blip>
          <a:srcRect l="353" t="-144" r="72822" b="144"/>
          <a:stretch>
            <a:fillRect/>
          </a:stretch>
        </p:blipFill>
        <p:spPr>
          <a:xfrm rot="10800000">
            <a:off x="8610599" y="0"/>
            <a:ext cx="3452446" cy="4983018"/>
          </a:xfrm>
          <a:prstGeom prst="rect">
            <a:avLst/>
          </a:prstGeom>
        </p:spPr>
      </p:pic>
      <p:sp>
        <p:nvSpPr>
          <p:cNvPr id="2" name="矩形 1"/>
          <p:cNvSpPr/>
          <p:nvPr/>
        </p:nvSpPr>
        <p:spPr>
          <a:xfrm>
            <a:off x="0" y="6858000"/>
            <a:ext cx="6682154" cy="1887415"/>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rotWithShape="1">
          <a:blip r:embed="rId4">
            <a:extLst>
              <a:ext uri="{28A0092B-C50C-407E-A947-70E740481C1C}">
                <a14:useLocalDpi xmlns:a14="http://schemas.microsoft.com/office/drawing/2010/main" val="0"/>
              </a:ext>
            </a:extLst>
          </a:blip>
          <a:srcRect l="55940" t="136" r="19363"/>
          <a:stretch>
            <a:fillRect/>
          </a:stretch>
        </p:blipFill>
        <p:spPr>
          <a:xfrm rot="16200000" flipH="1" flipV="1">
            <a:off x="1518137" y="1134829"/>
            <a:ext cx="4205035" cy="7241308"/>
          </a:xfrm>
          <a:prstGeom prst="rect">
            <a:avLst/>
          </a:prstGeom>
        </p:spPr>
      </p:pic>
      <p:sp>
        <p:nvSpPr>
          <p:cNvPr id="6" name="矩形 5"/>
          <p:cNvSpPr/>
          <p:nvPr/>
        </p:nvSpPr>
        <p:spPr>
          <a:xfrm>
            <a:off x="3915508" y="-4"/>
            <a:ext cx="8276492" cy="6858004"/>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1241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2" presetClass="entr" presetSubtype="8" fill="hold"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1_自定义版式">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0800000" flipH="1">
            <a:off x="10163572" y="422025"/>
            <a:ext cx="2028428" cy="3002279"/>
          </a:xfrm>
          <a:prstGeom prst="rect">
            <a:avLst/>
          </a:prstGeom>
        </p:spPr>
      </p:pic>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16200000" flipH="1" flipV="1">
            <a:off x="841648" y="2516530"/>
            <a:ext cx="3499818" cy="5183115"/>
          </a:xfrm>
          <a:prstGeom prst="rect">
            <a:avLst/>
          </a:prstGeom>
        </p:spPr>
      </p:pic>
      <p:sp>
        <p:nvSpPr>
          <p:cNvPr id="8" name="矩形 7"/>
          <p:cNvSpPr/>
          <p:nvPr/>
        </p:nvSpPr>
        <p:spPr>
          <a:xfrm>
            <a:off x="0" y="-4"/>
            <a:ext cx="10034328"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0045305" y="134684"/>
            <a:ext cx="1406500" cy="397751"/>
            <a:chOff x="479376" y="479847"/>
            <a:chExt cx="4271963" cy="1208088"/>
          </a:xfrm>
        </p:grpSpPr>
        <p:sp>
          <p:nvSpPr>
            <p:cNvPr id="13"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9"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0"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1"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2"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3"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66" name="图片 65"/>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
        <p:nvSpPr>
          <p:cNvPr id="64" name="Big Image"/>
          <p:cNvSpPr>
            <a:spLocks noGrp="1"/>
          </p:cNvSpPr>
          <p:nvPr>
            <p:ph type="pic" sz="quarter" idx="16" hasCustomPrompt="1"/>
          </p:nvPr>
        </p:nvSpPr>
        <p:spPr>
          <a:xfrm>
            <a:off x="1581715" y="1660535"/>
            <a:ext cx="4066041" cy="2105746"/>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
        <p:nvSpPr>
          <p:cNvPr id="65" name="Big Image"/>
          <p:cNvSpPr>
            <a:spLocks noGrp="1"/>
          </p:cNvSpPr>
          <p:nvPr>
            <p:ph type="pic" sz="quarter" idx="17" hasCustomPrompt="1"/>
          </p:nvPr>
        </p:nvSpPr>
        <p:spPr>
          <a:xfrm>
            <a:off x="6546359" y="1660534"/>
            <a:ext cx="4066041" cy="2105746"/>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Tree>
    <p:extLst>
      <p:ext uri="{BB962C8B-B14F-4D97-AF65-F5344CB8AC3E}">
        <p14:creationId xmlns:p14="http://schemas.microsoft.com/office/powerpoint/2010/main" val="162008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31" presetClass="entr" presetSubtype="0" fill="hold" grpId="0" nodeType="withEffect">
                                  <p:stCondLst>
                                    <p:cond delay="0"/>
                                  </p:stCondLst>
                                  <p:childTnLst>
                                    <p:set>
                                      <p:cBhvr>
                                        <p:cTn id="11" dur="1" fill="hold">
                                          <p:stCondLst>
                                            <p:cond delay="0"/>
                                          </p:stCondLst>
                                        </p:cTn>
                                        <p:tgtEl>
                                          <p:spTgt spid="64"/>
                                        </p:tgtEl>
                                        <p:attrNameLst>
                                          <p:attrName>style.visibility</p:attrName>
                                        </p:attrNameLst>
                                      </p:cBhvr>
                                      <p:to>
                                        <p:strVal val="visible"/>
                                      </p:to>
                                    </p:set>
                                    <p:anim calcmode="lin" valueType="num">
                                      <p:cBhvr>
                                        <p:cTn id="12" dur="1000" fill="hold"/>
                                        <p:tgtEl>
                                          <p:spTgt spid="64"/>
                                        </p:tgtEl>
                                        <p:attrNameLst>
                                          <p:attrName>ppt_w</p:attrName>
                                        </p:attrNameLst>
                                      </p:cBhvr>
                                      <p:tavLst>
                                        <p:tav tm="0">
                                          <p:val>
                                            <p:fltVal val="0"/>
                                          </p:val>
                                        </p:tav>
                                        <p:tav tm="100000">
                                          <p:val>
                                            <p:strVal val="#ppt_w"/>
                                          </p:val>
                                        </p:tav>
                                      </p:tavLst>
                                    </p:anim>
                                    <p:anim calcmode="lin" valueType="num">
                                      <p:cBhvr>
                                        <p:cTn id="13" dur="1000" fill="hold"/>
                                        <p:tgtEl>
                                          <p:spTgt spid="64"/>
                                        </p:tgtEl>
                                        <p:attrNameLst>
                                          <p:attrName>ppt_h</p:attrName>
                                        </p:attrNameLst>
                                      </p:cBhvr>
                                      <p:tavLst>
                                        <p:tav tm="0">
                                          <p:val>
                                            <p:fltVal val="0"/>
                                          </p:val>
                                        </p:tav>
                                        <p:tav tm="100000">
                                          <p:val>
                                            <p:strVal val="#ppt_h"/>
                                          </p:val>
                                        </p:tav>
                                      </p:tavLst>
                                    </p:anim>
                                    <p:anim calcmode="lin" valueType="num">
                                      <p:cBhvr>
                                        <p:cTn id="14" dur="1000" fill="hold"/>
                                        <p:tgtEl>
                                          <p:spTgt spid="64"/>
                                        </p:tgtEl>
                                        <p:attrNameLst>
                                          <p:attrName>style.rotation</p:attrName>
                                        </p:attrNameLst>
                                      </p:cBhvr>
                                      <p:tavLst>
                                        <p:tav tm="0">
                                          <p:val>
                                            <p:fltVal val="90"/>
                                          </p:val>
                                        </p:tav>
                                        <p:tav tm="100000">
                                          <p:val>
                                            <p:fltVal val="0"/>
                                          </p:val>
                                        </p:tav>
                                      </p:tavLst>
                                    </p:anim>
                                    <p:animEffect transition="in" filter="fade">
                                      <p:cBhvr>
                                        <p:cTn id="15" dur="1000"/>
                                        <p:tgtEl>
                                          <p:spTgt spid="64"/>
                                        </p:tgtEl>
                                      </p:cBhvr>
                                    </p:animEffect>
                                  </p:childTnLst>
                                </p:cTn>
                              </p:par>
                            </p:childTnLst>
                          </p:cTn>
                        </p:par>
                        <p:par>
                          <p:cTn id="16" fill="hold">
                            <p:stCondLst>
                              <p:cond delay="1000"/>
                            </p:stCondLst>
                            <p:childTnLst>
                              <p:par>
                                <p:cTn id="17" presetID="31" presetClass="entr" presetSubtype="0" fill="hold" grpId="0" nodeType="afterEffect">
                                  <p:stCondLst>
                                    <p:cond delay="0"/>
                                  </p:stCondLst>
                                  <p:childTnLst>
                                    <p:set>
                                      <p:cBhvr>
                                        <p:cTn id="18" dur="1" fill="hold">
                                          <p:stCondLst>
                                            <p:cond delay="0"/>
                                          </p:stCondLst>
                                        </p:cTn>
                                        <p:tgtEl>
                                          <p:spTgt spid="65"/>
                                        </p:tgtEl>
                                        <p:attrNameLst>
                                          <p:attrName>style.visibility</p:attrName>
                                        </p:attrNameLst>
                                      </p:cBhvr>
                                      <p:to>
                                        <p:strVal val="visible"/>
                                      </p:to>
                                    </p:set>
                                    <p:anim calcmode="lin" valueType="num">
                                      <p:cBhvr>
                                        <p:cTn id="19" dur="1000" fill="hold"/>
                                        <p:tgtEl>
                                          <p:spTgt spid="65"/>
                                        </p:tgtEl>
                                        <p:attrNameLst>
                                          <p:attrName>ppt_w</p:attrName>
                                        </p:attrNameLst>
                                      </p:cBhvr>
                                      <p:tavLst>
                                        <p:tav tm="0">
                                          <p:val>
                                            <p:fltVal val="0"/>
                                          </p:val>
                                        </p:tav>
                                        <p:tav tm="100000">
                                          <p:val>
                                            <p:strVal val="#ppt_w"/>
                                          </p:val>
                                        </p:tav>
                                      </p:tavLst>
                                    </p:anim>
                                    <p:anim calcmode="lin" valueType="num">
                                      <p:cBhvr>
                                        <p:cTn id="20" dur="1000" fill="hold"/>
                                        <p:tgtEl>
                                          <p:spTgt spid="65"/>
                                        </p:tgtEl>
                                        <p:attrNameLst>
                                          <p:attrName>ppt_h</p:attrName>
                                        </p:attrNameLst>
                                      </p:cBhvr>
                                      <p:tavLst>
                                        <p:tav tm="0">
                                          <p:val>
                                            <p:fltVal val="0"/>
                                          </p:val>
                                        </p:tav>
                                        <p:tav tm="100000">
                                          <p:val>
                                            <p:strVal val="#ppt_h"/>
                                          </p:val>
                                        </p:tav>
                                      </p:tavLst>
                                    </p:anim>
                                    <p:anim calcmode="lin" valueType="num">
                                      <p:cBhvr>
                                        <p:cTn id="21" dur="1000" fill="hold"/>
                                        <p:tgtEl>
                                          <p:spTgt spid="65"/>
                                        </p:tgtEl>
                                        <p:attrNameLst>
                                          <p:attrName>style.rotation</p:attrName>
                                        </p:attrNameLst>
                                      </p:cBhvr>
                                      <p:tavLst>
                                        <p:tav tm="0">
                                          <p:val>
                                            <p:fltVal val="90"/>
                                          </p:val>
                                        </p:tav>
                                        <p:tav tm="100000">
                                          <p:val>
                                            <p:fltVal val="0"/>
                                          </p:val>
                                        </p:tav>
                                      </p:tavLst>
                                    </p:anim>
                                    <p:animEffect transition="in" filter="fade">
                                      <p:cBhvr>
                                        <p:cTn id="22" dur="1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2_自定义版式">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55940" t="136" r="19363"/>
          <a:stretch>
            <a:fillRect/>
          </a:stretch>
        </p:blipFill>
        <p:spPr>
          <a:xfrm rot="5400000" flipV="1">
            <a:off x="7851291" y="2517291"/>
            <a:ext cx="3499818" cy="5181600"/>
          </a:xfrm>
          <a:prstGeom prst="rect">
            <a:avLst/>
          </a:prstGeom>
        </p:spPr>
      </p:pic>
      <p:sp>
        <p:nvSpPr>
          <p:cNvPr id="8" name="矩形 7"/>
          <p:cNvSpPr/>
          <p:nvPr/>
        </p:nvSpPr>
        <p:spPr>
          <a:xfrm>
            <a:off x="0" y="-4"/>
            <a:ext cx="12192000" cy="685800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6"/>
            <a:ext cx="12192000" cy="648178"/>
          </a:xfrm>
          <a:prstGeom prst="rect">
            <a:avLst/>
          </a:prstGeom>
          <a:solidFill>
            <a:srgbClr val="52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0045305" y="134684"/>
            <a:ext cx="1406500" cy="397751"/>
            <a:chOff x="479376" y="479847"/>
            <a:chExt cx="4271963" cy="1208088"/>
          </a:xfrm>
        </p:grpSpPr>
        <p:sp>
          <p:nvSpPr>
            <p:cNvPr id="10" name="Freeform 5"/>
            <p:cNvSpPr/>
            <p:nvPr userDrawn="1"/>
          </p:nvSpPr>
          <p:spPr bwMode="auto">
            <a:xfrm>
              <a:off x="833389" y="1516485"/>
              <a:ext cx="63500" cy="84138"/>
            </a:xfrm>
            <a:custGeom>
              <a:avLst/>
              <a:gdLst>
                <a:gd name="T0" fmla="*/ 11 w 17"/>
                <a:gd name="T1" fmla="*/ 22 h 22"/>
                <a:gd name="T2" fmla="*/ 11 w 17"/>
                <a:gd name="T3" fmla="*/ 22 h 22"/>
                <a:gd name="T4" fmla="*/ 6 w 17"/>
                <a:gd name="T5" fmla="*/ 20 h 22"/>
                <a:gd name="T6" fmla="*/ 0 w 17"/>
                <a:gd name="T7" fmla="*/ 17 h 22"/>
                <a:gd name="T8" fmla="*/ 0 w 17"/>
                <a:gd name="T9" fmla="*/ 17 h 22"/>
                <a:gd name="T10" fmla="*/ 0 w 17"/>
                <a:gd name="T11" fmla="*/ 16 h 22"/>
                <a:gd name="T12" fmla="*/ 0 w 17"/>
                <a:gd name="T13" fmla="*/ 16 h 22"/>
                <a:gd name="T14" fmla="*/ 2 w 17"/>
                <a:gd name="T15" fmla="*/ 17 h 22"/>
                <a:gd name="T16" fmla="*/ 3 w 17"/>
                <a:gd name="T17" fmla="*/ 17 h 22"/>
                <a:gd name="T18" fmla="*/ 4 w 17"/>
                <a:gd name="T19" fmla="*/ 17 h 22"/>
                <a:gd name="T20" fmla="*/ 7 w 17"/>
                <a:gd name="T21" fmla="*/ 12 h 22"/>
                <a:gd name="T22" fmla="*/ 8 w 17"/>
                <a:gd name="T23" fmla="*/ 8 h 22"/>
                <a:gd name="T24" fmla="*/ 10 w 17"/>
                <a:gd name="T25" fmla="*/ 4 h 22"/>
                <a:gd name="T26" fmla="*/ 11 w 17"/>
                <a:gd name="T27" fmla="*/ 3 h 22"/>
                <a:gd name="T28" fmla="*/ 11 w 17"/>
                <a:gd name="T29" fmla="*/ 2 h 22"/>
                <a:gd name="T30" fmla="*/ 10 w 17"/>
                <a:gd name="T31" fmla="*/ 2 h 22"/>
                <a:gd name="T32" fmla="*/ 6 w 17"/>
                <a:gd name="T33" fmla="*/ 2 h 22"/>
                <a:gd name="T34" fmla="*/ 6 w 17"/>
                <a:gd name="T35" fmla="*/ 2 h 22"/>
                <a:gd name="T36" fmla="*/ 6 w 17"/>
                <a:gd name="T37" fmla="*/ 0 h 22"/>
                <a:gd name="T38" fmla="*/ 6 w 17"/>
                <a:gd name="T39" fmla="*/ 0 h 22"/>
                <a:gd name="T40" fmla="*/ 16 w 17"/>
                <a:gd name="T41" fmla="*/ 1 h 22"/>
                <a:gd name="T42" fmla="*/ 17 w 17"/>
                <a:gd name="T43" fmla="*/ 1 h 22"/>
                <a:gd name="T44" fmla="*/ 15 w 17"/>
                <a:gd name="T45" fmla="*/ 4 h 22"/>
                <a:gd name="T46" fmla="*/ 14 w 17"/>
                <a:gd name="T47" fmla="*/ 7 h 22"/>
                <a:gd name="T48" fmla="*/ 11 w 17"/>
                <a:gd name="T49" fmla="*/ 13 h 22"/>
                <a:gd name="T50" fmla="*/ 8 w 17"/>
                <a:gd name="T51" fmla="*/ 19 h 22"/>
                <a:gd name="T52" fmla="*/ 9 w 17"/>
                <a:gd name="T53" fmla="*/ 20 h 22"/>
                <a:gd name="T54" fmla="*/ 11 w 17"/>
                <a:gd name="T55" fmla="*/ 21 h 22"/>
                <a:gd name="T56" fmla="*/ 11 w 17"/>
                <a:gd name="T57" fmla="*/ 21 h 22"/>
                <a:gd name="T58" fmla="*/ 11 w 17"/>
                <a:gd name="T5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 h="22">
                  <a:moveTo>
                    <a:pt x="11" y="22"/>
                  </a:moveTo>
                  <a:cubicBezTo>
                    <a:pt x="11" y="22"/>
                    <a:pt x="11" y="22"/>
                    <a:pt x="11" y="22"/>
                  </a:cubicBezTo>
                  <a:cubicBezTo>
                    <a:pt x="9" y="22"/>
                    <a:pt x="8" y="21"/>
                    <a:pt x="6" y="20"/>
                  </a:cubicBezTo>
                  <a:cubicBezTo>
                    <a:pt x="4" y="19"/>
                    <a:pt x="2" y="18"/>
                    <a:pt x="0" y="17"/>
                  </a:cubicBezTo>
                  <a:cubicBezTo>
                    <a:pt x="0" y="17"/>
                    <a:pt x="0" y="17"/>
                    <a:pt x="0" y="17"/>
                  </a:cubicBezTo>
                  <a:cubicBezTo>
                    <a:pt x="0" y="16"/>
                    <a:pt x="0" y="16"/>
                    <a:pt x="0" y="16"/>
                  </a:cubicBezTo>
                  <a:cubicBezTo>
                    <a:pt x="0" y="16"/>
                    <a:pt x="0" y="16"/>
                    <a:pt x="0" y="16"/>
                  </a:cubicBezTo>
                  <a:cubicBezTo>
                    <a:pt x="1" y="16"/>
                    <a:pt x="1" y="17"/>
                    <a:pt x="2" y="17"/>
                  </a:cubicBezTo>
                  <a:cubicBezTo>
                    <a:pt x="3" y="17"/>
                    <a:pt x="3" y="17"/>
                    <a:pt x="3" y="17"/>
                  </a:cubicBezTo>
                  <a:cubicBezTo>
                    <a:pt x="4" y="17"/>
                    <a:pt x="4" y="17"/>
                    <a:pt x="4" y="17"/>
                  </a:cubicBezTo>
                  <a:cubicBezTo>
                    <a:pt x="5" y="17"/>
                    <a:pt x="5" y="15"/>
                    <a:pt x="7" y="12"/>
                  </a:cubicBezTo>
                  <a:cubicBezTo>
                    <a:pt x="8" y="8"/>
                    <a:pt x="8" y="8"/>
                    <a:pt x="8" y="8"/>
                  </a:cubicBezTo>
                  <a:cubicBezTo>
                    <a:pt x="9" y="7"/>
                    <a:pt x="10" y="6"/>
                    <a:pt x="10" y="4"/>
                  </a:cubicBezTo>
                  <a:cubicBezTo>
                    <a:pt x="11" y="3"/>
                    <a:pt x="11" y="3"/>
                    <a:pt x="11" y="3"/>
                  </a:cubicBezTo>
                  <a:cubicBezTo>
                    <a:pt x="11" y="2"/>
                    <a:pt x="11" y="2"/>
                    <a:pt x="11" y="2"/>
                  </a:cubicBezTo>
                  <a:cubicBezTo>
                    <a:pt x="11" y="2"/>
                    <a:pt x="10" y="2"/>
                    <a:pt x="10" y="2"/>
                  </a:cubicBezTo>
                  <a:cubicBezTo>
                    <a:pt x="8" y="2"/>
                    <a:pt x="7" y="2"/>
                    <a:pt x="6" y="2"/>
                  </a:cubicBezTo>
                  <a:cubicBezTo>
                    <a:pt x="6" y="2"/>
                    <a:pt x="6" y="2"/>
                    <a:pt x="6" y="2"/>
                  </a:cubicBezTo>
                  <a:cubicBezTo>
                    <a:pt x="6" y="1"/>
                    <a:pt x="6" y="1"/>
                    <a:pt x="6" y="0"/>
                  </a:cubicBezTo>
                  <a:cubicBezTo>
                    <a:pt x="6" y="0"/>
                    <a:pt x="6" y="0"/>
                    <a:pt x="6" y="0"/>
                  </a:cubicBezTo>
                  <a:cubicBezTo>
                    <a:pt x="9" y="0"/>
                    <a:pt x="13" y="1"/>
                    <a:pt x="16" y="1"/>
                  </a:cubicBezTo>
                  <a:cubicBezTo>
                    <a:pt x="17" y="1"/>
                    <a:pt x="17" y="1"/>
                    <a:pt x="17" y="1"/>
                  </a:cubicBezTo>
                  <a:cubicBezTo>
                    <a:pt x="16" y="2"/>
                    <a:pt x="16" y="2"/>
                    <a:pt x="15" y="4"/>
                  </a:cubicBezTo>
                  <a:cubicBezTo>
                    <a:pt x="15" y="4"/>
                    <a:pt x="14" y="5"/>
                    <a:pt x="14" y="7"/>
                  </a:cubicBezTo>
                  <a:cubicBezTo>
                    <a:pt x="11" y="13"/>
                    <a:pt x="11" y="13"/>
                    <a:pt x="11" y="13"/>
                  </a:cubicBezTo>
                  <a:cubicBezTo>
                    <a:pt x="9" y="17"/>
                    <a:pt x="8" y="19"/>
                    <a:pt x="8" y="19"/>
                  </a:cubicBezTo>
                  <a:cubicBezTo>
                    <a:pt x="8" y="19"/>
                    <a:pt x="8" y="20"/>
                    <a:pt x="9" y="20"/>
                  </a:cubicBezTo>
                  <a:cubicBezTo>
                    <a:pt x="9" y="20"/>
                    <a:pt x="10" y="20"/>
                    <a:pt x="11" y="21"/>
                  </a:cubicBezTo>
                  <a:cubicBezTo>
                    <a:pt x="11" y="21"/>
                    <a:pt x="11" y="21"/>
                    <a:pt x="11" y="21"/>
                  </a:cubicBezTo>
                  <a:lnTo>
                    <a:pt x="11" y="2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6"/>
            <p:cNvSpPr>
              <a:spLocks noEditPoints="1"/>
            </p:cNvSpPr>
            <p:nvPr userDrawn="1"/>
          </p:nvSpPr>
          <p:spPr bwMode="auto">
            <a:xfrm>
              <a:off x="976264" y="1554585"/>
              <a:ext cx="63500" cy="84138"/>
            </a:xfrm>
            <a:custGeom>
              <a:avLst/>
              <a:gdLst>
                <a:gd name="T0" fmla="*/ 16 w 17"/>
                <a:gd name="T1" fmla="*/ 16 h 22"/>
                <a:gd name="T2" fmla="*/ 15 w 17"/>
                <a:gd name="T3" fmla="*/ 19 h 22"/>
                <a:gd name="T4" fmla="*/ 10 w 17"/>
                <a:gd name="T5" fmla="*/ 22 h 22"/>
                <a:gd name="T6" fmla="*/ 7 w 17"/>
                <a:gd name="T7" fmla="*/ 22 h 22"/>
                <a:gd name="T8" fmla="*/ 1 w 17"/>
                <a:gd name="T9" fmla="*/ 18 h 22"/>
                <a:gd name="T10" fmla="*/ 1 w 17"/>
                <a:gd name="T11" fmla="*/ 15 h 22"/>
                <a:gd name="T12" fmla="*/ 3 w 17"/>
                <a:gd name="T13" fmla="*/ 11 h 22"/>
                <a:gd name="T14" fmla="*/ 5 w 17"/>
                <a:gd name="T15" fmla="*/ 10 h 22"/>
                <a:gd name="T16" fmla="*/ 3 w 17"/>
                <a:gd name="T17" fmla="*/ 5 h 22"/>
                <a:gd name="T18" fmla="*/ 7 w 17"/>
                <a:gd name="T19" fmla="*/ 0 h 22"/>
                <a:gd name="T20" fmla="*/ 11 w 17"/>
                <a:gd name="T21" fmla="*/ 0 h 22"/>
                <a:gd name="T22" fmla="*/ 15 w 17"/>
                <a:gd name="T23" fmla="*/ 2 h 22"/>
                <a:gd name="T24" fmla="*/ 17 w 17"/>
                <a:gd name="T25" fmla="*/ 5 h 22"/>
                <a:gd name="T26" fmla="*/ 13 w 17"/>
                <a:gd name="T27" fmla="*/ 9 h 22"/>
                <a:gd name="T28" fmla="*/ 16 w 17"/>
                <a:gd name="T29" fmla="*/ 12 h 22"/>
                <a:gd name="T30" fmla="*/ 16 w 17"/>
                <a:gd name="T31" fmla="*/ 16 h 22"/>
                <a:gd name="T32" fmla="*/ 12 w 17"/>
                <a:gd name="T33" fmla="*/ 17 h 22"/>
                <a:gd name="T34" fmla="*/ 10 w 17"/>
                <a:gd name="T35" fmla="*/ 13 h 22"/>
                <a:gd name="T36" fmla="*/ 7 w 17"/>
                <a:gd name="T37" fmla="*/ 11 h 22"/>
                <a:gd name="T38" fmla="*/ 7 w 17"/>
                <a:gd name="T39" fmla="*/ 11 h 22"/>
                <a:gd name="T40" fmla="*/ 4 w 17"/>
                <a:gd name="T41" fmla="*/ 15 h 22"/>
                <a:gd name="T42" fmla="*/ 4 w 17"/>
                <a:gd name="T43" fmla="*/ 18 h 22"/>
                <a:gd name="T44" fmla="*/ 8 w 17"/>
                <a:gd name="T45" fmla="*/ 20 h 22"/>
                <a:gd name="T46" fmla="*/ 11 w 17"/>
                <a:gd name="T47" fmla="*/ 20 h 22"/>
                <a:gd name="T48" fmla="*/ 12 w 17"/>
                <a:gd name="T49" fmla="*/ 17 h 22"/>
                <a:gd name="T50" fmla="*/ 14 w 17"/>
                <a:gd name="T51" fmla="*/ 5 h 22"/>
                <a:gd name="T52" fmla="*/ 13 w 17"/>
                <a:gd name="T53" fmla="*/ 3 h 22"/>
                <a:gd name="T54" fmla="*/ 10 w 17"/>
                <a:gd name="T55" fmla="*/ 1 h 22"/>
                <a:gd name="T56" fmla="*/ 8 w 17"/>
                <a:gd name="T57" fmla="*/ 2 h 22"/>
                <a:gd name="T58" fmla="*/ 6 w 17"/>
                <a:gd name="T59" fmla="*/ 4 h 22"/>
                <a:gd name="T60" fmla="*/ 7 w 17"/>
                <a:gd name="T61" fmla="*/ 6 h 22"/>
                <a:gd name="T62" fmla="*/ 9 w 17"/>
                <a:gd name="T63" fmla="*/ 7 h 22"/>
                <a:gd name="T64" fmla="*/ 10 w 17"/>
                <a:gd name="T65" fmla="*/ 8 h 22"/>
                <a:gd name="T66" fmla="*/ 11 w 17"/>
                <a:gd name="T67" fmla="*/ 9 h 22"/>
                <a:gd name="T68" fmla="*/ 14 w 17"/>
                <a:gd name="T69"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22">
                  <a:moveTo>
                    <a:pt x="16" y="16"/>
                  </a:moveTo>
                  <a:cubicBezTo>
                    <a:pt x="16" y="17"/>
                    <a:pt x="16" y="18"/>
                    <a:pt x="15" y="19"/>
                  </a:cubicBezTo>
                  <a:cubicBezTo>
                    <a:pt x="14" y="20"/>
                    <a:pt x="12" y="22"/>
                    <a:pt x="10" y="22"/>
                  </a:cubicBezTo>
                  <a:cubicBezTo>
                    <a:pt x="9" y="22"/>
                    <a:pt x="8" y="22"/>
                    <a:pt x="7" y="22"/>
                  </a:cubicBezTo>
                  <a:cubicBezTo>
                    <a:pt x="4" y="22"/>
                    <a:pt x="2" y="20"/>
                    <a:pt x="1" y="18"/>
                  </a:cubicBezTo>
                  <a:cubicBezTo>
                    <a:pt x="1" y="18"/>
                    <a:pt x="0" y="16"/>
                    <a:pt x="1" y="15"/>
                  </a:cubicBezTo>
                  <a:cubicBezTo>
                    <a:pt x="1" y="14"/>
                    <a:pt x="2" y="12"/>
                    <a:pt x="3" y="11"/>
                  </a:cubicBezTo>
                  <a:cubicBezTo>
                    <a:pt x="3" y="11"/>
                    <a:pt x="4" y="11"/>
                    <a:pt x="5" y="10"/>
                  </a:cubicBezTo>
                  <a:cubicBezTo>
                    <a:pt x="3" y="9"/>
                    <a:pt x="2" y="7"/>
                    <a:pt x="3" y="5"/>
                  </a:cubicBezTo>
                  <a:cubicBezTo>
                    <a:pt x="3" y="2"/>
                    <a:pt x="4" y="1"/>
                    <a:pt x="7" y="0"/>
                  </a:cubicBezTo>
                  <a:cubicBezTo>
                    <a:pt x="8" y="0"/>
                    <a:pt x="9" y="0"/>
                    <a:pt x="11" y="0"/>
                  </a:cubicBezTo>
                  <a:cubicBezTo>
                    <a:pt x="13" y="0"/>
                    <a:pt x="14" y="1"/>
                    <a:pt x="15" y="2"/>
                  </a:cubicBezTo>
                  <a:cubicBezTo>
                    <a:pt x="16" y="3"/>
                    <a:pt x="17" y="4"/>
                    <a:pt x="17" y="5"/>
                  </a:cubicBezTo>
                  <a:cubicBezTo>
                    <a:pt x="16" y="7"/>
                    <a:pt x="15" y="9"/>
                    <a:pt x="13" y="9"/>
                  </a:cubicBezTo>
                  <a:cubicBezTo>
                    <a:pt x="14" y="10"/>
                    <a:pt x="15" y="11"/>
                    <a:pt x="16" y="12"/>
                  </a:cubicBezTo>
                  <a:cubicBezTo>
                    <a:pt x="16" y="13"/>
                    <a:pt x="16" y="14"/>
                    <a:pt x="16" y="16"/>
                  </a:cubicBezTo>
                  <a:close/>
                  <a:moveTo>
                    <a:pt x="12" y="17"/>
                  </a:moveTo>
                  <a:cubicBezTo>
                    <a:pt x="12" y="15"/>
                    <a:pt x="12" y="14"/>
                    <a:pt x="10" y="13"/>
                  </a:cubicBezTo>
                  <a:cubicBezTo>
                    <a:pt x="9" y="13"/>
                    <a:pt x="8" y="12"/>
                    <a:pt x="7" y="11"/>
                  </a:cubicBezTo>
                  <a:cubicBezTo>
                    <a:pt x="7" y="11"/>
                    <a:pt x="7" y="11"/>
                    <a:pt x="7" y="11"/>
                  </a:cubicBezTo>
                  <a:cubicBezTo>
                    <a:pt x="5" y="12"/>
                    <a:pt x="4" y="13"/>
                    <a:pt x="4" y="15"/>
                  </a:cubicBezTo>
                  <a:cubicBezTo>
                    <a:pt x="4" y="16"/>
                    <a:pt x="4" y="17"/>
                    <a:pt x="4" y="18"/>
                  </a:cubicBezTo>
                  <a:cubicBezTo>
                    <a:pt x="5" y="19"/>
                    <a:pt x="6" y="20"/>
                    <a:pt x="8" y="20"/>
                  </a:cubicBezTo>
                  <a:cubicBezTo>
                    <a:pt x="9" y="20"/>
                    <a:pt x="10" y="20"/>
                    <a:pt x="11" y="20"/>
                  </a:cubicBezTo>
                  <a:cubicBezTo>
                    <a:pt x="12" y="19"/>
                    <a:pt x="12" y="18"/>
                    <a:pt x="12" y="17"/>
                  </a:cubicBezTo>
                  <a:close/>
                  <a:moveTo>
                    <a:pt x="14" y="5"/>
                  </a:moveTo>
                  <a:cubicBezTo>
                    <a:pt x="14" y="4"/>
                    <a:pt x="13" y="3"/>
                    <a:pt x="13" y="3"/>
                  </a:cubicBezTo>
                  <a:cubicBezTo>
                    <a:pt x="12" y="2"/>
                    <a:pt x="11" y="2"/>
                    <a:pt x="10" y="1"/>
                  </a:cubicBezTo>
                  <a:cubicBezTo>
                    <a:pt x="9" y="1"/>
                    <a:pt x="8" y="1"/>
                    <a:pt x="8" y="2"/>
                  </a:cubicBezTo>
                  <a:cubicBezTo>
                    <a:pt x="7" y="2"/>
                    <a:pt x="7" y="3"/>
                    <a:pt x="6" y="4"/>
                  </a:cubicBezTo>
                  <a:cubicBezTo>
                    <a:pt x="6" y="5"/>
                    <a:pt x="7" y="5"/>
                    <a:pt x="7" y="6"/>
                  </a:cubicBezTo>
                  <a:cubicBezTo>
                    <a:pt x="8" y="7"/>
                    <a:pt x="8" y="7"/>
                    <a:pt x="9" y="7"/>
                  </a:cubicBezTo>
                  <a:cubicBezTo>
                    <a:pt x="9" y="8"/>
                    <a:pt x="10" y="8"/>
                    <a:pt x="10" y="8"/>
                  </a:cubicBezTo>
                  <a:cubicBezTo>
                    <a:pt x="11" y="9"/>
                    <a:pt x="11" y="9"/>
                    <a:pt x="11" y="9"/>
                  </a:cubicBezTo>
                  <a:cubicBezTo>
                    <a:pt x="12" y="8"/>
                    <a:pt x="13" y="7"/>
                    <a:pt x="14" y="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2" name="Freeform 7"/>
            <p:cNvSpPr>
              <a:spLocks noEditPoints="1"/>
            </p:cNvSpPr>
            <p:nvPr userDrawn="1"/>
          </p:nvSpPr>
          <p:spPr bwMode="auto">
            <a:xfrm>
              <a:off x="1114376" y="1551410"/>
              <a:ext cx="65088" cy="90488"/>
            </a:xfrm>
            <a:custGeom>
              <a:avLst/>
              <a:gdLst>
                <a:gd name="T0" fmla="*/ 16 w 17"/>
                <a:gd name="T1" fmla="*/ 9 h 24"/>
                <a:gd name="T2" fmla="*/ 16 w 17"/>
                <a:gd name="T3" fmla="*/ 16 h 24"/>
                <a:gd name="T4" fmla="*/ 12 w 17"/>
                <a:gd name="T5" fmla="*/ 21 h 24"/>
                <a:gd name="T6" fmla="*/ 5 w 17"/>
                <a:gd name="T7" fmla="*/ 24 h 24"/>
                <a:gd name="T8" fmla="*/ 4 w 17"/>
                <a:gd name="T9" fmla="*/ 23 h 24"/>
                <a:gd name="T10" fmla="*/ 4 w 17"/>
                <a:gd name="T11" fmla="*/ 22 h 24"/>
                <a:gd name="T12" fmla="*/ 6 w 17"/>
                <a:gd name="T13" fmla="*/ 22 h 24"/>
                <a:gd name="T14" fmla="*/ 10 w 17"/>
                <a:gd name="T15" fmla="*/ 20 h 24"/>
                <a:gd name="T16" fmla="*/ 11 w 17"/>
                <a:gd name="T17" fmla="*/ 17 h 24"/>
                <a:gd name="T18" fmla="*/ 12 w 17"/>
                <a:gd name="T19" fmla="*/ 12 h 24"/>
                <a:gd name="T20" fmla="*/ 9 w 17"/>
                <a:gd name="T21" fmla="*/ 14 h 24"/>
                <a:gd name="T22" fmla="*/ 7 w 17"/>
                <a:gd name="T23" fmla="*/ 15 h 24"/>
                <a:gd name="T24" fmla="*/ 3 w 17"/>
                <a:gd name="T25" fmla="*/ 14 h 24"/>
                <a:gd name="T26" fmla="*/ 1 w 17"/>
                <a:gd name="T27" fmla="*/ 10 h 24"/>
                <a:gd name="T28" fmla="*/ 3 w 17"/>
                <a:gd name="T29" fmla="*/ 2 h 24"/>
                <a:gd name="T30" fmla="*/ 7 w 17"/>
                <a:gd name="T31" fmla="*/ 1 h 24"/>
                <a:gd name="T32" fmla="*/ 15 w 17"/>
                <a:gd name="T33" fmla="*/ 4 h 24"/>
                <a:gd name="T34" fmla="*/ 16 w 17"/>
                <a:gd name="T35" fmla="*/ 9 h 24"/>
                <a:gd name="T36" fmla="*/ 12 w 17"/>
                <a:gd name="T37" fmla="*/ 8 h 24"/>
                <a:gd name="T38" fmla="*/ 10 w 17"/>
                <a:gd name="T39" fmla="*/ 3 h 24"/>
                <a:gd name="T40" fmla="*/ 7 w 17"/>
                <a:gd name="T41" fmla="*/ 2 h 24"/>
                <a:gd name="T42" fmla="*/ 5 w 17"/>
                <a:gd name="T43" fmla="*/ 5 h 24"/>
                <a:gd name="T44" fmla="*/ 5 w 17"/>
                <a:gd name="T45" fmla="*/ 7 h 24"/>
                <a:gd name="T46" fmla="*/ 6 w 17"/>
                <a:gd name="T47" fmla="*/ 11 h 24"/>
                <a:gd name="T48" fmla="*/ 9 w 17"/>
                <a:gd name="T49" fmla="*/ 12 h 24"/>
                <a:gd name="T50" fmla="*/ 12 w 17"/>
                <a:gd name="T51" fmla="*/ 10 h 24"/>
                <a:gd name="T52" fmla="*/ 12 w 17"/>
                <a:gd name="T53"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4">
                  <a:moveTo>
                    <a:pt x="16" y="9"/>
                  </a:moveTo>
                  <a:cubicBezTo>
                    <a:pt x="17" y="11"/>
                    <a:pt x="16" y="14"/>
                    <a:pt x="16" y="16"/>
                  </a:cubicBezTo>
                  <a:cubicBezTo>
                    <a:pt x="15" y="18"/>
                    <a:pt x="13" y="20"/>
                    <a:pt x="12" y="21"/>
                  </a:cubicBezTo>
                  <a:cubicBezTo>
                    <a:pt x="10" y="22"/>
                    <a:pt x="8" y="23"/>
                    <a:pt x="5" y="24"/>
                  </a:cubicBezTo>
                  <a:cubicBezTo>
                    <a:pt x="4" y="23"/>
                    <a:pt x="4" y="23"/>
                    <a:pt x="4" y="23"/>
                  </a:cubicBezTo>
                  <a:cubicBezTo>
                    <a:pt x="4" y="22"/>
                    <a:pt x="4" y="22"/>
                    <a:pt x="4" y="22"/>
                  </a:cubicBezTo>
                  <a:cubicBezTo>
                    <a:pt x="5" y="22"/>
                    <a:pt x="5" y="22"/>
                    <a:pt x="6" y="22"/>
                  </a:cubicBezTo>
                  <a:cubicBezTo>
                    <a:pt x="7" y="22"/>
                    <a:pt x="9" y="21"/>
                    <a:pt x="10" y="20"/>
                  </a:cubicBezTo>
                  <a:cubicBezTo>
                    <a:pt x="10" y="19"/>
                    <a:pt x="11" y="18"/>
                    <a:pt x="11" y="17"/>
                  </a:cubicBezTo>
                  <a:cubicBezTo>
                    <a:pt x="12" y="16"/>
                    <a:pt x="12" y="14"/>
                    <a:pt x="12" y="12"/>
                  </a:cubicBezTo>
                  <a:cubicBezTo>
                    <a:pt x="10" y="13"/>
                    <a:pt x="10" y="14"/>
                    <a:pt x="9" y="14"/>
                  </a:cubicBezTo>
                  <a:cubicBezTo>
                    <a:pt x="9" y="15"/>
                    <a:pt x="8" y="15"/>
                    <a:pt x="7" y="15"/>
                  </a:cubicBezTo>
                  <a:cubicBezTo>
                    <a:pt x="5" y="15"/>
                    <a:pt x="4" y="15"/>
                    <a:pt x="3" y="14"/>
                  </a:cubicBezTo>
                  <a:cubicBezTo>
                    <a:pt x="2" y="13"/>
                    <a:pt x="1" y="12"/>
                    <a:pt x="1" y="10"/>
                  </a:cubicBezTo>
                  <a:cubicBezTo>
                    <a:pt x="0" y="7"/>
                    <a:pt x="1" y="4"/>
                    <a:pt x="3" y="2"/>
                  </a:cubicBezTo>
                  <a:cubicBezTo>
                    <a:pt x="4" y="1"/>
                    <a:pt x="6" y="1"/>
                    <a:pt x="7" y="1"/>
                  </a:cubicBezTo>
                  <a:cubicBezTo>
                    <a:pt x="11" y="0"/>
                    <a:pt x="13" y="1"/>
                    <a:pt x="15" y="4"/>
                  </a:cubicBezTo>
                  <a:cubicBezTo>
                    <a:pt x="16" y="5"/>
                    <a:pt x="16" y="7"/>
                    <a:pt x="16" y="9"/>
                  </a:cubicBezTo>
                  <a:close/>
                  <a:moveTo>
                    <a:pt x="12" y="8"/>
                  </a:moveTo>
                  <a:cubicBezTo>
                    <a:pt x="11" y="6"/>
                    <a:pt x="11" y="4"/>
                    <a:pt x="10" y="3"/>
                  </a:cubicBezTo>
                  <a:cubicBezTo>
                    <a:pt x="9" y="3"/>
                    <a:pt x="8" y="2"/>
                    <a:pt x="7" y="2"/>
                  </a:cubicBezTo>
                  <a:cubicBezTo>
                    <a:pt x="6" y="3"/>
                    <a:pt x="5" y="3"/>
                    <a:pt x="5" y="5"/>
                  </a:cubicBezTo>
                  <a:cubicBezTo>
                    <a:pt x="5" y="5"/>
                    <a:pt x="5" y="6"/>
                    <a:pt x="5" y="7"/>
                  </a:cubicBezTo>
                  <a:cubicBezTo>
                    <a:pt x="5" y="9"/>
                    <a:pt x="6" y="10"/>
                    <a:pt x="6" y="11"/>
                  </a:cubicBezTo>
                  <a:cubicBezTo>
                    <a:pt x="7" y="12"/>
                    <a:pt x="8" y="12"/>
                    <a:pt x="9" y="12"/>
                  </a:cubicBezTo>
                  <a:cubicBezTo>
                    <a:pt x="10" y="12"/>
                    <a:pt x="11" y="11"/>
                    <a:pt x="12" y="10"/>
                  </a:cubicBezTo>
                  <a:cubicBezTo>
                    <a:pt x="12" y="9"/>
                    <a:pt x="12" y="9"/>
                    <a:pt x="12"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Freeform 8"/>
            <p:cNvSpPr>
              <a:spLocks noEditPoints="1"/>
            </p:cNvSpPr>
            <p:nvPr userDrawn="1"/>
          </p:nvSpPr>
          <p:spPr bwMode="auto">
            <a:xfrm>
              <a:off x="1246139" y="1513310"/>
              <a:ext cx="71438" cy="87313"/>
            </a:xfrm>
            <a:custGeom>
              <a:avLst/>
              <a:gdLst>
                <a:gd name="T0" fmla="*/ 18 w 19"/>
                <a:gd name="T1" fmla="*/ 12 h 23"/>
                <a:gd name="T2" fmla="*/ 19 w 19"/>
                <a:gd name="T3" fmla="*/ 15 h 23"/>
                <a:gd name="T4" fmla="*/ 16 w 19"/>
                <a:gd name="T5" fmla="*/ 21 h 23"/>
                <a:gd name="T6" fmla="*/ 14 w 19"/>
                <a:gd name="T7" fmla="*/ 22 h 23"/>
                <a:gd name="T8" fmla="*/ 7 w 19"/>
                <a:gd name="T9" fmla="*/ 22 h 23"/>
                <a:gd name="T10" fmla="*/ 5 w 19"/>
                <a:gd name="T11" fmla="*/ 20 h 23"/>
                <a:gd name="T12" fmla="*/ 5 w 19"/>
                <a:gd name="T13" fmla="*/ 15 h 23"/>
                <a:gd name="T14" fmla="*/ 6 w 19"/>
                <a:gd name="T15" fmla="*/ 13 h 23"/>
                <a:gd name="T16" fmla="*/ 1 w 19"/>
                <a:gd name="T17" fmla="*/ 10 h 23"/>
                <a:gd name="T18" fmla="*/ 2 w 19"/>
                <a:gd name="T19" fmla="*/ 3 h 23"/>
                <a:gd name="T20" fmla="*/ 6 w 19"/>
                <a:gd name="T21" fmla="*/ 1 h 23"/>
                <a:gd name="T22" fmla="*/ 10 w 19"/>
                <a:gd name="T23" fmla="*/ 1 h 23"/>
                <a:gd name="T24" fmla="*/ 13 w 19"/>
                <a:gd name="T25" fmla="*/ 3 h 23"/>
                <a:gd name="T26" fmla="*/ 12 w 19"/>
                <a:gd name="T27" fmla="*/ 9 h 23"/>
                <a:gd name="T28" fmla="*/ 16 w 19"/>
                <a:gd name="T29" fmla="*/ 9 h 23"/>
                <a:gd name="T30" fmla="*/ 18 w 19"/>
                <a:gd name="T31" fmla="*/ 12 h 23"/>
                <a:gd name="T32" fmla="*/ 11 w 19"/>
                <a:gd name="T33" fmla="*/ 5 h 23"/>
                <a:gd name="T34" fmla="*/ 9 w 19"/>
                <a:gd name="T35" fmla="*/ 3 h 23"/>
                <a:gd name="T36" fmla="*/ 6 w 19"/>
                <a:gd name="T37" fmla="*/ 3 h 23"/>
                <a:gd name="T38" fmla="*/ 4 w 19"/>
                <a:gd name="T39" fmla="*/ 5 h 23"/>
                <a:gd name="T40" fmla="*/ 4 w 19"/>
                <a:gd name="T41" fmla="*/ 7 h 23"/>
                <a:gd name="T42" fmla="*/ 6 w 19"/>
                <a:gd name="T43" fmla="*/ 9 h 23"/>
                <a:gd name="T44" fmla="*/ 8 w 19"/>
                <a:gd name="T45" fmla="*/ 9 h 23"/>
                <a:gd name="T46" fmla="*/ 9 w 19"/>
                <a:gd name="T47" fmla="*/ 9 h 23"/>
                <a:gd name="T48" fmla="*/ 10 w 19"/>
                <a:gd name="T49" fmla="*/ 9 h 23"/>
                <a:gd name="T50" fmla="*/ 11 w 19"/>
                <a:gd name="T51" fmla="*/ 5 h 23"/>
                <a:gd name="T52" fmla="*/ 16 w 19"/>
                <a:gd name="T53" fmla="*/ 15 h 23"/>
                <a:gd name="T54" fmla="*/ 12 w 19"/>
                <a:gd name="T55" fmla="*/ 13 h 23"/>
                <a:gd name="T56" fmla="*/ 9 w 19"/>
                <a:gd name="T57" fmla="*/ 13 h 23"/>
                <a:gd name="T58" fmla="*/ 8 w 19"/>
                <a:gd name="T59" fmla="*/ 13 h 23"/>
                <a:gd name="T60" fmla="*/ 8 w 19"/>
                <a:gd name="T61" fmla="*/ 18 h 23"/>
                <a:gd name="T62" fmla="*/ 9 w 19"/>
                <a:gd name="T63" fmla="*/ 20 h 23"/>
                <a:gd name="T64" fmla="*/ 13 w 19"/>
                <a:gd name="T65" fmla="*/ 20 h 23"/>
                <a:gd name="T66" fmla="*/ 16 w 19"/>
                <a:gd name="T67" fmla="*/ 18 h 23"/>
                <a:gd name="T68" fmla="*/ 16 w 19"/>
                <a:gd name="T69" fmla="*/ 1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 h="23">
                  <a:moveTo>
                    <a:pt x="18" y="12"/>
                  </a:moveTo>
                  <a:cubicBezTo>
                    <a:pt x="19" y="13"/>
                    <a:pt x="19" y="14"/>
                    <a:pt x="19" y="15"/>
                  </a:cubicBezTo>
                  <a:cubicBezTo>
                    <a:pt x="19" y="17"/>
                    <a:pt x="18" y="19"/>
                    <a:pt x="16" y="21"/>
                  </a:cubicBezTo>
                  <a:cubicBezTo>
                    <a:pt x="16" y="21"/>
                    <a:pt x="15" y="22"/>
                    <a:pt x="14" y="22"/>
                  </a:cubicBezTo>
                  <a:cubicBezTo>
                    <a:pt x="11" y="23"/>
                    <a:pt x="9" y="23"/>
                    <a:pt x="7" y="22"/>
                  </a:cubicBezTo>
                  <a:cubicBezTo>
                    <a:pt x="6" y="22"/>
                    <a:pt x="5" y="21"/>
                    <a:pt x="5" y="20"/>
                  </a:cubicBezTo>
                  <a:cubicBezTo>
                    <a:pt x="4" y="18"/>
                    <a:pt x="4" y="17"/>
                    <a:pt x="5" y="15"/>
                  </a:cubicBezTo>
                  <a:cubicBezTo>
                    <a:pt x="5" y="15"/>
                    <a:pt x="6" y="14"/>
                    <a:pt x="6" y="13"/>
                  </a:cubicBezTo>
                  <a:cubicBezTo>
                    <a:pt x="4" y="13"/>
                    <a:pt x="2" y="12"/>
                    <a:pt x="1" y="10"/>
                  </a:cubicBezTo>
                  <a:cubicBezTo>
                    <a:pt x="0" y="8"/>
                    <a:pt x="1" y="6"/>
                    <a:pt x="2" y="3"/>
                  </a:cubicBezTo>
                  <a:cubicBezTo>
                    <a:pt x="3" y="3"/>
                    <a:pt x="4" y="2"/>
                    <a:pt x="6" y="1"/>
                  </a:cubicBezTo>
                  <a:cubicBezTo>
                    <a:pt x="7" y="0"/>
                    <a:pt x="9" y="0"/>
                    <a:pt x="10" y="1"/>
                  </a:cubicBezTo>
                  <a:cubicBezTo>
                    <a:pt x="12" y="1"/>
                    <a:pt x="13" y="2"/>
                    <a:pt x="13" y="3"/>
                  </a:cubicBezTo>
                  <a:cubicBezTo>
                    <a:pt x="14" y="5"/>
                    <a:pt x="14" y="7"/>
                    <a:pt x="12" y="9"/>
                  </a:cubicBezTo>
                  <a:cubicBezTo>
                    <a:pt x="14" y="9"/>
                    <a:pt x="15" y="9"/>
                    <a:pt x="16" y="9"/>
                  </a:cubicBezTo>
                  <a:cubicBezTo>
                    <a:pt x="17" y="10"/>
                    <a:pt x="18" y="11"/>
                    <a:pt x="18" y="12"/>
                  </a:cubicBezTo>
                  <a:close/>
                  <a:moveTo>
                    <a:pt x="11" y="5"/>
                  </a:moveTo>
                  <a:cubicBezTo>
                    <a:pt x="10" y="4"/>
                    <a:pt x="10" y="3"/>
                    <a:pt x="9" y="3"/>
                  </a:cubicBezTo>
                  <a:cubicBezTo>
                    <a:pt x="8" y="3"/>
                    <a:pt x="7" y="3"/>
                    <a:pt x="6" y="3"/>
                  </a:cubicBezTo>
                  <a:cubicBezTo>
                    <a:pt x="5" y="4"/>
                    <a:pt x="4" y="4"/>
                    <a:pt x="4" y="5"/>
                  </a:cubicBezTo>
                  <a:cubicBezTo>
                    <a:pt x="4" y="6"/>
                    <a:pt x="4" y="6"/>
                    <a:pt x="4" y="7"/>
                  </a:cubicBezTo>
                  <a:cubicBezTo>
                    <a:pt x="4" y="8"/>
                    <a:pt x="5" y="8"/>
                    <a:pt x="6" y="9"/>
                  </a:cubicBezTo>
                  <a:cubicBezTo>
                    <a:pt x="6" y="9"/>
                    <a:pt x="7" y="9"/>
                    <a:pt x="8" y="9"/>
                  </a:cubicBezTo>
                  <a:cubicBezTo>
                    <a:pt x="8" y="9"/>
                    <a:pt x="9" y="9"/>
                    <a:pt x="9" y="9"/>
                  </a:cubicBezTo>
                  <a:cubicBezTo>
                    <a:pt x="10" y="9"/>
                    <a:pt x="10" y="9"/>
                    <a:pt x="10" y="9"/>
                  </a:cubicBezTo>
                  <a:cubicBezTo>
                    <a:pt x="11" y="8"/>
                    <a:pt x="11" y="6"/>
                    <a:pt x="11" y="5"/>
                  </a:cubicBezTo>
                  <a:close/>
                  <a:moveTo>
                    <a:pt x="16" y="15"/>
                  </a:moveTo>
                  <a:cubicBezTo>
                    <a:pt x="15" y="14"/>
                    <a:pt x="14" y="13"/>
                    <a:pt x="12" y="13"/>
                  </a:cubicBezTo>
                  <a:cubicBezTo>
                    <a:pt x="11" y="13"/>
                    <a:pt x="10" y="13"/>
                    <a:pt x="9" y="13"/>
                  </a:cubicBezTo>
                  <a:cubicBezTo>
                    <a:pt x="8" y="13"/>
                    <a:pt x="8" y="13"/>
                    <a:pt x="8" y="13"/>
                  </a:cubicBezTo>
                  <a:cubicBezTo>
                    <a:pt x="7" y="15"/>
                    <a:pt x="7" y="16"/>
                    <a:pt x="8" y="18"/>
                  </a:cubicBezTo>
                  <a:cubicBezTo>
                    <a:pt x="8" y="19"/>
                    <a:pt x="8" y="20"/>
                    <a:pt x="9" y="20"/>
                  </a:cubicBezTo>
                  <a:cubicBezTo>
                    <a:pt x="10" y="21"/>
                    <a:pt x="12" y="21"/>
                    <a:pt x="13" y="20"/>
                  </a:cubicBezTo>
                  <a:cubicBezTo>
                    <a:pt x="15" y="20"/>
                    <a:pt x="15" y="19"/>
                    <a:pt x="16" y="18"/>
                  </a:cubicBezTo>
                  <a:cubicBezTo>
                    <a:pt x="16" y="17"/>
                    <a:pt x="16" y="16"/>
                    <a:pt x="16"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4" name="Freeform 9"/>
            <p:cNvSpPr>
              <a:spLocks noEditPoints="1"/>
            </p:cNvSpPr>
            <p:nvPr userDrawn="1"/>
          </p:nvSpPr>
          <p:spPr bwMode="auto">
            <a:xfrm>
              <a:off x="479376" y="479847"/>
              <a:ext cx="1200150" cy="1208088"/>
            </a:xfrm>
            <a:custGeom>
              <a:avLst/>
              <a:gdLst>
                <a:gd name="T0" fmla="*/ 97 w 319"/>
                <a:gd name="T1" fmla="*/ 13 h 319"/>
                <a:gd name="T2" fmla="*/ 46 w 319"/>
                <a:gd name="T3" fmla="*/ 47 h 319"/>
                <a:gd name="T4" fmla="*/ 12 w 319"/>
                <a:gd name="T5" fmla="*/ 98 h 319"/>
                <a:gd name="T6" fmla="*/ 0 w 319"/>
                <a:gd name="T7" fmla="*/ 160 h 319"/>
                <a:gd name="T8" fmla="*/ 12 w 319"/>
                <a:gd name="T9" fmla="*/ 222 h 319"/>
                <a:gd name="T10" fmla="*/ 46 w 319"/>
                <a:gd name="T11" fmla="*/ 273 h 319"/>
                <a:gd name="T12" fmla="*/ 97 w 319"/>
                <a:gd name="T13" fmla="*/ 307 h 319"/>
                <a:gd name="T14" fmla="*/ 159 w 319"/>
                <a:gd name="T15" fmla="*/ 319 h 319"/>
                <a:gd name="T16" fmla="*/ 221 w 319"/>
                <a:gd name="T17" fmla="*/ 307 h 319"/>
                <a:gd name="T18" fmla="*/ 272 w 319"/>
                <a:gd name="T19" fmla="*/ 273 h 319"/>
                <a:gd name="T20" fmla="*/ 306 w 319"/>
                <a:gd name="T21" fmla="*/ 222 h 319"/>
                <a:gd name="T22" fmla="*/ 319 w 319"/>
                <a:gd name="T23" fmla="*/ 160 h 319"/>
                <a:gd name="T24" fmla="*/ 306 w 319"/>
                <a:gd name="T25" fmla="*/ 98 h 319"/>
                <a:gd name="T26" fmla="*/ 272 w 319"/>
                <a:gd name="T27" fmla="*/ 47 h 319"/>
                <a:gd name="T28" fmla="*/ 221 w 319"/>
                <a:gd name="T29" fmla="*/ 13 h 319"/>
                <a:gd name="T30" fmla="*/ 159 w 319"/>
                <a:gd name="T31" fmla="*/ 0 h 319"/>
                <a:gd name="T32" fmla="*/ 97 w 319"/>
                <a:gd name="T33" fmla="*/ 13 h 319"/>
                <a:gd name="T34" fmla="*/ 99 w 319"/>
                <a:gd name="T35" fmla="*/ 302 h 319"/>
                <a:gd name="T36" fmla="*/ 50 w 319"/>
                <a:gd name="T37" fmla="*/ 269 h 319"/>
                <a:gd name="T38" fmla="*/ 17 w 319"/>
                <a:gd name="T39" fmla="*/ 220 h 319"/>
                <a:gd name="T40" fmla="*/ 5 w 319"/>
                <a:gd name="T41" fmla="*/ 160 h 319"/>
                <a:gd name="T42" fmla="*/ 17 w 319"/>
                <a:gd name="T43" fmla="*/ 100 h 319"/>
                <a:gd name="T44" fmla="*/ 50 w 319"/>
                <a:gd name="T45" fmla="*/ 51 h 319"/>
                <a:gd name="T46" fmla="*/ 99 w 319"/>
                <a:gd name="T47" fmla="*/ 18 h 319"/>
                <a:gd name="T48" fmla="*/ 159 w 319"/>
                <a:gd name="T49" fmla="*/ 6 h 319"/>
                <a:gd name="T50" fmla="*/ 219 w 319"/>
                <a:gd name="T51" fmla="*/ 18 h 319"/>
                <a:gd name="T52" fmla="*/ 268 w 319"/>
                <a:gd name="T53" fmla="*/ 51 h 319"/>
                <a:gd name="T54" fmla="*/ 301 w 319"/>
                <a:gd name="T55" fmla="*/ 100 h 319"/>
                <a:gd name="T56" fmla="*/ 314 w 319"/>
                <a:gd name="T57" fmla="*/ 160 h 319"/>
                <a:gd name="T58" fmla="*/ 301 w 319"/>
                <a:gd name="T59" fmla="*/ 220 h 319"/>
                <a:gd name="T60" fmla="*/ 268 w 319"/>
                <a:gd name="T61" fmla="*/ 269 h 319"/>
                <a:gd name="T62" fmla="*/ 219 w 319"/>
                <a:gd name="T63" fmla="*/ 302 h 319"/>
                <a:gd name="T64" fmla="*/ 159 w 319"/>
                <a:gd name="T65" fmla="*/ 314 h 319"/>
                <a:gd name="T66" fmla="*/ 99 w 319"/>
                <a:gd name="T67" fmla="*/ 30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19">
                  <a:moveTo>
                    <a:pt x="97" y="13"/>
                  </a:moveTo>
                  <a:cubicBezTo>
                    <a:pt x="78" y="21"/>
                    <a:pt x="61" y="32"/>
                    <a:pt x="46" y="47"/>
                  </a:cubicBezTo>
                  <a:cubicBezTo>
                    <a:pt x="32" y="62"/>
                    <a:pt x="20" y="79"/>
                    <a:pt x="12" y="98"/>
                  </a:cubicBezTo>
                  <a:cubicBezTo>
                    <a:pt x="4" y="117"/>
                    <a:pt x="0" y="138"/>
                    <a:pt x="0" y="160"/>
                  </a:cubicBezTo>
                  <a:cubicBezTo>
                    <a:pt x="0" y="181"/>
                    <a:pt x="4" y="202"/>
                    <a:pt x="12" y="222"/>
                  </a:cubicBezTo>
                  <a:cubicBezTo>
                    <a:pt x="20" y="241"/>
                    <a:pt x="32" y="258"/>
                    <a:pt x="46" y="273"/>
                  </a:cubicBezTo>
                  <a:cubicBezTo>
                    <a:pt x="61" y="287"/>
                    <a:pt x="78" y="299"/>
                    <a:pt x="97" y="307"/>
                  </a:cubicBezTo>
                  <a:cubicBezTo>
                    <a:pt x="117" y="315"/>
                    <a:pt x="138" y="319"/>
                    <a:pt x="159" y="319"/>
                  </a:cubicBezTo>
                  <a:cubicBezTo>
                    <a:pt x="181" y="319"/>
                    <a:pt x="202" y="315"/>
                    <a:pt x="221" y="307"/>
                  </a:cubicBezTo>
                  <a:cubicBezTo>
                    <a:pt x="240" y="299"/>
                    <a:pt x="257" y="287"/>
                    <a:pt x="272" y="273"/>
                  </a:cubicBezTo>
                  <a:cubicBezTo>
                    <a:pt x="287" y="258"/>
                    <a:pt x="298" y="241"/>
                    <a:pt x="306" y="222"/>
                  </a:cubicBezTo>
                  <a:cubicBezTo>
                    <a:pt x="315" y="202"/>
                    <a:pt x="319" y="181"/>
                    <a:pt x="319" y="160"/>
                  </a:cubicBezTo>
                  <a:cubicBezTo>
                    <a:pt x="319" y="138"/>
                    <a:pt x="315" y="117"/>
                    <a:pt x="306" y="98"/>
                  </a:cubicBezTo>
                  <a:cubicBezTo>
                    <a:pt x="298" y="79"/>
                    <a:pt x="287" y="62"/>
                    <a:pt x="272" y="47"/>
                  </a:cubicBezTo>
                  <a:cubicBezTo>
                    <a:pt x="257" y="32"/>
                    <a:pt x="240" y="21"/>
                    <a:pt x="221" y="13"/>
                  </a:cubicBezTo>
                  <a:cubicBezTo>
                    <a:pt x="202" y="5"/>
                    <a:pt x="181" y="0"/>
                    <a:pt x="159" y="0"/>
                  </a:cubicBezTo>
                  <a:cubicBezTo>
                    <a:pt x="138" y="0"/>
                    <a:pt x="117" y="5"/>
                    <a:pt x="97" y="13"/>
                  </a:cubicBezTo>
                  <a:close/>
                  <a:moveTo>
                    <a:pt x="99" y="302"/>
                  </a:moveTo>
                  <a:cubicBezTo>
                    <a:pt x="81" y="294"/>
                    <a:pt x="64" y="283"/>
                    <a:pt x="50" y="269"/>
                  </a:cubicBezTo>
                  <a:cubicBezTo>
                    <a:pt x="36" y="255"/>
                    <a:pt x="25" y="238"/>
                    <a:pt x="17" y="220"/>
                  </a:cubicBezTo>
                  <a:cubicBezTo>
                    <a:pt x="9" y="201"/>
                    <a:pt x="5" y="181"/>
                    <a:pt x="5" y="160"/>
                  </a:cubicBezTo>
                  <a:cubicBezTo>
                    <a:pt x="5" y="139"/>
                    <a:pt x="9" y="119"/>
                    <a:pt x="17" y="100"/>
                  </a:cubicBezTo>
                  <a:cubicBezTo>
                    <a:pt x="25" y="81"/>
                    <a:pt x="36" y="65"/>
                    <a:pt x="50" y="51"/>
                  </a:cubicBezTo>
                  <a:cubicBezTo>
                    <a:pt x="64" y="37"/>
                    <a:pt x="81" y="26"/>
                    <a:pt x="99" y="18"/>
                  </a:cubicBezTo>
                  <a:cubicBezTo>
                    <a:pt x="118" y="10"/>
                    <a:pt x="138" y="6"/>
                    <a:pt x="159" y="6"/>
                  </a:cubicBezTo>
                  <a:cubicBezTo>
                    <a:pt x="180" y="6"/>
                    <a:pt x="200" y="10"/>
                    <a:pt x="219" y="18"/>
                  </a:cubicBezTo>
                  <a:cubicBezTo>
                    <a:pt x="238" y="26"/>
                    <a:pt x="254" y="37"/>
                    <a:pt x="268" y="51"/>
                  </a:cubicBezTo>
                  <a:cubicBezTo>
                    <a:pt x="283" y="65"/>
                    <a:pt x="294" y="81"/>
                    <a:pt x="301" y="100"/>
                  </a:cubicBezTo>
                  <a:cubicBezTo>
                    <a:pt x="309" y="119"/>
                    <a:pt x="314" y="139"/>
                    <a:pt x="314" y="160"/>
                  </a:cubicBezTo>
                  <a:cubicBezTo>
                    <a:pt x="314" y="181"/>
                    <a:pt x="309" y="201"/>
                    <a:pt x="301" y="220"/>
                  </a:cubicBezTo>
                  <a:cubicBezTo>
                    <a:pt x="294" y="238"/>
                    <a:pt x="283" y="255"/>
                    <a:pt x="268" y="269"/>
                  </a:cubicBezTo>
                  <a:cubicBezTo>
                    <a:pt x="254" y="283"/>
                    <a:pt x="238" y="294"/>
                    <a:pt x="219" y="302"/>
                  </a:cubicBezTo>
                  <a:cubicBezTo>
                    <a:pt x="200" y="310"/>
                    <a:pt x="180" y="314"/>
                    <a:pt x="159" y="314"/>
                  </a:cubicBezTo>
                  <a:cubicBezTo>
                    <a:pt x="138" y="314"/>
                    <a:pt x="118" y="310"/>
                    <a:pt x="99" y="30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5" name="Freeform 10"/>
            <p:cNvSpPr>
              <a:spLocks noEditPoints="1"/>
            </p:cNvSpPr>
            <p:nvPr userDrawn="1"/>
          </p:nvSpPr>
          <p:spPr bwMode="auto">
            <a:xfrm>
              <a:off x="633364" y="640185"/>
              <a:ext cx="887413" cy="892175"/>
            </a:xfrm>
            <a:custGeom>
              <a:avLst/>
              <a:gdLst>
                <a:gd name="T0" fmla="*/ 72 w 236"/>
                <a:gd name="T1" fmla="*/ 9 h 236"/>
                <a:gd name="T2" fmla="*/ 35 w 236"/>
                <a:gd name="T3" fmla="*/ 34 h 236"/>
                <a:gd name="T4" fmla="*/ 10 w 236"/>
                <a:gd name="T5" fmla="*/ 72 h 236"/>
                <a:gd name="T6" fmla="*/ 0 w 236"/>
                <a:gd name="T7" fmla="*/ 118 h 236"/>
                <a:gd name="T8" fmla="*/ 10 w 236"/>
                <a:gd name="T9" fmla="*/ 164 h 236"/>
                <a:gd name="T10" fmla="*/ 35 w 236"/>
                <a:gd name="T11" fmla="*/ 201 h 236"/>
                <a:gd name="T12" fmla="*/ 72 w 236"/>
                <a:gd name="T13" fmla="*/ 227 h 236"/>
                <a:gd name="T14" fmla="*/ 118 w 236"/>
                <a:gd name="T15" fmla="*/ 236 h 236"/>
                <a:gd name="T16" fmla="*/ 164 w 236"/>
                <a:gd name="T17" fmla="*/ 227 h 236"/>
                <a:gd name="T18" fmla="*/ 202 w 236"/>
                <a:gd name="T19" fmla="*/ 201 h 236"/>
                <a:gd name="T20" fmla="*/ 227 w 236"/>
                <a:gd name="T21" fmla="*/ 164 h 236"/>
                <a:gd name="T22" fmla="*/ 236 w 236"/>
                <a:gd name="T23" fmla="*/ 118 h 236"/>
                <a:gd name="T24" fmla="*/ 227 w 236"/>
                <a:gd name="T25" fmla="*/ 72 h 236"/>
                <a:gd name="T26" fmla="*/ 202 w 236"/>
                <a:gd name="T27" fmla="*/ 34 h 236"/>
                <a:gd name="T28" fmla="*/ 164 w 236"/>
                <a:gd name="T29" fmla="*/ 9 h 236"/>
                <a:gd name="T30" fmla="*/ 118 w 236"/>
                <a:gd name="T31" fmla="*/ 0 h 236"/>
                <a:gd name="T32" fmla="*/ 72 w 236"/>
                <a:gd name="T33" fmla="*/ 9 h 236"/>
                <a:gd name="T34" fmla="*/ 74 w 236"/>
                <a:gd name="T35" fmla="*/ 223 h 236"/>
                <a:gd name="T36" fmla="*/ 37 w 236"/>
                <a:gd name="T37" fmla="*/ 199 h 236"/>
                <a:gd name="T38" fmla="*/ 13 w 236"/>
                <a:gd name="T39" fmla="*/ 162 h 236"/>
                <a:gd name="T40" fmla="*/ 4 w 236"/>
                <a:gd name="T41" fmla="*/ 118 h 236"/>
                <a:gd name="T42" fmla="*/ 13 w 236"/>
                <a:gd name="T43" fmla="*/ 73 h 236"/>
                <a:gd name="T44" fmla="*/ 37 w 236"/>
                <a:gd name="T45" fmla="*/ 37 h 236"/>
                <a:gd name="T46" fmla="*/ 74 w 236"/>
                <a:gd name="T47" fmla="*/ 12 h 236"/>
                <a:gd name="T48" fmla="*/ 118 w 236"/>
                <a:gd name="T49" fmla="*/ 3 h 236"/>
                <a:gd name="T50" fmla="*/ 163 w 236"/>
                <a:gd name="T51" fmla="*/ 12 h 236"/>
                <a:gd name="T52" fmla="*/ 199 w 236"/>
                <a:gd name="T53" fmla="*/ 37 h 236"/>
                <a:gd name="T54" fmla="*/ 224 w 236"/>
                <a:gd name="T55" fmla="*/ 73 h 236"/>
                <a:gd name="T56" fmla="*/ 233 w 236"/>
                <a:gd name="T57" fmla="*/ 118 h 236"/>
                <a:gd name="T58" fmla="*/ 224 w 236"/>
                <a:gd name="T59" fmla="*/ 162 h 236"/>
                <a:gd name="T60" fmla="*/ 199 w 236"/>
                <a:gd name="T61" fmla="*/ 199 h 236"/>
                <a:gd name="T62" fmla="*/ 163 w 236"/>
                <a:gd name="T63" fmla="*/ 223 h 236"/>
                <a:gd name="T64" fmla="*/ 118 w 236"/>
                <a:gd name="T65" fmla="*/ 232 h 236"/>
                <a:gd name="T66" fmla="*/ 74 w 236"/>
                <a:gd name="T67" fmla="*/ 2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72" y="9"/>
                  </a:moveTo>
                  <a:cubicBezTo>
                    <a:pt x="58" y="15"/>
                    <a:pt x="46" y="24"/>
                    <a:pt x="35" y="34"/>
                  </a:cubicBezTo>
                  <a:cubicBezTo>
                    <a:pt x="24" y="45"/>
                    <a:pt x="15" y="58"/>
                    <a:pt x="10" y="72"/>
                  </a:cubicBezTo>
                  <a:cubicBezTo>
                    <a:pt x="3" y="87"/>
                    <a:pt x="0" y="102"/>
                    <a:pt x="0" y="118"/>
                  </a:cubicBezTo>
                  <a:cubicBezTo>
                    <a:pt x="0" y="134"/>
                    <a:pt x="3" y="149"/>
                    <a:pt x="10" y="164"/>
                  </a:cubicBezTo>
                  <a:cubicBezTo>
                    <a:pt x="15" y="178"/>
                    <a:pt x="24" y="190"/>
                    <a:pt x="35" y="201"/>
                  </a:cubicBezTo>
                  <a:cubicBezTo>
                    <a:pt x="46" y="212"/>
                    <a:pt x="58" y="221"/>
                    <a:pt x="72" y="227"/>
                  </a:cubicBezTo>
                  <a:cubicBezTo>
                    <a:pt x="87" y="233"/>
                    <a:pt x="102" y="236"/>
                    <a:pt x="118" y="236"/>
                  </a:cubicBezTo>
                  <a:cubicBezTo>
                    <a:pt x="134" y="236"/>
                    <a:pt x="150" y="233"/>
                    <a:pt x="164" y="227"/>
                  </a:cubicBezTo>
                  <a:cubicBezTo>
                    <a:pt x="178" y="221"/>
                    <a:pt x="191" y="212"/>
                    <a:pt x="202" y="201"/>
                  </a:cubicBezTo>
                  <a:cubicBezTo>
                    <a:pt x="213" y="190"/>
                    <a:pt x="221" y="178"/>
                    <a:pt x="227" y="164"/>
                  </a:cubicBezTo>
                  <a:cubicBezTo>
                    <a:pt x="233" y="149"/>
                    <a:pt x="236" y="134"/>
                    <a:pt x="236" y="118"/>
                  </a:cubicBezTo>
                  <a:cubicBezTo>
                    <a:pt x="236" y="102"/>
                    <a:pt x="233" y="87"/>
                    <a:pt x="227" y="72"/>
                  </a:cubicBezTo>
                  <a:cubicBezTo>
                    <a:pt x="221" y="58"/>
                    <a:pt x="213" y="45"/>
                    <a:pt x="202" y="34"/>
                  </a:cubicBezTo>
                  <a:cubicBezTo>
                    <a:pt x="191" y="24"/>
                    <a:pt x="178" y="15"/>
                    <a:pt x="164" y="9"/>
                  </a:cubicBezTo>
                  <a:cubicBezTo>
                    <a:pt x="150" y="3"/>
                    <a:pt x="134" y="0"/>
                    <a:pt x="118" y="0"/>
                  </a:cubicBezTo>
                  <a:cubicBezTo>
                    <a:pt x="102" y="0"/>
                    <a:pt x="87" y="3"/>
                    <a:pt x="72" y="9"/>
                  </a:cubicBezTo>
                  <a:close/>
                  <a:moveTo>
                    <a:pt x="74" y="223"/>
                  </a:moveTo>
                  <a:cubicBezTo>
                    <a:pt x="60" y="218"/>
                    <a:pt x="48" y="209"/>
                    <a:pt x="37" y="199"/>
                  </a:cubicBezTo>
                  <a:cubicBezTo>
                    <a:pt x="27" y="188"/>
                    <a:pt x="19" y="176"/>
                    <a:pt x="13" y="162"/>
                  </a:cubicBezTo>
                  <a:cubicBezTo>
                    <a:pt x="7" y="148"/>
                    <a:pt x="4" y="133"/>
                    <a:pt x="4" y="118"/>
                  </a:cubicBezTo>
                  <a:cubicBezTo>
                    <a:pt x="4" y="102"/>
                    <a:pt x="7" y="87"/>
                    <a:pt x="13" y="73"/>
                  </a:cubicBezTo>
                  <a:cubicBezTo>
                    <a:pt x="19" y="60"/>
                    <a:pt x="27" y="47"/>
                    <a:pt x="37" y="37"/>
                  </a:cubicBezTo>
                  <a:cubicBezTo>
                    <a:pt x="48" y="26"/>
                    <a:pt x="60" y="18"/>
                    <a:pt x="74" y="12"/>
                  </a:cubicBezTo>
                  <a:cubicBezTo>
                    <a:pt x="88" y="6"/>
                    <a:pt x="103" y="3"/>
                    <a:pt x="118" y="3"/>
                  </a:cubicBezTo>
                  <a:cubicBezTo>
                    <a:pt x="134" y="3"/>
                    <a:pt x="149" y="6"/>
                    <a:pt x="163" y="12"/>
                  </a:cubicBezTo>
                  <a:cubicBezTo>
                    <a:pt x="176" y="18"/>
                    <a:pt x="189" y="26"/>
                    <a:pt x="199" y="37"/>
                  </a:cubicBezTo>
                  <a:cubicBezTo>
                    <a:pt x="210" y="47"/>
                    <a:pt x="218" y="60"/>
                    <a:pt x="224" y="73"/>
                  </a:cubicBezTo>
                  <a:cubicBezTo>
                    <a:pt x="230" y="87"/>
                    <a:pt x="233" y="102"/>
                    <a:pt x="233" y="118"/>
                  </a:cubicBezTo>
                  <a:cubicBezTo>
                    <a:pt x="233" y="133"/>
                    <a:pt x="230" y="148"/>
                    <a:pt x="224" y="162"/>
                  </a:cubicBezTo>
                  <a:cubicBezTo>
                    <a:pt x="218" y="176"/>
                    <a:pt x="210" y="188"/>
                    <a:pt x="199" y="199"/>
                  </a:cubicBezTo>
                  <a:cubicBezTo>
                    <a:pt x="189" y="209"/>
                    <a:pt x="176" y="218"/>
                    <a:pt x="163" y="223"/>
                  </a:cubicBezTo>
                  <a:cubicBezTo>
                    <a:pt x="149" y="229"/>
                    <a:pt x="134" y="232"/>
                    <a:pt x="118" y="232"/>
                  </a:cubicBezTo>
                  <a:cubicBezTo>
                    <a:pt x="103" y="232"/>
                    <a:pt x="88" y="229"/>
                    <a:pt x="74" y="22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6" name="Freeform 11"/>
            <p:cNvSpPr>
              <a:spLocks noEditPoints="1"/>
            </p:cNvSpPr>
            <p:nvPr userDrawn="1"/>
          </p:nvSpPr>
          <p:spPr bwMode="auto">
            <a:xfrm>
              <a:off x="558751" y="1237085"/>
              <a:ext cx="93663" cy="79375"/>
            </a:xfrm>
            <a:custGeom>
              <a:avLst/>
              <a:gdLst>
                <a:gd name="T0" fmla="*/ 3 w 25"/>
                <a:gd name="T1" fmla="*/ 1 h 21"/>
                <a:gd name="T2" fmla="*/ 6 w 25"/>
                <a:gd name="T3" fmla="*/ 0 h 21"/>
                <a:gd name="T4" fmla="*/ 9 w 25"/>
                <a:gd name="T5" fmla="*/ 1 h 21"/>
                <a:gd name="T6" fmla="*/ 11 w 25"/>
                <a:gd name="T7" fmla="*/ 4 h 21"/>
                <a:gd name="T8" fmla="*/ 13 w 25"/>
                <a:gd name="T9" fmla="*/ 7 h 21"/>
                <a:gd name="T10" fmla="*/ 13 w 25"/>
                <a:gd name="T11" fmla="*/ 9 h 21"/>
                <a:gd name="T12" fmla="*/ 19 w 25"/>
                <a:gd name="T13" fmla="*/ 7 h 21"/>
                <a:gd name="T14" fmla="*/ 20 w 25"/>
                <a:gd name="T15" fmla="*/ 6 h 21"/>
                <a:gd name="T16" fmla="*/ 20 w 25"/>
                <a:gd name="T17" fmla="*/ 5 h 21"/>
                <a:gd name="T18" fmla="*/ 20 w 25"/>
                <a:gd name="T19" fmla="*/ 4 h 21"/>
                <a:gd name="T20" fmla="*/ 19 w 25"/>
                <a:gd name="T21" fmla="*/ 3 h 21"/>
                <a:gd name="T22" fmla="*/ 21 w 25"/>
                <a:gd name="T23" fmla="*/ 3 h 21"/>
                <a:gd name="T24" fmla="*/ 25 w 25"/>
                <a:gd name="T25" fmla="*/ 14 h 21"/>
                <a:gd name="T26" fmla="*/ 24 w 25"/>
                <a:gd name="T27" fmla="*/ 14 h 21"/>
                <a:gd name="T28" fmla="*/ 23 w 25"/>
                <a:gd name="T29" fmla="*/ 13 h 21"/>
                <a:gd name="T30" fmla="*/ 23 w 25"/>
                <a:gd name="T31" fmla="*/ 12 h 21"/>
                <a:gd name="T32" fmla="*/ 22 w 25"/>
                <a:gd name="T33" fmla="*/ 12 h 21"/>
                <a:gd name="T34" fmla="*/ 21 w 25"/>
                <a:gd name="T35" fmla="*/ 12 h 21"/>
                <a:gd name="T36" fmla="*/ 7 w 25"/>
                <a:gd name="T37" fmla="*/ 17 h 21"/>
                <a:gd name="T38" fmla="*/ 6 w 25"/>
                <a:gd name="T39" fmla="*/ 18 h 21"/>
                <a:gd name="T40" fmla="*/ 6 w 25"/>
                <a:gd name="T41" fmla="*/ 18 h 21"/>
                <a:gd name="T42" fmla="*/ 6 w 25"/>
                <a:gd name="T43" fmla="*/ 20 h 21"/>
                <a:gd name="T44" fmla="*/ 6 w 25"/>
                <a:gd name="T45" fmla="*/ 21 h 21"/>
                <a:gd name="T46" fmla="*/ 5 w 25"/>
                <a:gd name="T47" fmla="*/ 21 h 21"/>
                <a:gd name="T48" fmla="*/ 1 w 25"/>
                <a:gd name="T49" fmla="*/ 10 h 21"/>
                <a:gd name="T50" fmla="*/ 0 w 25"/>
                <a:gd name="T51" fmla="*/ 4 h 21"/>
                <a:gd name="T52" fmla="*/ 3 w 25"/>
                <a:gd name="T53" fmla="*/ 1 h 21"/>
                <a:gd name="T54" fmla="*/ 6 w 25"/>
                <a:gd name="T55" fmla="*/ 6 h 21"/>
                <a:gd name="T56" fmla="*/ 3 w 25"/>
                <a:gd name="T57" fmla="*/ 8 h 21"/>
                <a:gd name="T58" fmla="*/ 3 w 25"/>
                <a:gd name="T59" fmla="*/ 12 h 21"/>
                <a:gd name="T60" fmla="*/ 3 w 25"/>
                <a:gd name="T61" fmla="*/ 13 h 21"/>
                <a:gd name="T62" fmla="*/ 12 w 25"/>
                <a:gd name="T63" fmla="*/ 9 h 21"/>
                <a:gd name="T64" fmla="*/ 12 w 25"/>
                <a:gd name="T65" fmla="*/ 9 h 21"/>
                <a:gd name="T66" fmla="*/ 9 w 25"/>
                <a:gd name="T67" fmla="*/ 6 h 21"/>
                <a:gd name="T68" fmla="*/ 6 w 25"/>
                <a:gd name="T69" fmla="*/ 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21">
                  <a:moveTo>
                    <a:pt x="3" y="1"/>
                  </a:moveTo>
                  <a:cubicBezTo>
                    <a:pt x="4" y="0"/>
                    <a:pt x="5" y="0"/>
                    <a:pt x="6" y="0"/>
                  </a:cubicBezTo>
                  <a:cubicBezTo>
                    <a:pt x="7" y="0"/>
                    <a:pt x="8" y="1"/>
                    <a:pt x="9" y="1"/>
                  </a:cubicBezTo>
                  <a:cubicBezTo>
                    <a:pt x="10" y="2"/>
                    <a:pt x="10" y="3"/>
                    <a:pt x="11" y="4"/>
                  </a:cubicBezTo>
                  <a:cubicBezTo>
                    <a:pt x="12" y="5"/>
                    <a:pt x="12" y="6"/>
                    <a:pt x="13" y="7"/>
                  </a:cubicBezTo>
                  <a:cubicBezTo>
                    <a:pt x="13" y="9"/>
                    <a:pt x="13" y="9"/>
                    <a:pt x="13" y="9"/>
                  </a:cubicBezTo>
                  <a:cubicBezTo>
                    <a:pt x="19" y="7"/>
                    <a:pt x="19" y="7"/>
                    <a:pt x="19" y="7"/>
                  </a:cubicBezTo>
                  <a:cubicBezTo>
                    <a:pt x="19" y="7"/>
                    <a:pt x="19" y="7"/>
                    <a:pt x="20" y="6"/>
                  </a:cubicBezTo>
                  <a:cubicBezTo>
                    <a:pt x="20" y="6"/>
                    <a:pt x="20" y="6"/>
                    <a:pt x="20" y="5"/>
                  </a:cubicBezTo>
                  <a:cubicBezTo>
                    <a:pt x="20" y="5"/>
                    <a:pt x="20" y="5"/>
                    <a:pt x="20" y="4"/>
                  </a:cubicBezTo>
                  <a:cubicBezTo>
                    <a:pt x="20" y="4"/>
                    <a:pt x="20" y="4"/>
                    <a:pt x="19" y="3"/>
                  </a:cubicBezTo>
                  <a:cubicBezTo>
                    <a:pt x="21" y="3"/>
                    <a:pt x="21" y="3"/>
                    <a:pt x="21" y="3"/>
                  </a:cubicBezTo>
                  <a:cubicBezTo>
                    <a:pt x="25" y="14"/>
                    <a:pt x="25" y="14"/>
                    <a:pt x="25" y="14"/>
                  </a:cubicBezTo>
                  <a:cubicBezTo>
                    <a:pt x="24" y="14"/>
                    <a:pt x="24" y="14"/>
                    <a:pt x="24" y="14"/>
                  </a:cubicBezTo>
                  <a:cubicBezTo>
                    <a:pt x="23" y="14"/>
                    <a:pt x="23" y="13"/>
                    <a:pt x="23" y="13"/>
                  </a:cubicBezTo>
                  <a:cubicBezTo>
                    <a:pt x="23" y="13"/>
                    <a:pt x="23" y="12"/>
                    <a:pt x="23" y="12"/>
                  </a:cubicBezTo>
                  <a:cubicBezTo>
                    <a:pt x="22" y="12"/>
                    <a:pt x="22" y="12"/>
                    <a:pt x="22" y="12"/>
                  </a:cubicBezTo>
                  <a:cubicBezTo>
                    <a:pt x="21" y="12"/>
                    <a:pt x="21" y="12"/>
                    <a:pt x="21" y="12"/>
                  </a:cubicBezTo>
                  <a:cubicBezTo>
                    <a:pt x="7" y="17"/>
                    <a:pt x="7" y="17"/>
                    <a:pt x="7" y="17"/>
                  </a:cubicBezTo>
                  <a:cubicBezTo>
                    <a:pt x="7" y="17"/>
                    <a:pt x="6" y="17"/>
                    <a:pt x="6" y="18"/>
                  </a:cubicBezTo>
                  <a:cubicBezTo>
                    <a:pt x="6" y="18"/>
                    <a:pt x="6" y="18"/>
                    <a:pt x="6" y="18"/>
                  </a:cubicBezTo>
                  <a:cubicBezTo>
                    <a:pt x="6" y="19"/>
                    <a:pt x="6" y="19"/>
                    <a:pt x="6" y="20"/>
                  </a:cubicBezTo>
                  <a:cubicBezTo>
                    <a:pt x="6" y="20"/>
                    <a:pt x="6" y="20"/>
                    <a:pt x="6" y="21"/>
                  </a:cubicBezTo>
                  <a:cubicBezTo>
                    <a:pt x="5" y="21"/>
                    <a:pt x="5" y="21"/>
                    <a:pt x="5" y="21"/>
                  </a:cubicBezTo>
                  <a:cubicBezTo>
                    <a:pt x="1" y="10"/>
                    <a:pt x="1" y="10"/>
                    <a:pt x="1" y="10"/>
                  </a:cubicBezTo>
                  <a:cubicBezTo>
                    <a:pt x="0" y="8"/>
                    <a:pt x="0" y="6"/>
                    <a:pt x="0" y="4"/>
                  </a:cubicBezTo>
                  <a:cubicBezTo>
                    <a:pt x="0" y="3"/>
                    <a:pt x="1" y="1"/>
                    <a:pt x="3" y="1"/>
                  </a:cubicBezTo>
                  <a:close/>
                  <a:moveTo>
                    <a:pt x="6" y="6"/>
                  </a:moveTo>
                  <a:cubicBezTo>
                    <a:pt x="4" y="6"/>
                    <a:pt x="3" y="7"/>
                    <a:pt x="3" y="8"/>
                  </a:cubicBezTo>
                  <a:cubicBezTo>
                    <a:pt x="2" y="9"/>
                    <a:pt x="2" y="10"/>
                    <a:pt x="3" y="12"/>
                  </a:cubicBezTo>
                  <a:cubicBezTo>
                    <a:pt x="3" y="13"/>
                    <a:pt x="3" y="13"/>
                    <a:pt x="3" y="13"/>
                  </a:cubicBezTo>
                  <a:cubicBezTo>
                    <a:pt x="12" y="9"/>
                    <a:pt x="12" y="9"/>
                    <a:pt x="12" y="9"/>
                  </a:cubicBezTo>
                  <a:cubicBezTo>
                    <a:pt x="12" y="9"/>
                    <a:pt x="12" y="9"/>
                    <a:pt x="12" y="9"/>
                  </a:cubicBezTo>
                  <a:cubicBezTo>
                    <a:pt x="11" y="7"/>
                    <a:pt x="10" y="6"/>
                    <a:pt x="9" y="6"/>
                  </a:cubicBezTo>
                  <a:cubicBezTo>
                    <a:pt x="8" y="5"/>
                    <a:pt x="7" y="5"/>
                    <a:pt x="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7" name="Freeform 12"/>
            <p:cNvSpPr/>
            <p:nvPr userDrawn="1"/>
          </p:nvSpPr>
          <p:spPr bwMode="auto">
            <a:xfrm>
              <a:off x="528589" y="1105322"/>
              <a:ext cx="85725" cy="82550"/>
            </a:xfrm>
            <a:custGeom>
              <a:avLst/>
              <a:gdLst>
                <a:gd name="T0" fmla="*/ 5 w 23"/>
                <a:gd name="T1" fmla="*/ 3 h 22"/>
                <a:gd name="T2" fmla="*/ 5 w 23"/>
                <a:gd name="T3" fmla="*/ 4 h 22"/>
                <a:gd name="T4" fmla="*/ 3 w 23"/>
                <a:gd name="T5" fmla="*/ 6 h 22"/>
                <a:gd name="T6" fmla="*/ 2 w 23"/>
                <a:gd name="T7" fmla="*/ 8 h 22"/>
                <a:gd name="T8" fmla="*/ 2 w 23"/>
                <a:gd name="T9" fmla="*/ 9 h 22"/>
                <a:gd name="T10" fmla="*/ 2 w 23"/>
                <a:gd name="T11" fmla="*/ 10 h 22"/>
                <a:gd name="T12" fmla="*/ 3 w 23"/>
                <a:gd name="T13" fmla="*/ 13 h 22"/>
                <a:gd name="T14" fmla="*/ 11 w 23"/>
                <a:gd name="T15" fmla="*/ 12 h 22"/>
                <a:gd name="T16" fmla="*/ 10 w 23"/>
                <a:gd name="T17" fmla="*/ 10 h 22"/>
                <a:gd name="T18" fmla="*/ 10 w 23"/>
                <a:gd name="T19" fmla="*/ 9 h 22"/>
                <a:gd name="T20" fmla="*/ 9 w 23"/>
                <a:gd name="T21" fmla="*/ 8 h 22"/>
                <a:gd name="T22" fmla="*/ 8 w 23"/>
                <a:gd name="T23" fmla="*/ 7 h 22"/>
                <a:gd name="T24" fmla="*/ 6 w 23"/>
                <a:gd name="T25" fmla="*/ 7 h 22"/>
                <a:gd name="T26" fmla="*/ 6 w 23"/>
                <a:gd name="T27" fmla="*/ 6 h 22"/>
                <a:gd name="T28" fmla="*/ 15 w 23"/>
                <a:gd name="T29" fmla="*/ 5 h 22"/>
                <a:gd name="T30" fmla="*/ 15 w 23"/>
                <a:gd name="T31" fmla="*/ 6 h 22"/>
                <a:gd name="T32" fmla="*/ 13 w 23"/>
                <a:gd name="T33" fmla="*/ 7 h 22"/>
                <a:gd name="T34" fmla="*/ 12 w 23"/>
                <a:gd name="T35" fmla="*/ 7 h 22"/>
                <a:gd name="T36" fmla="*/ 12 w 23"/>
                <a:gd name="T37" fmla="*/ 9 h 22"/>
                <a:gd name="T38" fmla="*/ 12 w 23"/>
                <a:gd name="T39" fmla="*/ 10 h 22"/>
                <a:gd name="T40" fmla="*/ 12 w 23"/>
                <a:gd name="T41" fmla="*/ 12 h 22"/>
                <a:gd name="T42" fmla="*/ 18 w 23"/>
                <a:gd name="T43" fmla="*/ 12 h 22"/>
                <a:gd name="T44" fmla="*/ 19 w 23"/>
                <a:gd name="T45" fmla="*/ 11 h 22"/>
                <a:gd name="T46" fmla="*/ 20 w 23"/>
                <a:gd name="T47" fmla="*/ 11 h 22"/>
                <a:gd name="T48" fmla="*/ 20 w 23"/>
                <a:gd name="T49" fmla="*/ 10 h 22"/>
                <a:gd name="T50" fmla="*/ 20 w 23"/>
                <a:gd name="T51" fmla="*/ 8 h 22"/>
                <a:gd name="T52" fmla="*/ 20 w 23"/>
                <a:gd name="T53" fmla="*/ 7 h 22"/>
                <a:gd name="T54" fmla="*/ 20 w 23"/>
                <a:gd name="T55" fmla="*/ 5 h 22"/>
                <a:gd name="T56" fmla="*/ 20 w 23"/>
                <a:gd name="T57" fmla="*/ 4 h 22"/>
                <a:gd name="T58" fmla="*/ 19 w 23"/>
                <a:gd name="T59" fmla="*/ 4 h 22"/>
                <a:gd name="T60" fmla="*/ 17 w 23"/>
                <a:gd name="T61" fmla="*/ 2 h 22"/>
                <a:gd name="T62" fmla="*/ 14 w 23"/>
                <a:gd name="T63" fmla="*/ 1 h 22"/>
                <a:gd name="T64" fmla="*/ 14 w 23"/>
                <a:gd name="T65" fmla="*/ 0 h 22"/>
                <a:gd name="T66" fmla="*/ 21 w 23"/>
                <a:gd name="T67" fmla="*/ 0 h 22"/>
                <a:gd name="T68" fmla="*/ 23 w 23"/>
                <a:gd name="T69" fmla="*/ 19 h 22"/>
                <a:gd name="T70" fmla="*/ 22 w 23"/>
                <a:gd name="T71" fmla="*/ 20 h 22"/>
                <a:gd name="T72" fmla="*/ 22 w 23"/>
                <a:gd name="T73" fmla="*/ 18 h 22"/>
                <a:gd name="T74" fmla="*/ 21 w 23"/>
                <a:gd name="T75" fmla="*/ 17 h 22"/>
                <a:gd name="T76" fmla="*/ 21 w 23"/>
                <a:gd name="T77" fmla="*/ 17 h 22"/>
                <a:gd name="T78" fmla="*/ 20 w 23"/>
                <a:gd name="T79" fmla="*/ 17 h 22"/>
                <a:gd name="T80" fmla="*/ 5 w 23"/>
                <a:gd name="T81" fmla="*/ 18 h 22"/>
                <a:gd name="T82" fmla="*/ 4 w 23"/>
                <a:gd name="T83" fmla="*/ 19 h 22"/>
                <a:gd name="T84" fmla="*/ 4 w 23"/>
                <a:gd name="T85" fmla="*/ 20 h 22"/>
                <a:gd name="T86" fmla="*/ 3 w 23"/>
                <a:gd name="T87" fmla="*/ 21 h 22"/>
                <a:gd name="T88" fmla="*/ 3 w 23"/>
                <a:gd name="T89" fmla="*/ 22 h 22"/>
                <a:gd name="T90" fmla="*/ 2 w 23"/>
                <a:gd name="T91" fmla="*/ 22 h 22"/>
                <a:gd name="T92" fmla="*/ 0 w 23"/>
                <a:gd name="T93" fmla="*/ 3 h 22"/>
                <a:gd name="T94" fmla="*/ 5 w 23"/>
                <a:gd name="T9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 h="22">
                  <a:moveTo>
                    <a:pt x="5" y="3"/>
                  </a:moveTo>
                  <a:cubicBezTo>
                    <a:pt x="5" y="4"/>
                    <a:pt x="5" y="4"/>
                    <a:pt x="5" y="4"/>
                  </a:cubicBezTo>
                  <a:cubicBezTo>
                    <a:pt x="5" y="4"/>
                    <a:pt x="4" y="5"/>
                    <a:pt x="3" y="6"/>
                  </a:cubicBezTo>
                  <a:cubicBezTo>
                    <a:pt x="2" y="6"/>
                    <a:pt x="2" y="7"/>
                    <a:pt x="2" y="8"/>
                  </a:cubicBezTo>
                  <a:cubicBezTo>
                    <a:pt x="2" y="8"/>
                    <a:pt x="2" y="9"/>
                    <a:pt x="2" y="9"/>
                  </a:cubicBezTo>
                  <a:cubicBezTo>
                    <a:pt x="2" y="10"/>
                    <a:pt x="2" y="10"/>
                    <a:pt x="2" y="10"/>
                  </a:cubicBezTo>
                  <a:cubicBezTo>
                    <a:pt x="3" y="13"/>
                    <a:pt x="3" y="13"/>
                    <a:pt x="3" y="13"/>
                  </a:cubicBezTo>
                  <a:cubicBezTo>
                    <a:pt x="11" y="12"/>
                    <a:pt x="11" y="12"/>
                    <a:pt x="11" y="12"/>
                  </a:cubicBezTo>
                  <a:cubicBezTo>
                    <a:pt x="10" y="10"/>
                    <a:pt x="10" y="10"/>
                    <a:pt x="10" y="10"/>
                  </a:cubicBezTo>
                  <a:cubicBezTo>
                    <a:pt x="10" y="10"/>
                    <a:pt x="10" y="9"/>
                    <a:pt x="10" y="9"/>
                  </a:cubicBezTo>
                  <a:cubicBezTo>
                    <a:pt x="10" y="8"/>
                    <a:pt x="9" y="8"/>
                    <a:pt x="9" y="8"/>
                  </a:cubicBezTo>
                  <a:cubicBezTo>
                    <a:pt x="9" y="8"/>
                    <a:pt x="8" y="7"/>
                    <a:pt x="8" y="7"/>
                  </a:cubicBezTo>
                  <a:cubicBezTo>
                    <a:pt x="7" y="7"/>
                    <a:pt x="7" y="7"/>
                    <a:pt x="6" y="7"/>
                  </a:cubicBezTo>
                  <a:cubicBezTo>
                    <a:pt x="6" y="6"/>
                    <a:pt x="6" y="6"/>
                    <a:pt x="6" y="6"/>
                  </a:cubicBezTo>
                  <a:cubicBezTo>
                    <a:pt x="15" y="5"/>
                    <a:pt x="15" y="5"/>
                    <a:pt x="15" y="5"/>
                  </a:cubicBezTo>
                  <a:cubicBezTo>
                    <a:pt x="15" y="6"/>
                    <a:pt x="15" y="6"/>
                    <a:pt x="15" y="6"/>
                  </a:cubicBezTo>
                  <a:cubicBezTo>
                    <a:pt x="15" y="6"/>
                    <a:pt x="14" y="6"/>
                    <a:pt x="13" y="7"/>
                  </a:cubicBezTo>
                  <a:cubicBezTo>
                    <a:pt x="13" y="7"/>
                    <a:pt x="12" y="7"/>
                    <a:pt x="12" y="7"/>
                  </a:cubicBezTo>
                  <a:cubicBezTo>
                    <a:pt x="12" y="8"/>
                    <a:pt x="12" y="8"/>
                    <a:pt x="12" y="9"/>
                  </a:cubicBezTo>
                  <a:cubicBezTo>
                    <a:pt x="12" y="9"/>
                    <a:pt x="12" y="10"/>
                    <a:pt x="12" y="10"/>
                  </a:cubicBezTo>
                  <a:cubicBezTo>
                    <a:pt x="12" y="12"/>
                    <a:pt x="12" y="12"/>
                    <a:pt x="12" y="12"/>
                  </a:cubicBezTo>
                  <a:cubicBezTo>
                    <a:pt x="18" y="12"/>
                    <a:pt x="18" y="12"/>
                    <a:pt x="18" y="12"/>
                  </a:cubicBezTo>
                  <a:cubicBezTo>
                    <a:pt x="19" y="12"/>
                    <a:pt x="19" y="11"/>
                    <a:pt x="19" y="11"/>
                  </a:cubicBezTo>
                  <a:cubicBezTo>
                    <a:pt x="20" y="11"/>
                    <a:pt x="20" y="11"/>
                    <a:pt x="20" y="11"/>
                  </a:cubicBezTo>
                  <a:cubicBezTo>
                    <a:pt x="20" y="10"/>
                    <a:pt x="20" y="10"/>
                    <a:pt x="20" y="10"/>
                  </a:cubicBezTo>
                  <a:cubicBezTo>
                    <a:pt x="20" y="9"/>
                    <a:pt x="20" y="9"/>
                    <a:pt x="20" y="8"/>
                  </a:cubicBezTo>
                  <a:cubicBezTo>
                    <a:pt x="20" y="8"/>
                    <a:pt x="20" y="7"/>
                    <a:pt x="20" y="7"/>
                  </a:cubicBezTo>
                  <a:cubicBezTo>
                    <a:pt x="20" y="6"/>
                    <a:pt x="20" y="6"/>
                    <a:pt x="20" y="5"/>
                  </a:cubicBezTo>
                  <a:cubicBezTo>
                    <a:pt x="20" y="5"/>
                    <a:pt x="20" y="5"/>
                    <a:pt x="20" y="4"/>
                  </a:cubicBezTo>
                  <a:cubicBezTo>
                    <a:pt x="19" y="4"/>
                    <a:pt x="19" y="4"/>
                    <a:pt x="19" y="4"/>
                  </a:cubicBezTo>
                  <a:cubicBezTo>
                    <a:pt x="19" y="3"/>
                    <a:pt x="18" y="3"/>
                    <a:pt x="17" y="2"/>
                  </a:cubicBezTo>
                  <a:cubicBezTo>
                    <a:pt x="16" y="2"/>
                    <a:pt x="15" y="1"/>
                    <a:pt x="14" y="1"/>
                  </a:cubicBezTo>
                  <a:cubicBezTo>
                    <a:pt x="14" y="0"/>
                    <a:pt x="14" y="0"/>
                    <a:pt x="14" y="0"/>
                  </a:cubicBezTo>
                  <a:cubicBezTo>
                    <a:pt x="21" y="0"/>
                    <a:pt x="21" y="0"/>
                    <a:pt x="21" y="0"/>
                  </a:cubicBezTo>
                  <a:cubicBezTo>
                    <a:pt x="23" y="19"/>
                    <a:pt x="23" y="19"/>
                    <a:pt x="23" y="19"/>
                  </a:cubicBezTo>
                  <a:cubicBezTo>
                    <a:pt x="22" y="20"/>
                    <a:pt x="22" y="20"/>
                    <a:pt x="22" y="20"/>
                  </a:cubicBezTo>
                  <a:cubicBezTo>
                    <a:pt x="22" y="19"/>
                    <a:pt x="22" y="19"/>
                    <a:pt x="22" y="18"/>
                  </a:cubicBezTo>
                  <a:cubicBezTo>
                    <a:pt x="22" y="18"/>
                    <a:pt x="21" y="18"/>
                    <a:pt x="21" y="17"/>
                  </a:cubicBezTo>
                  <a:cubicBezTo>
                    <a:pt x="21" y="17"/>
                    <a:pt x="21" y="17"/>
                    <a:pt x="21" y="17"/>
                  </a:cubicBezTo>
                  <a:cubicBezTo>
                    <a:pt x="20" y="17"/>
                    <a:pt x="20" y="17"/>
                    <a:pt x="20" y="17"/>
                  </a:cubicBezTo>
                  <a:cubicBezTo>
                    <a:pt x="5" y="18"/>
                    <a:pt x="5" y="18"/>
                    <a:pt x="5" y="18"/>
                  </a:cubicBezTo>
                  <a:cubicBezTo>
                    <a:pt x="5" y="18"/>
                    <a:pt x="4" y="19"/>
                    <a:pt x="4" y="19"/>
                  </a:cubicBezTo>
                  <a:cubicBezTo>
                    <a:pt x="4" y="19"/>
                    <a:pt x="4" y="19"/>
                    <a:pt x="4" y="20"/>
                  </a:cubicBezTo>
                  <a:cubicBezTo>
                    <a:pt x="3" y="20"/>
                    <a:pt x="3" y="20"/>
                    <a:pt x="3" y="21"/>
                  </a:cubicBezTo>
                  <a:cubicBezTo>
                    <a:pt x="3" y="21"/>
                    <a:pt x="3" y="21"/>
                    <a:pt x="3" y="22"/>
                  </a:cubicBezTo>
                  <a:cubicBezTo>
                    <a:pt x="2" y="22"/>
                    <a:pt x="2" y="22"/>
                    <a:pt x="2" y="22"/>
                  </a:cubicBezTo>
                  <a:cubicBezTo>
                    <a:pt x="0" y="3"/>
                    <a:pt x="0" y="3"/>
                    <a:pt x="0" y="3"/>
                  </a:cubicBezTo>
                  <a:lnTo>
                    <a:pt x="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8" name="Freeform 13"/>
            <p:cNvSpPr/>
            <p:nvPr userDrawn="1"/>
          </p:nvSpPr>
          <p:spPr bwMode="auto">
            <a:xfrm>
              <a:off x="528589" y="960860"/>
              <a:ext cx="90488" cy="98425"/>
            </a:xfrm>
            <a:custGeom>
              <a:avLst/>
              <a:gdLst>
                <a:gd name="T0" fmla="*/ 24 w 24"/>
                <a:gd name="T1" fmla="*/ 2 h 26"/>
                <a:gd name="T2" fmla="*/ 23 w 24"/>
                <a:gd name="T3" fmla="*/ 10 h 26"/>
                <a:gd name="T4" fmla="*/ 18 w 24"/>
                <a:gd name="T5" fmla="*/ 13 h 26"/>
                <a:gd name="T6" fmla="*/ 12 w 24"/>
                <a:gd name="T7" fmla="*/ 16 h 26"/>
                <a:gd name="T8" fmla="*/ 12 w 24"/>
                <a:gd name="T9" fmla="*/ 17 h 26"/>
                <a:gd name="T10" fmla="*/ 19 w 24"/>
                <a:gd name="T11" fmla="*/ 18 h 26"/>
                <a:gd name="T12" fmla="*/ 20 w 24"/>
                <a:gd name="T13" fmla="*/ 18 h 26"/>
                <a:gd name="T14" fmla="*/ 20 w 24"/>
                <a:gd name="T15" fmla="*/ 17 h 26"/>
                <a:gd name="T16" fmla="*/ 21 w 24"/>
                <a:gd name="T17" fmla="*/ 16 h 26"/>
                <a:gd name="T18" fmla="*/ 21 w 24"/>
                <a:gd name="T19" fmla="*/ 15 h 26"/>
                <a:gd name="T20" fmla="*/ 22 w 24"/>
                <a:gd name="T21" fmla="*/ 15 h 26"/>
                <a:gd name="T22" fmla="*/ 21 w 24"/>
                <a:gd name="T23" fmla="*/ 26 h 26"/>
                <a:gd name="T24" fmla="*/ 20 w 24"/>
                <a:gd name="T25" fmla="*/ 26 h 26"/>
                <a:gd name="T26" fmla="*/ 20 w 24"/>
                <a:gd name="T27" fmla="*/ 25 h 26"/>
                <a:gd name="T28" fmla="*/ 20 w 24"/>
                <a:gd name="T29" fmla="*/ 24 h 26"/>
                <a:gd name="T30" fmla="*/ 19 w 24"/>
                <a:gd name="T31" fmla="*/ 23 h 26"/>
                <a:gd name="T32" fmla="*/ 18 w 24"/>
                <a:gd name="T33" fmla="*/ 23 h 26"/>
                <a:gd name="T34" fmla="*/ 3 w 24"/>
                <a:gd name="T35" fmla="*/ 21 h 26"/>
                <a:gd name="T36" fmla="*/ 3 w 24"/>
                <a:gd name="T37" fmla="*/ 21 h 26"/>
                <a:gd name="T38" fmla="*/ 2 w 24"/>
                <a:gd name="T39" fmla="*/ 21 h 26"/>
                <a:gd name="T40" fmla="*/ 1 w 24"/>
                <a:gd name="T41" fmla="*/ 22 h 26"/>
                <a:gd name="T42" fmla="*/ 1 w 24"/>
                <a:gd name="T43" fmla="*/ 23 h 26"/>
                <a:gd name="T44" fmla="*/ 0 w 24"/>
                <a:gd name="T45" fmla="*/ 23 h 26"/>
                <a:gd name="T46" fmla="*/ 1 w 24"/>
                <a:gd name="T47" fmla="*/ 12 h 26"/>
                <a:gd name="T48" fmla="*/ 3 w 24"/>
                <a:gd name="T49" fmla="*/ 12 h 26"/>
                <a:gd name="T50" fmla="*/ 3 w 24"/>
                <a:gd name="T51" fmla="*/ 13 h 26"/>
                <a:gd name="T52" fmla="*/ 3 w 24"/>
                <a:gd name="T53" fmla="*/ 14 h 26"/>
                <a:gd name="T54" fmla="*/ 3 w 24"/>
                <a:gd name="T55" fmla="*/ 15 h 26"/>
                <a:gd name="T56" fmla="*/ 4 w 24"/>
                <a:gd name="T57" fmla="*/ 15 h 26"/>
                <a:gd name="T58" fmla="*/ 11 w 24"/>
                <a:gd name="T59" fmla="*/ 16 h 26"/>
                <a:gd name="T60" fmla="*/ 11 w 24"/>
                <a:gd name="T61" fmla="*/ 16 h 26"/>
                <a:gd name="T62" fmla="*/ 9 w 24"/>
                <a:gd name="T63" fmla="*/ 13 h 26"/>
                <a:gd name="T64" fmla="*/ 7 w 24"/>
                <a:gd name="T65" fmla="*/ 10 h 26"/>
                <a:gd name="T66" fmla="*/ 5 w 24"/>
                <a:gd name="T67" fmla="*/ 8 h 26"/>
                <a:gd name="T68" fmla="*/ 4 w 24"/>
                <a:gd name="T69" fmla="*/ 7 h 26"/>
                <a:gd name="T70" fmla="*/ 3 w 24"/>
                <a:gd name="T71" fmla="*/ 8 h 26"/>
                <a:gd name="T72" fmla="*/ 3 w 24"/>
                <a:gd name="T73" fmla="*/ 9 h 26"/>
                <a:gd name="T74" fmla="*/ 2 w 24"/>
                <a:gd name="T75" fmla="*/ 9 h 26"/>
                <a:gd name="T76" fmla="*/ 3 w 24"/>
                <a:gd name="T77" fmla="*/ 0 h 26"/>
                <a:gd name="T78" fmla="*/ 4 w 24"/>
                <a:gd name="T79" fmla="*/ 0 h 26"/>
                <a:gd name="T80" fmla="*/ 5 w 24"/>
                <a:gd name="T81" fmla="*/ 3 h 26"/>
                <a:gd name="T82" fmla="*/ 6 w 24"/>
                <a:gd name="T83" fmla="*/ 6 h 26"/>
                <a:gd name="T84" fmla="*/ 8 w 24"/>
                <a:gd name="T85" fmla="*/ 9 h 26"/>
                <a:gd name="T86" fmla="*/ 10 w 24"/>
                <a:gd name="T87" fmla="*/ 12 h 26"/>
                <a:gd name="T88" fmla="*/ 15 w 24"/>
                <a:gd name="T89" fmla="*/ 9 h 26"/>
                <a:gd name="T90" fmla="*/ 20 w 24"/>
                <a:gd name="T91" fmla="*/ 6 h 26"/>
                <a:gd name="T92" fmla="*/ 21 w 24"/>
                <a:gd name="T93" fmla="*/ 5 h 26"/>
                <a:gd name="T94" fmla="*/ 22 w 24"/>
                <a:gd name="T95" fmla="*/ 3 h 26"/>
                <a:gd name="T96" fmla="*/ 23 w 24"/>
                <a:gd name="T97" fmla="*/ 2 h 26"/>
                <a:gd name="T98" fmla="*/ 23 w 24"/>
                <a:gd name="T99" fmla="*/ 2 h 26"/>
                <a:gd name="T100" fmla="*/ 24 w 24"/>
                <a:gd name="T101" fmla="*/ 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 h="26">
                  <a:moveTo>
                    <a:pt x="24" y="2"/>
                  </a:moveTo>
                  <a:cubicBezTo>
                    <a:pt x="23" y="10"/>
                    <a:pt x="23" y="10"/>
                    <a:pt x="23" y="10"/>
                  </a:cubicBezTo>
                  <a:cubicBezTo>
                    <a:pt x="21" y="11"/>
                    <a:pt x="19" y="12"/>
                    <a:pt x="18" y="13"/>
                  </a:cubicBezTo>
                  <a:cubicBezTo>
                    <a:pt x="16" y="14"/>
                    <a:pt x="15" y="15"/>
                    <a:pt x="12" y="16"/>
                  </a:cubicBezTo>
                  <a:cubicBezTo>
                    <a:pt x="12" y="17"/>
                    <a:pt x="12" y="17"/>
                    <a:pt x="12" y="17"/>
                  </a:cubicBezTo>
                  <a:cubicBezTo>
                    <a:pt x="19" y="18"/>
                    <a:pt x="19" y="18"/>
                    <a:pt x="19" y="18"/>
                  </a:cubicBezTo>
                  <a:cubicBezTo>
                    <a:pt x="19" y="18"/>
                    <a:pt x="19" y="18"/>
                    <a:pt x="20" y="18"/>
                  </a:cubicBezTo>
                  <a:cubicBezTo>
                    <a:pt x="20" y="17"/>
                    <a:pt x="20" y="17"/>
                    <a:pt x="20" y="17"/>
                  </a:cubicBezTo>
                  <a:cubicBezTo>
                    <a:pt x="21" y="17"/>
                    <a:pt x="21" y="16"/>
                    <a:pt x="21" y="16"/>
                  </a:cubicBezTo>
                  <a:cubicBezTo>
                    <a:pt x="21" y="16"/>
                    <a:pt x="21" y="15"/>
                    <a:pt x="21" y="15"/>
                  </a:cubicBezTo>
                  <a:cubicBezTo>
                    <a:pt x="22" y="15"/>
                    <a:pt x="22" y="15"/>
                    <a:pt x="22" y="15"/>
                  </a:cubicBezTo>
                  <a:cubicBezTo>
                    <a:pt x="21" y="26"/>
                    <a:pt x="21" y="26"/>
                    <a:pt x="21" y="26"/>
                  </a:cubicBezTo>
                  <a:cubicBezTo>
                    <a:pt x="20" y="26"/>
                    <a:pt x="20" y="26"/>
                    <a:pt x="20" y="26"/>
                  </a:cubicBezTo>
                  <a:cubicBezTo>
                    <a:pt x="20" y="26"/>
                    <a:pt x="20" y="25"/>
                    <a:pt x="20" y="25"/>
                  </a:cubicBezTo>
                  <a:cubicBezTo>
                    <a:pt x="20" y="25"/>
                    <a:pt x="20" y="24"/>
                    <a:pt x="20" y="24"/>
                  </a:cubicBezTo>
                  <a:cubicBezTo>
                    <a:pt x="20" y="24"/>
                    <a:pt x="19" y="23"/>
                    <a:pt x="19" y="23"/>
                  </a:cubicBezTo>
                  <a:cubicBezTo>
                    <a:pt x="19" y="23"/>
                    <a:pt x="19" y="23"/>
                    <a:pt x="18" y="23"/>
                  </a:cubicBezTo>
                  <a:cubicBezTo>
                    <a:pt x="3" y="21"/>
                    <a:pt x="3" y="21"/>
                    <a:pt x="3" y="21"/>
                  </a:cubicBezTo>
                  <a:cubicBezTo>
                    <a:pt x="3" y="21"/>
                    <a:pt x="3" y="21"/>
                    <a:pt x="3" y="21"/>
                  </a:cubicBezTo>
                  <a:cubicBezTo>
                    <a:pt x="2" y="21"/>
                    <a:pt x="2" y="21"/>
                    <a:pt x="2" y="21"/>
                  </a:cubicBezTo>
                  <a:cubicBezTo>
                    <a:pt x="2" y="22"/>
                    <a:pt x="1" y="22"/>
                    <a:pt x="1" y="22"/>
                  </a:cubicBezTo>
                  <a:cubicBezTo>
                    <a:pt x="1" y="23"/>
                    <a:pt x="1" y="23"/>
                    <a:pt x="1" y="23"/>
                  </a:cubicBezTo>
                  <a:cubicBezTo>
                    <a:pt x="0" y="23"/>
                    <a:pt x="0" y="23"/>
                    <a:pt x="0" y="23"/>
                  </a:cubicBezTo>
                  <a:cubicBezTo>
                    <a:pt x="1" y="12"/>
                    <a:pt x="1" y="12"/>
                    <a:pt x="1" y="12"/>
                  </a:cubicBezTo>
                  <a:cubicBezTo>
                    <a:pt x="3" y="12"/>
                    <a:pt x="3" y="12"/>
                    <a:pt x="3" y="12"/>
                  </a:cubicBezTo>
                  <a:cubicBezTo>
                    <a:pt x="3" y="12"/>
                    <a:pt x="3" y="13"/>
                    <a:pt x="3" y="13"/>
                  </a:cubicBezTo>
                  <a:cubicBezTo>
                    <a:pt x="3" y="14"/>
                    <a:pt x="3" y="14"/>
                    <a:pt x="3" y="14"/>
                  </a:cubicBezTo>
                  <a:cubicBezTo>
                    <a:pt x="3" y="15"/>
                    <a:pt x="3" y="15"/>
                    <a:pt x="3" y="15"/>
                  </a:cubicBezTo>
                  <a:cubicBezTo>
                    <a:pt x="3" y="15"/>
                    <a:pt x="4" y="15"/>
                    <a:pt x="4" y="15"/>
                  </a:cubicBezTo>
                  <a:cubicBezTo>
                    <a:pt x="11" y="16"/>
                    <a:pt x="11" y="16"/>
                    <a:pt x="11" y="16"/>
                  </a:cubicBezTo>
                  <a:cubicBezTo>
                    <a:pt x="11" y="16"/>
                    <a:pt x="11" y="16"/>
                    <a:pt x="11" y="16"/>
                  </a:cubicBezTo>
                  <a:cubicBezTo>
                    <a:pt x="11" y="15"/>
                    <a:pt x="10" y="14"/>
                    <a:pt x="9" y="13"/>
                  </a:cubicBezTo>
                  <a:cubicBezTo>
                    <a:pt x="8" y="12"/>
                    <a:pt x="8" y="11"/>
                    <a:pt x="7" y="10"/>
                  </a:cubicBezTo>
                  <a:cubicBezTo>
                    <a:pt x="6" y="9"/>
                    <a:pt x="6" y="9"/>
                    <a:pt x="5" y="8"/>
                  </a:cubicBezTo>
                  <a:cubicBezTo>
                    <a:pt x="5" y="8"/>
                    <a:pt x="4" y="7"/>
                    <a:pt x="4" y="7"/>
                  </a:cubicBezTo>
                  <a:cubicBezTo>
                    <a:pt x="4" y="7"/>
                    <a:pt x="4" y="8"/>
                    <a:pt x="3" y="8"/>
                  </a:cubicBezTo>
                  <a:cubicBezTo>
                    <a:pt x="3" y="8"/>
                    <a:pt x="3" y="9"/>
                    <a:pt x="3" y="9"/>
                  </a:cubicBezTo>
                  <a:cubicBezTo>
                    <a:pt x="2" y="9"/>
                    <a:pt x="2" y="9"/>
                    <a:pt x="2" y="9"/>
                  </a:cubicBezTo>
                  <a:cubicBezTo>
                    <a:pt x="3" y="0"/>
                    <a:pt x="3" y="0"/>
                    <a:pt x="3" y="0"/>
                  </a:cubicBezTo>
                  <a:cubicBezTo>
                    <a:pt x="4" y="0"/>
                    <a:pt x="4" y="0"/>
                    <a:pt x="4" y="0"/>
                  </a:cubicBezTo>
                  <a:cubicBezTo>
                    <a:pt x="4" y="2"/>
                    <a:pt x="4" y="2"/>
                    <a:pt x="5" y="3"/>
                  </a:cubicBezTo>
                  <a:cubicBezTo>
                    <a:pt x="5" y="4"/>
                    <a:pt x="5" y="5"/>
                    <a:pt x="6" y="6"/>
                  </a:cubicBezTo>
                  <a:cubicBezTo>
                    <a:pt x="6" y="7"/>
                    <a:pt x="7" y="8"/>
                    <a:pt x="8" y="9"/>
                  </a:cubicBezTo>
                  <a:cubicBezTo>
                    <a:pt x="8" y="9"/>
                    <a:pt x="9" y="10"/>
                    <a:pt x="10" y="12"/>
                  </a:cubicBezTo>
                  <a:cubicBezTo>
                    <a:pt x="11" y="11"/>
                    <a:pt x="13" y="10"/>
                    <a:pt x="15" y="9"/>
                  </a:cubicBezTo>
                  <a:cubicBezTo>
                    <a:pt x="16" y="8"/>
                    <a:pt x="18" y="7"/>
                    <a:pt x="20" y="6"/>
                  </a:cubicBezTo>
                  <a:cubicBezTo>
                    <a:pt x="21" y="5"/>
                    <a:pt x="21" y="5"/>
                    <a:pt x="21" y="5"/>
                  </a:cubicBezTo>
                  <a:cubicBezTo>
                    <a:pt x="22" y="4"/>
                    <a:pt x="22" y="4"/>
                    <a:pt x="22" y="3"/>
                  </a:cubicBezTo>
                  <a:cubicBezTo>
                    <a:pt x="23" y="3"/>
                    <a:pt x="23" y="3"/>
                    <a:pt x="23" y="2"/>
                  </a:cubicBezTo>
                  <a:cubicBezTo>
                    <a:pt x="23" y="2"/>
                    <a:pt x="23" y="2"/>
                    <a:pt x="23" y="2"/>
                  </a:cubicBezTo>
                  <a:lnTo>
                    <a:pt x="24"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4"/>
            <p:cNvSpPr/>
            <p:nvPr userDrawn="1"/>
          </p:nvSpPr>
          <p:spPr bwMode="auto">
            <a:xfrm>
              <a:off x="558751" y="859260"/>
              <a:ext cx="90488" cy="71438"/>
            </a:xfrm>
            <a:custGeom>
              <a:avLst/>
              <a:gdLst>
                <a:gd name="T0" fmla="*/ 24 w 24"/>
                <a:gd name="T1" fmla="*/ 8 h 19"/>
                <a:gd name="T2" fmla="*/ 20 w 24"/>
                <a:gd name="T3" fmla="*/ 19 h 19"/>
                <a:gd name="T4" fmla="*/ 19 w 24"/>
                <a:gd name="T5" fmla="*/ 18 h 19"/>
                <a:gd name="T6" fmla="*/ 19 w 24"/>
                <a:gd name="T7" fmla="*/ 17 h 19"/>
                <a:gd name="T8" fmla="*/ 19 w 24"/>
                <a:gd name="T9" fmla="*/ 16 h 19"/>
                <a:gd name="T10" fmla="*/ 19 w 24"/>
                <a:gd name="T11" fmla="*/ 15 h 19"/>
                <a:gd name="T12" fmla="*/ 18 w 24"/>
                <a:gd name="T13" fmla="*/ 15 h 19"/>
                <a:gd name="T14" fmla="*/ 4 w 24"/>
                <a:gd name="T15" fmla="*/ 9 h 19"/>
                <a:gd name="T16" fmla="*/ 4 w 24"/>
                <a:gd name="T17" fmla="*/ 9 h 19"/>
                <a:gd name="T18" fmla="*/ 3 w 24"/>
                <a:gd name="T19" fmla="*/ 10 h 19"/>
                <a:gd name="T20" fmla="*/ 2 w 24"/>
                <a:gd name="T21" fmla="*/ 10 h 19"/>
                <a:gd name="T22" fmla="*/ 1 w 24"/>
                <a:gd name="T23" fmla="*/ 11 h 19"/>
                <a:gd name="T24" fmla="*/ 0 w 24"/>
                <a:gd name="T25" fmla="*/ 11 h 19"/>
                <a:gd name="T26" fmla="*/ 5 w 24"/>
                <a:gd name="T27" fmla="*/ 0 h 19"/>
                <a:gd name="T28" fmla="*/ 6 w 24"/>
                <a:gd name="T29" fmla="*/ 1 h 19"/>
                <a:gd name="T30" fmla="*/ 5 w 24"/>
                <a:gd name="T31" fmla="*/ 2 h 19"/>
                <a:gd name="T32" fmla="*/ 5 w 24"/>
                <a:gd name="T33" fmla="*/ 3 h 19"/>
                <a:gd name="T34" fmla="*/ 5 w 24"/>
                <a:gd name="T35" fmla="*/ 4 h 19"/>
                <a:gd name="T36" fmla="*/ 6 w 24"/>
                <a:gd name="T37" fmla="*/ 4 h 19"/>
                <a:gd name="T38" fmla="*/ 20 w 24"/>
                <a:gd name="T39" fmla="*/ 10 h 19"/>
                <a:gd name="T40" fmla="*/ 21 w 24"/>
                <a:gd name="T41" fmla="*/ 10 h 19"/>
                <a:gd name="T42" fmla="*/ 22 w 24"/>
                <a:gd name="T43" fmla="*/ 9 h 19"/>
                <a:gd name="T44" fmla="*/ 22 w 24"/>
                <a:gd name="T45" fmla="*/ 9 h 19"/>
                <a:gd name="T46" fmla="*/ 23 w 24"/>
                <a:gd name="T47" fmla="*/ 8 h 19"/>
                <a:gd name="T48" fmla="*/ 24 w 24"/>
                <a:gd name="T49"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19">
                  <a:moveTo>
                    <a:pt x="24" y="8"/>
                  </a:moveTo>
                  <a:cubicBezTo>
                    <a:pt x="20" y="19"/>
                    <a:pt x="20" y="19"/>
                    <a:pt x="20" y="19"/>
                  </a:cubicBezTo>
                  <a:cubicBezTo>
                    <a:pt x="19" y="18"/>
                    <a:pt x="19" y="18"/>
                    <a:pt x="19" y="18"/>
                  </a:cubicBezTo>
                  <a:cubicBezTo>
                    <a:pt x="19" y="18"/>
                    <a:pt x="19" y="18"/>
                    <a:pt x="19" y="17"/>
                  </a:cubicBezTo>
                  <a:cubicBezTo>
                    <a:pt x="19" y="17"/>
                    <a:pt x="19" y="16"/>
                    <a:pt x="19" y="16"/>
                  </a:cubicBezTo>
                  <a:cubicBezTo>
                    <a:pt x="19" y="16"/>
                    <a:pt x="19" y="15"/>
                    <a:pt x="19" y="15"/>
                  </a:cubicBezTo>
                  <a:cubicBezTo>
                    <a:pt x="19" y="15"/>
                    <a:pt x="19" y="15"/>
                    <a:pt x="18" y="15"/>
                  </a:cubicBezTo>
                  <a:cubicBezTo>
                    <a:pt x="4" y="9"/>
                    <a:pt x="4" y="9"/>
                    <a:pt x="4" y="9"/>
                  </a:cubicBezTo>
                  <a:cubicBezTo>
                    <a:pt x="4" y="9"/>
                    <a:pt x="4" y="9"/>
                    <a:pt x="4" y="9"/>
                  </a:cubicBezTo>
                  <a:cubicBezTo>
                    <a:pt x="3" y="9"/>
                    <a:pt x="3" y="9"/>
                    <a:pt x="3" y="10"/>
                  </a:cubicBezTo>
                  <a:cubicBezTo>
                    <a:pt x="2" y="10"/>
                    <a:pt x="2" y="10"/>
                    <a:pt x="2" y="10"/>
                  </a:cubicBezTo>
                  <a:cubicBezTo>
                    <a:pt x="2" y="11"/>
                    <a:pt x="1" y="11"/>
                    <a:pt x="1" y="11"/>
                  </a:cubicBezTo>
                  <a:cubicBezTo>
                    <a:pt x="0" y="11"/>
                    <a:pt x="0" y="11"/>
                    <a:pt x="0" y="11"/>
                  </a:cubicBezTo>
                  <a:cubicBezTo>
                    <a:pt x="5" y="0"/>
                    <a:pt x="5" y="0"/>
                    <a:pt x="5" y="0"/>
                  </a:cubicBezTo>
                  <a:cubicBezTo>
                    <a:pt x="6" y="1"/>
                    <a:pt x="6" y="1"/>
                    <a:pt x="6" y="1"/>
                  </a:cubicBezTo>
                  <a:cubicBezTo>
                    <a:pt x="6" y="1"/>
                    <a:pt x="5" y="1"/>
                    <a:pt x="5" y="2"/>
                  </a:cubicBezTo>
                  <a:cubicBezTo>
                    <a:pt x="5" y="2"/>
                    <a:pt x="5" y="2"/>
                    <a:pt x="5" y="3"/>
                  </a:cubicBezTo>
                  <a:cubicBezTo>
                    <a:pt x="5" y="3"/>
                    <a:pt x="5" y="3"/>
                    <a:pt x="5" y="4"/>
                  </a:cubicBezTo>
                  <a:cubicBezTo>
                    <a:pt x="6" y="4"/>
                    <a:pt x="6" y="4"/>
                    <a:pt x="6" y="4"/>
                  </a:cubicBezTo>
                  <a:cubicBezTo>
                    <a:pt x="20" y="10"/>
                    <a:pt x="20" y="10"/>
                    <a:pt x="20" y="10"/>
                  </a:cubicBezTo>
                  <a:cubicBezTo>
                    <a:pt x="20" y="10"/>
                    <a:pt x="21" y="10"/>
                    <a:pt x="21" y="10"/>
                  </a:cubicBezTo>
                  <a:cubicBezTo>
                    <a:pt x="21" y="10"/>
                    <a:pt x="22" y="10"/>
                    <a:pt x="22" y="9"/>
                  </a:cubicBezTo>
                  <a:cubicBezTo>
                    <a:pt x="22" y="9"/>
                    <a:pt x="22" y="9"/>
                    <a:pt x="22" y="9"/>
                  </a:cubicBezTo>
                  <a:cubicBezTo>
                    <a:pt x="23" y="8"/>
                    <a:pt x="23" y="8"/>
                    <a:pt x="23" y="8"/>
                  </a:cubicBezTo>
                  <a:lnTo>
                    <a:pt x="24" y="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0" name="Freeform 15"/>
            <p:cNvSpPr/>
            <p:nvPr userDrawn="1"/>
          </p:nvSpPr>
          <p:spPr bwMode="auto">
            <a:xfrm>
              <a:off x="603201" y="725910"/>
              <a:ext cx="112713" cy="122238"/>
            </a:xfrm>
            <a:custGeom>
              <a:avLst/>
              <a:gdLst>
                <a:gd name="T0" fmla="*/ 16 w 30"/>
                <a:gd name="T1" fmla="*/ 0 h 32"/>
                <a:gd name="T2" fmla="*/ 15 w 30"/>
                <a:gd name="T3" fmla="*/ 1 h 32"/>
                <a:gd name="T4" fmla="*/ 15 w 30"/>
                <a:gd name="T5" fmla="*/ 3 h 32"/>
                <a:gd name="T6" fmla="*/ 15 w 30"/>
                <a:gd name="T7" fmla="*/ 4 h 32"/>
                <a:gd name="T8" fmla="*/ 17 w 30"/>
                <a:gd name="T9" fmla="*/ 6 h 32"/>
                <a:gd name="T10" fmla="*/ 30 w 30"/>
                <a:gd name="T11" fmla="*/ 15 h 32"/>
                <a:gd name="T12" fmla="*/ 28 w 30"/>
                <a:gd name="T13" fmla="*/ 17 h 32"/>
                <a:gd name="T14" fmla="*/ 7 w 30"/>
                <a:gd name="T15" fmla="*/ 18 h 32"/>
                <a:gd name="T16" fmla="*/ 15 w 30"/>
                <a:gd name="T17" fmla="*/ 24 h 32"/>
                <a:gd name="T18" fmla="*/ 18 w 30"/>
                <a:gd name="T19" fmla="*/ 25 h 32"/>
                <a:gd name="T20" fmla="*/ 19 w 30"/>
                <a:gd name="T21" fmla="*/ 25 h 32"/>
                <a:gd name="T22" fmla="*/ 21 w 30"/>
                <a:gd name="T23" fmla="*/ 25 h 32"/>
                <a:gd name="T24" fmla="*/ 22 w 30"/>
                <a:gd name="T25" fmla="*/ 24 h 32"/>
                <a:gd name="T26" fmla="*/ 23 w 30"/>
                <a:gd name="T27" fmla="*/ 25 h 32"/>
                <a:gd name="T28" fmla="*/ 17 w 30"/>
                <a:gd name="T29" fmla="*/ 32 h 32"/>
                <a:gd name="T30" fmla="*/ 16 w 30"/>
                <a:gd name="T31" fmla="*/ 31 h 32"/>
                <a:gd name="T32" fmla="*/ 17 w 30"/>
                <a:gd name="T33" fmla="*/ 30 h 32"/>
                <a:gd name="T34" fmla="*/ 17 w 30"/>
                <a:gd name="T35" fmla="*/ 29 h 32"/>
                <a:gd name="T36" fmla="*/ 17 w 30"/>
                <a:gd name="T37" fmla="*/ 27 h 32"/>
                <a:gd name="T38" fmla="*/ 14 w 30"/>
                <a:gd name="T39" fmla="*/ 25 h 32"/>
                <a:gd name="T40" fmla="*/ 6 w 30"/>
                <a:gd name="T41" fmla="*/ 20 h 32"/>
                <a:gd name="T42" fmla="*/ 5 w 30"/>
                <a:gd name="T43" fmla="*/ 19 h 32"/>
                <a:gd name="T44" fmla="*/ 4 w 30"/>
                <a:gd name="T45" fmla="*/ 19 h 32"/>
                <a:gd name="T46" fmla="*/ 2 w 30"/>
                <a:gd name="T47" fmla="*/ 19 h 32"/>
                <a:gd name="T48" fmla="*/ 1 w 30"/>
                <a:gd name="T49" fmla="*/ 20 h 32"/>
                <a:gd name="T50" fmla="*/ 0 w 30"/>
                <a:gd name="T51" fmla="*/ 20 h 32"/>
                <a:gd name="T52" fmla="*/ 5 w 30"/>
                <a:gd name="T53" fmla="*/ 13 h 32"/>
                <a:gd name="T54" fmla="*/ 23 w 30"/>
                <a:gd name="T55" fmla="*/ 12 h 32"/>
                <a:gd name="T56" fmla="*/ 17 w 30"/>
                <a:gd name="T57" fmla="*/ 8 h 32"/>
                <a:gd name="T58" fmla="*/ 14 w 30"/>
                <a:gd name="T59" fmla="*/ 6 h 32"/>
                <a:gd name="T60" fmla="*/ 13 w 30"/>
                <a:gd name="T61" fmla="*/ 6 h 32"/>
                <a:gd name="T62" fmla="*/ 11 w 30"/>
                <a:gd name="T63" fmla="*/ 7 h 32"/>
                <a:gd name="T64" fmla="*/ 10 w 30"/>
                <a:gd name="T65" fmla="*/ 8 h 32"/>
                <a:gd name="T66" fmla="*/ 9 w 30"/>
                <a:gd name="T67" fmla="*/ 7 h 32"/>
                <a:gd name="T68" fmla="*/ 15 w 30"/>
                <a:gd name="T69" fmla="*/ 0 h 32"/>
                <a:gd name="T70" fmla="*/ 16 w 30"/>
                <a:gd name="T7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32">
                  <a:moveTo>
                    <a:pt x="16" y="0"/>
                  </a:moveTo>
                  <a:cubicBezTo>
                    <a:pt x="15" y="1"/>
                    <a:pt x="15" y="1"/>
                    <a:pt x="15" y="1"/>
                  </a:cubicBezTo>
                  <a:cubicBezTo>
                    <a:pt x="15" y="2"/>
                    <a:pt x="15" y="2"/>
                    <a:pt x="15" y="3"/>
                  </a:cubicBezTo>
                  <a:cubicBezTo>
                    <a:pt x="15" y="3"/>
                    <a:pt x="15" y="4"/>
                    <a:pt x="15" y="4"/>
                  </a:cubicBezTo>
                  <a:cubicBezTo>
                    <a:pt x="16" y="5"/>
                    <a:pt x="16" y="5"/>
                    <a:pt x="17" y="6"/>
                  </a:cubicBezTo>
                  <a:cubicBezTo>
                    <a:pt x="30" y="15"/>
                    <a:pt x="30" y="15"/>
                    <a:pt x="30" y="15"/>
                  </a:cubicBezTo>
                  <a:cubicBezTo>
                    <a:pt x="28" y="17"/>
                    <a:pt x="28" y="17"/>
                    <a:pt x="28" y="17"/>
                  </a:cubicBezTo>
                  <a:cubicBezTo>
                    <a:pt x="7" y="18"/>
                    <a:pt x="7" y="18"/>
                    <a:pt x="7" y="18"/>
                  </a:cubicBezTo>
                  <a:cubicBezTo>
                    <a:pt x="15" y="24"/>
                    <a:pt x="15" y="24"/>
                    <a:pt x="15" y="24"/>
                  </a:cubicBezTo>
                  <a:cubicBezTo>
                    <a:pt x="16" y="25"/>
                    <a:pt x="17" y="25"/>
                    <a:pt x="18" y="25"/>
                  </a:cubicBezTo>
                  <a:cubicBezTo>
                    <a:pt x="18" y="26"/>
                    <a:pt x="19" y="26"/>
                    <a:pt x="19" y="25"/>
                  </a:cubicBezTo>
                  <a:cubicBezTo>
                    <a:pt x="20" y="25"/>
                    <a:pt x="20" y="25"/>
                    <a:pt x="21" y="25"/>
                  </a:cubicBezTo>
                  <a:cubicBezTo>
                    <a:pt x="21" y="24"/>
                    <a:pt x="21" y="24"/>
                    <a:pt x="22" y="24"/>
                  </a:cubicBezTo>
                  <a:cubicBezTo>
                    <a:pt x="23" y="25"/>
                    <a:pt x="23" y="25"/>
                    <a:pt x="23" y="25"/>
                  </a:cubicBezTo>
                  <a:cubicBezTo>
                    <a:pt x="17" y="32"/>
                    <a:pt x="17" y="32"/>
                    <a:pt x="17" y="32"/>
                  </a:cubicBezTo>
                  <a:cubicBezTo>
                    <a:pt x="16" y="31"/>
                    <a:pt x="16" y="31"/>
                    <a:pt x="16" y="31"/>
                  </a:cubicBezTo>
                  <a:cubicBezTo>
                    <a:pt x="17" y="31"/>
                    <a:pt x="17" y="30"/>
                    <a:pt x="17" y="30"/>
                  </a:cubicBezTo>
                  <a:cubicBezTo>
                    <a:pt x="17" y="30"/>
                    <a:pt x="17" y="29"/>
                    <a:pt x="17" y="29"/>
                  </a:cubicBezTo>
                  <a:cubicBezTo>
                    <a:pt x="17" y="28"/>
                    <a:pt x="17" y="28"/>
                    <a:pt x="17" y="27"/>
                  </a:cubicBezTo>
                  <a:cubicBezTo>
                    <a:pt x="16" y="27"/>
                    <a:pt x="16" y="26"/>
                    <a:pt x="14" y="25"/>
                  </a:cubicBezTo>
                  <a:cubicBezTo>
                    <a:pt x="6" y="20"/>
                    <a:pt x="6" y="20"/>
                    <a:pt x="6" y="20"/>
                  </a:cubicBezTo>
                  <a:cubicBezTo>
                    <a:pt x="6" y="19"/>
                    <a:pt x="6" y="19"/>
                    <a:pt x="5" y="19"/>
                  </a:cubicBezTo>
                  <a:cubicBezTo>
                    <a:pt x="5" y="19"/>
                    <a:pt x="4" y="19"/>
                    <a:pt x="4" y="19"/>
                  </a:cubicBezTo>
                  <a:cubicBezTo>
                    <a:pt x="3" y="19"/>
                    <a:pt x="3" y="19"/>
                    <a:pt x="2" y="19"/>
                  </a:cubicBezTo>
                  <a:cubicBezTo>
                    <a:pt x="2" y="20"/>
                    <a:pt x="2" y="20"/>
                    <a:pt x="1" y="20"/>
                  </a:cubicBezTo>
                  <a:cubicBezTo>
                    <a:pt x="0" y="20"/>
                    <a:pt x="0" y="20"/>
                    <a:pt x="0" y="20"/>
                  </a:cubicBezTo>
                  <a:cubicBezTo>
                    <a:pt x="5" y="13"/>
                    <a:pt x="5" y="13"/>
                    <a:pt x="5" y="13"/>
                  </a:cubicBezTo>
                  <a:cubicBezTo>
                    <a:pt x="23" y="12"/>
                    <a:pt x="23" y="12"/>
                    <a:pt x="23" y="12"/>
                  </a:cubicBezTo>
                  <a:cubicBezTo>
                    <a:pt x="17" y="8"/>
                    <a:pt x="17" y="8"/>
                    <a:pt x="17" y="8"/>
                  </a:cubicBezTo>
                  <a:cubicBezTo>
                    <a:pt x="16" y="7"/>
                    <a:pt x="15" y="6"/>
                    <a:pt x="14" y="6"/>
                  </a:cubicBezTo>
                  <a:cubicBezTo>
                    <a:pt x="14" y="6"/>
                    <a:pt x="13" y="6"/>
                    <a:pt x="13" y="6"/>
                  </a:cubicBezTo>
                  <a:cubicBezTo>
                    <a:pt x="12" y="6"/>
                    <a:pt x="12" y="6"/>
                    <a:pt x="11" y="7"/>
                  </a:cubicBezTo>
                  <a:cubicBezTo>
                    <a:pt x="11" y="7"/>
                    <a:pt x="11" y="7"/>
                    <a:pt x="10" y="8"/>
                  </a:cubicBezTo>
                  <a:cubicBezTo>
                    <a:pt x="9" y="7"/>
                    <a:pt x="9" y="7"/>
                    <a:pt x="9" y="7"/>
                  </a:cubicBezTo>
                  <a:cubicBezTo>
                    <a:pt x="15" y="0"/>
                    <a:pt x="15" y="0"/>
                    <a:pt x="15" y="0"/>
                  </a:cubicBezTo>
                  <a:lnTo>
                    <a:pt x="16" y="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16"/>
            <p:cNvSpPr/>
            <p:nvPr userDrawn="1"/>
          </p:nvSpPr>
          <p:spPr bwMode="auto">
            <a:xfrm>
              <a:off x="715914" y="635422"/>
              <a:ext cx="90488" cy="95250"/>
            </a:xfrm>
            <a:custGeom>
              <a:avLst/>
              <a:gdLst>
                <a:gd name="T0" fmla="*/ 22 w 24"/>
                <a:gd name="T1" fmla="*/ 7 h 25"/>
                <a:gd name="T2" fmla="*/ 21 w 24"/>
                <a:gd name="T3" fmla="*/ 8 h 25"/>
                <a:gd name="T4" fmla="*/ 21 w 24"/>
                <a:gd name="T5" fmla="*/ 8 h 25"/>
                <a:gd name="T6" fmla="*/ 21 w 24"/>
                <a:gd name="T7" fmla="*/ 9 h 25"/>
                <a:gd name="T8" fmla="*/ 21 w 24"/>
                <a:gd name="T9" fmla="*/ 10 h 25"/>
                <a:gd name="T10" fmla="*/ 23 w 24"/>
                <a:gd name="T11" fmla="*/ 12 h 25"/>
                <a:gd name="T12" fmla="*/ 23 w 24"/>
                <a:gd name="T13" fmla="*/ 13 h 25"/>
                <a:gd name="T14" fmla="*/ 24 w 24"/>
                <a:gd name="T15" fmla="*/ 14 h 25"/>
                <a:gd name="T16" fmla="*/ 22 w 24"/>
                <a:gd name="T17" fmla="*/ 18 h 25"/>
                <a:gd name="T18" fmla="*/ 18 w 24"/>
                <a:gd name="T19" fmla="*/ 22 h 25"/>
                <a:gd name="T20" fmla="*/ 14 w 24"/>
                <a:gd name="T21" fmla="*/ 24 h 25"/>
                <a:gd name="T22" fmla="*/ 10 w 24"/>
                <a:gd name="T23" fmla="*/ 25 h 25"/>
                <a:gd name="T24" fmla="*/ 6 w 24"/>
                <a:gd name="T25" fmla="*/ 23 h 25"/>
                <a:gd name="T26" fmla="*/ 3 w 24"/>
                <a:gd name="T27" fmla="*/ 20 h 25"/>
                <a:gd name="T28" fmla="*/ 0 w 24"/>
                <a:gd name="T29" fmla="*/ 16 h 25"/>
                <a:gd name="T30" fmla="*/ 0 w 24"/>
                <a:gd name="T31" fmla="*/ 12 h 25"/>
                <a:gd name="T32" fmla="*/ 1 w 24"/>
                <a:gd name="T33" fmla="*/ 8 h 25"/>
                <a:gd name="T34" fmla="*/ 5 w 24"/>
                <a:gd name="T35" fmla="*/ 4 h 25"/>
                <a:gd name="T36" fmla="*/ 8 w 24"/>
                <a:gd name="T37" fmla="*/ 2 h 25"/>
                <a:gd name="T38" fmla="*/ 10 w 24"/>
                <a:gd name="T39" fmla="*/ 2 h 25"/>
                <a:gd name="T40" fmla="*/ 10 w 24"/>
                <a:gd name="T41" fmla="*/ 0 h 25"/>
                <a:gd name="T42" fmla="*/ 11 w 24"/>
                <a:gd name="T43" fmla="*/ 0 h 25"/>
                <a:gd name="T44" fmla="*/ 16 w 24"/>
                <a:gd name="T45" fmla="*/ 5 h 25"/>
                <a:gd name="T46" fmla="*/ 15 w 24"/>
                <a:gd name="T47" fmla="*/ 6 h 25"/>
                <a:gd name="T48" fmla="*/ 10 w 24"/>
                <a:gd name="T49" fmla="*/ 4 h 25"/>
                <a:gd name="T50" fmla="*/ 6 w 24"/>
                <a:gd name="T51" fmla="*/ 5 h 25"/>
                <a:gd name="T52" fmla="*/ 4 w 24"/>
                <a:gd name="T53" fmla="*/ 10 h 25"/>
                <a:gd name="T54" fmla="*/ 7 w 24"/>
                <a:gd name="T55" fmla="*/ 16 h 25"/>
                <a:gd name="T56" fmla="*/ 13 w 24"/>
                <a:gd name="T57" fmla="*/ 21 h 25"/>
                <a:gd name="T58" fmla="*/ 18 w 24"/>
                <a:gd name="T59" fmla="*/ 20 h 25"/>
                <a:gd name="T60" fmla="*/ 19 w 24"/>
                <a:gd name="T61" fmla="*/ 18 h 25"/>
                <a:gd name="T62" fmla="*/ 20 w 24"/>
                <a:gd name="T63" fmla="*/ 17 h 25"/>
                <a:gd name="T64" fmla="*/ 17 w 24"/>
                <a:gd name="T65" fmla="*/ 13 h 25"/>
                <a:gd name="T66" fmla="*/ 17 w 24"/>
                <a:gd name="T67" fmla="*/ 13 h 25"/>
                <a:gd name="T68" fmla="*/ 16 w 24"/>
                <a:gd name="T69" fmla="*/ 13 h 25"/>
                <a:gd name="T70" fmla="*/ 14 w 24"/>
                <a:gd name="T71" fmla="*/ 13 h 25"/>
                <a:gd name="T72" fmla="*/ 13 w 24"/>
                <a:gd name="T73" fmla="*/ 14 h 25"/>
                <a:gd name="T74" fmla="*/ 13 w 24"/>
                <a:gd name="T75" fmla="*/ 13 h 25"/>
                <a:gd name="T76" fmla="*/ 21 w 24"/>
                <a:gd name="T77" fmla="*/ 6 h 25"/>
                <a:gd name="T78" fmla="*/ 22 w 24"/>
                <a:gd name="T79"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 h="25">
                  <a:moveTo>
                    <a:pt x="22" y="7"/>
                  </a:moveTo>
                  <a:cubicBezTo>
                    <a:pt x="22" y="7"/>
                    <a:pt x="22" y="7"/>
                    <a:pt x="21" y="8"/>
                  </a:cubicBezTo>
                  <a:cubicBezTo>
                    <a:pt x="21" y="8"/>
                    <a:pt x="21" y="8"/>
                    <a:pt x="21" y="8"/>
                  </a:cubicBezTo>
                  <a:cubicBezTo>
                    <a:pt x="21" y="9"/>
                    <a:pt x="21" y="9"/>
                    <a:pt x="21" y="9"/>
                  </a:cubicBezTo>
                  <a:cubicBezTo>
                    <a:pt x="21" y="10"/>
                    <a:pt x="21" y="10"/>
                    <a:pt x="21" y="10"/>
                  </a:cubicBezTo>
                  <a:cubicBezTo>
                    <a:pt x="23" y="12"/>
                    <a:pt x="23" y="12"/>
                    <a:pt x="23" y="12"/>
                  </a:cubicBezTo>
                  <a:cubicBezTo>
                    <a:pt x="23" y="12"/>
                    <a:pt x="23" y="13"/>
                    <a:pt x="23" y="13"/>
                  </a:cubicBezTo>
                  <a:cubicBezTo>
                    <a:pt x="24" y="13"/>
                    <a:pt x="24" y="13"/>
                    <a:pt x="24" y="14"/>
                  </a:cubicBezTo>
                  <a:cubicBezTo>
                    <a:pt x="24" y="15"/>
                    <a:pt x="23" y="16"/>
                    <a:pt x="22" y="18"/>
                  </a:cubicBezTo>
                  <a:cubicBezTo>
                    <a:pt x="21" y="19"/>
                    <a:pt x="19" y="21"/>
                    <a:pt x="18" y="22"/>
                  </a:cubicBezTo>
                  <a:cubicBezTo>
                    <a:pt x="17" y="23"/>
                    <a:pt x="16" y="23"/>
                    <a:pt x="14" y="24"/>
                  </a:cubicBezTo>
                  <a:cubicBezTo>
                    <a:pt x="13" y="24"/>
                    <a:pt x="12" y="25"/>
                    <a:pt x="10" y="25"/>
                  </a:cubicBezTo>
                  <a:cubicBezTo>
                    <a:pt x="9" y="24"/>
                    <a:pt x="8" y="24"/>
                    <a:pt x="6" y="23"/>
                  </a:cubicBezTo>
                  <a:cubicBezTo>
                    <a:pt x="5" y="23"/>
                    <a:pt x="4" y="22"/>
                    <a:pt x="3" y="20"/>
                  </a:cubicBezTo>
                  <a:cubicBezTo>
                    <a:pt x="2" y="19"/>
                    <a:pt x="1" y="18"/>
                    <a:pt x="0" y="16"/>
                  </a:cubicBezTo>
                  <a:cubicBezTo>
                    <a:pt x="0" y="15"/>
                    <a:pt x="0" y="13"/>
                    <a:pt x="0" y="12"/>
                  </a:cubicBezTo>
                  <a:cubicBezTo>
                    <a:pt x="0" y="10"/>
                    <a:pt x="1" y="9"/>
                    <a:pt x="1" y="8"/>
                  </a:cubicBezTo>
                  <a:cubicBezTo>
                    <a:pt x="2" y="6"/>
                    <a:pt x="3" y="5"/>
                    <a:pt x="5" y="4"/>
                  </a:cubicBezTo>
                  <a:cubicBezTo>
                    <a:pt x="6" y="3"/>
                    <a:pt x="7" y="3"/>
                    <a:pt x="8" y="2"/>
                  </a:cubicBezTo>
                  <a:cubicBezTo>
                    <a:pt x="9" y="2"/>
                    <a:pt x="9" y="2"/>
                    <a:pt x="10" y="2"/>
                  </a:cubicBezTo>
                  <a:cubicBezTo>
                    <a:pt x="10" y="0"/>
                    <a:pt x="10" y="0"/>
                    <a:pt x="10" y="0"/>
                  </a:cubicBezTo>
                  <a:cubicBezTo>
                    <a:pt x="11" y="0"/>
                    <a:pt x="11" y="0"/>
                    <a:pt x="11" y="0"/>
                  </a:cubicBezTo>
                  <a:cubicBezTo>
                    <a:pt x="16" y="5"/>
                    <a:pt x="16" y="5"/>
                    <a:pt x="16" y="5"/>
                  </a:cubicBezTo>
                  <a:cubicBezTo>
                    <a:pt x="15" y="6"/>
                    <a:pt x="15" y="6"/>
                    <a:pt x="15" y="6"/>
                  </a:cubicBezTo>
                  <a:cubicBezTo>
                    <a:pt x="13" y="5"/>
                    <a:pt x="11" y="4"/>
                    <a:pt x="10" y="4"/>
                  </a:cubicBezTo>
                  <a:cubicBezTo>
                    <a:pt x="8" y="4"/>
                    <a:pt x="7" y="4"/>
                    <a:pt x="6" y="5"/>
                  </a:cubicBezTo>
                  <a:cubicBezTo>
                    <a:pt x="4" y="6"/>
                    <a:pt x="4" y="8"/>
                    <a:pt x="4" y="10"/>
                  </a:cubicBezTo>
                  <a:cubicBezTo>
                    <a:pt x="4" y="12"/>
                    <a:pt x="5" y="14"/>
                    <a:pt x="7" y="16"/>
                  </a:cubicBezTo>
                  <a:cubicBezTo>
                    <a:pt x="9" y="19"/>
                    <a:pt x="11" y="20"/>
                    <a:pt x="13" y="21"/>
                  </a:cubicBezTo>
                  <a:cubicBezTo>
                    <a:pt x="15" y="22"/>
                    <a:pt x="16" y="21"/>
                    <a:pt x="18" y="20"/>
                  </a:cubicBezTo>
                  <a:cubicBezTo>
                    <a:pt x="18" y="20"/>
                    <a:pt x="19" y="19"/>
                    <a:pt x="19" y="18"/>
                  </a:cubicBezTo>
                  <a:cubicBezTo>
                    <a:pt x="20" y="18"/>
                    <a:pt x="20" y="17"/>
                    <a:pt x="20" y="17"/>
                  </a:cubicBezTo>
                  <a:cubicBezTo>
                    <a:pt x="17" y="13"/>
                    <a:pt x="17" y="13"/>
                    <a:pt x="17" y="13"/>
                  </a:cubicBezTo>
                  <a:cubicBezTo>
                    <a:pt x="17" y="13"/>
                    <a:pt x="17" y="13"/>
                    <a:pt x="17" y="13"/>
                  </a:cubicBezTo>
                  <a:cubicBezTo>
                    <a:pt x="16" y="13"/>
                    <a:pt x="16" y="13"/>
                    <a:pt x="16" y="13"/>
                  </a:cubicBezTo>
                  <a:cubicBezTo>
                    <a:pt x="15" y="13"/>
                    <a:pt x="15" y="13"/>
                    <a:pt x="14" y="13"/>
                  </a:cubicBezTo>
                  <a:cubicBezTo>
                    <a:pt x="14" y="13"/>
                    <a:pt x="14" y="14"/>
                    <a:pt x="13" y="14"/>
                  </a:cubicBezTo>
                  <a:cubicBezTo>
                    <a:pt x="13" y="13"/>
                    <a:pt x="13" y="13"/>
                    <a:pt x="13" y="13"/>
                  </a:cubicBezTo>
                  <a:cubicBezTo>
                    <a:pt x="21" y="6"/>
                    <a:pt x="21" y="6"/>
                    <a:pt x="21" y="6"/>
                  </a:cubicBezTo>
                  <a:lnTo>
                    <a:pt x="22" y="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17"/>
            <p:cNvSpPr/>
            <p:nvPr userDrawn="1"/>
          </p:nvSpPr>
          <p:spPr bwMode="auto">
            <a:xfrm>
              <a:off x="893714" y="536997"/>
              <a:ext cx="88900" cy="95250"/>
            </a:xfrm>
            <a:custGeom>
              <a:avLst/>
              <a:gdLst>
                <a:gd name="T0" fmla="*/ 24 w 24"/>
                <a:gd name="T1" fmla="*/ 1 h 25"/>
                <a:gd name="T2" fmla="*/ 23 w 24"/>
                <a:gd name="T3" fmla="*/ 2 h 25"/>
                <a:gd name="T4" fmla="*/ 22 w 24"/>
                <a:gd name="T5" fmla="*/ 3 h 25"/>
                <a:gd name="T6" fmla="*/ 21 w 24"/>
                <a:gd name="T7" fmla="*/ 4 h 25"/>
                <a:gd name="T8" fmla="*/ 22 w 24"/>
                <a:gd name="T9" fmla="*/ 7 h 25"/>
                <a:gd name="T10" fmla="*/ 24 w 24"/>
                <a:gd name="T11" fmla="*/ 15 h 25"/>
                <a:gd name="T12" fmla="*/ 23 w 24"/>
                <a:gd name="T13" fmla="*/ 21 h 25"/>
                <a:gd name="T14" fmla="*/ 17 w 24"/>
                <a:gd name="T15" fmla="*/ 24 h 25"/>
                <a:gd name="T16" fmla="*/ 10 w 24"/>
                <a:gd name="T17" fmla="*/ 24 h 25"/>
                <a:gd name="T18" fmla="*/ 6 w 24"/>
                <a:gd name="T19" fmla="*/ 19 h 25"/>
                <a:gd name="T20" fmla="*/ 4 w 24"/>
                <a:gd name="T21" fmla="*/ 9 h 25"/>
                <a:gd name="T22" fmla="*/ 3 w 24"/>
                <a:gd name="T23" fmla="*/ 8 h 25"/>
                <a:gd name="T24" fmla="*/ 2 w 24"/>
                <a:gd name="T25" fmla="*/ 8 h 25"/>
                <a:gd name="T26" fmla="*/ 1 w 24"/>
                <a:gd name="T27" fmla="*/ 8 h 25"/>
                <a:gd name="T28" fmla="*/ 0 w 24"/>
                <a:gd name="T29" fmla="*/ 8 h 25"/>
                <a:gd name="T30" fmla="*/ 0 w 24"/>
                <a:gd name="T31" fmla="*/ 7 h 25"/>
                <a:gd name="T32" fmla="*/ 11 w 24"/>
                <a:gd name="T33" fmla="*/ 4 h 25"/>
                <a:gd name="T34" fmla="*/ 11 w 24"/>
                <a:gd name="T35" fmla="*/ 5 h 25"/>
                <a:gd name="T36" fmla="*/ 10 w 24"/>
                <a:gd name="T37" fmla="*/ 5 h 25"/>
                <a:gd name="T38" fmla="*/ 9 w 24"/>
                <a:gd name="T39" fmla="*/ 6 h 25"/>
                <a:gd name="T40" fmla="*/ 9 w 24"/>
                <a:gd name="T41" fmla="*/ 7 h 25"/>
                <a:gd name="T42" fmla="*/ 9 w 24"/>
                <a:gd name="T43" fmla="*/ 8 h 25"/>
                <a:gd name="T44" fmla="*/ 11 w 24"/>
                <a:gd name="T45" fmla="*/ 18 h 25"/>
                <a:gd name="T46" fmla="*/ 14 w 24"/>
                <a:gd name="T47" fmla="*/ 22 h 25"/>
                <a:gd name="T48" fmla="*/ 18 w 24"/>
                <a:gd name="T49" fmla="*/ 22 h 25"/>
                <a:gd name="T50" fmla="*/ 22 w 24"/>
                <a:gd name="T51" fmla="*/ 20 h 25"/>
                <a:gd name="T52" fmla="*/ 22 w 24"/>
                <a:gd name="T53" fmla="*/ 15 h 25"/>
                <a:gd name="T54" fmla="*/ 20 w 24"/>
                <a:gd name="T55" fmla="*/ 8 h 25"/>
                <a:gd name="T56" fmla="*/ 19 w 24"/>
                <a:gd name="T57" fmla="*/ 5 h 25"/>
                <a:gd name="T58" fmla="*/ 18 w 24"/>
                <a:gd name="T59" fmla="*/ 4 h 25"/>
                <a:gd name="T60" fmla="*/ 17 w 24"/>
                <a:gd name="T61" fmla="*/ 4 h 25"/>
                <a:gd name="T62" fmla="*/ 15 w 24"/>
                <a:gd name="T63" fmla="*/ 4 h 25"/>
                <a:gd name="T64" fmla="*/ 15 w 24"/>
                <a:gd name="T65" fmla="*/ 3 h 25"/>
                <a:gd name="T66" fmla="*/ 24 w 24"/>
                <a:gd name="T67" fmla="*/ 0 h 25"/>
                <a:gd name="T68" fmla="*/ 24 w 24"/>
                <a:gd name="T69"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25">
                  <a:moveTo>
                    <a:pt x="24" y="1"/>
                  </a:moveTo>
                  <a:cubicBezTo>
                    <a:pt x="24" y="2"/>
                    <a:pt x="23" y="2"/>
                    <a:pt x="23" y="2"/>
                  </a:cubicBezTo>
                  <a:cubicBezTo>
                    <a:pt x="22" y="2"/>
                    <a:pt x="22" y="3"/>
                    <a:pt x="22" y="3"/>
                  </a:cubicBezTo>
                  <a:cubicBezTo>
                    <a:pt x="21" y="3"/>
                    <a:pt x="21" y="4"/>
                    <a:pt x="21" y="4"/>
                  </a:cubicBezTo>
                  <a:cubicBezTo>
                    <a:pt x="21" y="5"/>
                    <a:pt x="21" y="6"/>
                    <a:pt x="22" y="7"/>
                  </a:cubicBezTo>
                  <a:cubicBezTo>
                    <a:pt x="24" y="15"/>
                    <a:pt x="24" y="15"/>
                    <a:pt x="24" y="15"/>
                  </a:cubicBezTo>
                  <a:cubicBezTo>
                    <a:pt x="24" y="17"/>
                    <a:pt x="24" y="19"/>
                    <a:pt x="23" y="21"/>
                  </a:cubicBezTo>
                  <a:cubicBezTo>
                    <a:pt x="22" y="22"/>
                    <a:pt x="20" y="24"/>
                    <a:pt x="17" y="24"/>
                  </a:cubicBezTo>
                  <a:cubicBezTo>
                    <a:pt x="15" y="25"/>
                    <a:pt x="12" y="25"/>
                    <a:pt x="10" y="24"/>
                  </a:cubicBezTo>
                  <a:cubicBezTo>
                    <a:pt x="8" y="23"/>
                    <a:pt x="7" y="22"/>
                    <a:pt x="6" y="19"/>
                  </a:cubicBezTo>
                  <a:cubicBezTo>
                    <a:pt x="4" y="9"/>
                    <a:pt x="4" y="9"/>
                    <a:pt x="4" y="9"/>
                  </a:cubicBezTo>
                  <a:cubicBezTo>
                    <a:pt x="3" y="9"/>
                    <a:pt x="3" y="8"/>
                    <a:pt x="3" y="8"/>
                  </a:cubicBezTo>
                  <a:cubicBezTo>
                    <a:pt x="3" y="8"/>
                    <a:pt x="3" y="8"/>
                    <a:pt x="2" y="8"/>
                  </a:cubicBezTo>
                  <a:cubicBezTo>
                    <a:pt x="2" y="8"/>
                    <a:pt x="2" y="8"/>
                    <a:pt x="1" y="8"/>
                  </a:cubicBezTo>
                  <a:cubicBezTo>
                    <a:pt x="1" y="8"/>
                    <a:pt x="1" y="8"/>
                    <a:pt x="0" y="8"/>
                  </a:cubicBezTo>
                  <a:cubicBezTo>
                    <a:pt x="0" y="7"/>
                    <a:pt x="0" y="7"/>
                    <a:pt x="0" y="7"/>
                  </a:cubicBezTo>
                  <a:cubicBezTo>
                    <a:pt x="11" y="4"/>
                    <a:pt x="11" y="4"/>
                    <a:pt x="11" y="4"/>
                  </a:cubicBezTo>
                  <a:cubicBezTo>
                    <a:pt x="11" y="5"/>
                    <a:pt x="11" y="5"/>
                    <a:pt x="11" y="5"/>
                  </a:cubicBezTo>
                  <a:cubicBezTo>
                    <a:pt x="11" y="5"/>
                    <a:pt x="10" y="5"/>
                    <a:pt x="10" y="5"/>
                  </a:cubicBezTo>
                  <a:cubicBezTo>
                    <a:pt x="10" y="5"/>
                    <a:pt x="9" y="6"/>
                    <a:pt x="9" y="6"/>
                  </a:cubicBezTo>
                  <a:cubicBezTo>
                    <a:pt x="9" y="6"/>
                    <a:pt x="9" y="6"/>
                    <a:pt x="9" y="7"/>
                  </a:cubicBezTo>
                  <a:cubicBezTo>
                    <a:pt x="9" y="7"/>
                    <a:pt x="9" y="7"/>
                    <a:pt x="9" y="8"/>
                  </a:cubicBezTo>
                  <a:cubicBezTo>
                    <a:pt x="11" y="18"/>
                    <a:pt x="11" y="18"/>
                    <a:pt x="11" y="18"/>
                  </a:cubicBezTo>
                  <a:cubicBezTo>
                    <a:pt x="12" y="20"/>
                    <a:pt x="13" y="21"/>
                    <a:pt x="14" y="22"/>
                  </a:cubicBezTo>
                  <a:cubicBezTo>
                    <a:pt x="15" y="22"/>
                    <a:pt x="16" y="23"/>
                    <a:pt x="18" y="22"/>
                  </a:cubicBezTo>
                  <a:cubicBezTo>
                    <a:pt x="20" y="22"/>
                    <a:pt x="21" y="21"/>
                    <a:pt x="22" y="20"/>
                  </a:cubicBezTo>
                  <a:cubicBezTo>
                    <a:pt x="22" y="18"/>
                    <a:pt x="22" y="17"/>
                    <a:pt x="22" y="15"/>
                  </a:cubicBezTo>
                  <a:cubicBezTo>
                    <a:pt x="20" y="8"/>
                    <a:pt x="20" y="8"/>
                    <a:pt x="20" y="8"/>
                  </a:cubicBezTo>
                  <a:cubicBezTo>
                    <a:pt x="20" y="7"/>
                    <a:pt x="19" y="6"/>
                    <a:pt x="19" y="5"/>
                  </a:cubicBezTo>
                  <a:cubicBezTo>
                    <a:pt x="19" y="5"/>
                    <a:pt x="18" y="4"/>
                    <a:pt x="18" y="4"/>
                  </a:cubicBezTo>
                  <a:cubicBezTo>
                    <a:pt x="18" y="4"/>
                    <a:pt x="17" y="4"/>
                    <a:pt x="17" y="4"/>
                  </a:cubicBezTo>
                  <a:cubicBezTo>
                    <a:pt x="16" y="4"/>
                    <a:pt x="15" y="4"/>
                    <a:pt x="15" y="4"/>
                  </a:cubicBezTo>
                  <a:cubicBezTo>
                    <a:pt x="15" y="3"/>
                    <a:pt x="15" y="3"/>
                    <a:pt x="15" y="3"/>
                  </a:cubicBezTo>
                  <a:cubicBezTo>
                    <a:pt x="24" y="0"/>
                    <a:pt x="24" y="0"/>
                    <a:pt x="24" y="0"/>
                  </a:cubicBezTo>
                  <a:lnTo>
                    <a:pt x="24" y="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18"/>
            <p:cNvSpPr/>
            <p:nvPr userDrawn="1"/>
          </p:nvSpPr>
          <p:spPr bwMode="auto">
            <a:xfrm>
              <a:off x="1039764" y="529060"/>
              <a:ext cx="93663" cy="84138"/>
            </a:xfrm>
            <a:custGeom>
              <a:avLst/>
              <a:gdLst>
                <a:gd name="T0" fmla="*/ 25 w 25"/>
                <a:gd name="T1" fmla="*/ 2 h 22"/>
                <a:gd name="T2" fmla="*/ 24 w 25"/>
                <a:gd name="T3" fmla="*/ 2 h 22"/>
                <a:gd name="T4" fmla="*/ 22 w 25"/>
                <a:gd name="T5" fmla="*/ 3 h 22"/>
                <a:gd name="T6" fmla="*/ 21 w 25"/>
                <a:gd name="T7" fmla="*/ 4 h 22"/>
                <a:gd name="T8" fmla="*/ 21 w 25"/>
                <a:gd name="T9" fmla="*/ 7 h 22"/>
                <a:gd name="T10" fmla="*/ 21 w 25"/>
                <a:gd name="T11" fmla="*/ 22 h 22"/>
                <a:gd name="T12" fmla="*/ 18 w 25"/>
                <a:gd name="T13" fmla="*/ 22 h 22"/>
                <a:gd name="T14" fmla="*/ 5 w 25"/>
                <a:gd name="T15" fmla="*/ 5 h 22"/>
                <a:gd name="T16" fmla="*/ 5 w 25"/>
                <a:gd name="T17" fmla="*/ 15 h 22"/>
                <a:gd name="T18" fmla="*/ 5 w 25"/>
                <a:gd name="T19" fmla="*/ 18 h 22"/>
                <a:gd name="T20" fmla="*/ 6 w 25"/>
                <a:gd name="T21" fmla="*/ 20 h 22"/>
                <a:gd name="T22" fmla="*/ 7 w 25"/>
                <a:gd name="T23" fmla="*/ 20 h 22"/>
                <a:gd name="T24" fmla="*/ 9 w 25"/>
                <a:gd name="T25" fmla="*/ 21 h 22"/>
                <a:gd name="T26" fmla="*/ 9 w 25"/>
                <a:gd name="T27" fmla="*/ 22 h 22"/>
                <a:gd name="T28" fmla="*/ 0 w 25"/>
                <a:gd name="T29" fmla="*/ 22 h 22"/>
                <a:gd name="T30" fmla="*/ 0 w 25"/>
                <a:gd name="T31" fmla="*/ 20 h 22"/>
                <a:gd name="T32" fmla="*/ 1 w 25"/>
                <a:gd name="T33" fmla="*/ 20 h 22"/>
                <a:gd name="T34" fmla="*/ 2 w 25"/>
                <a:gd name="T35" fmla="*/ 20 h 22"/>
                <a:gd name="T36" fmla="*/ 3 w 25"/>
                <a:gd name="T37" fmla="*/ 18 h 22"/>
                <a:gd name="T38" fmla="*/ 3 w 25"/>
                <a:gd name="T39" fmla="*/ 15 h 22"/>
                <a:gd name="T40" fmla="*/ 4 w 25"/>
                <a:gd name="T41" fmla="*/ 5 h 22"/>
                <a:gd name="T42" fmla="*/ 3 w 25"/>
                <a:gd name="T43" fmla="*/ 4 h 22"/>
                <a:gd name="T44" fmla="*/ 3 w 25"/>
                <a:gd name="T45" fmla="*/ 3 h 22"/>
                <a:gd name="T46" fmla="*/ 2 w 25"/>
                <a:gd name="T47" fmla="*/ 2 h 22"/>
                <a:gd name="T48" fmla="*/ 0 w 25"/>
                <a:gd name="T49" fmla="*/ 2 h 22"/>
                <a:gd name="T50" fmla="*/ 0 w 25"/>
                <a:gd name="T51" fmla="*/ 0 h 22"/>
                <a:gd name="T52" fmla="*/ 8 w 25"/>
                <a:gd name="T53" fmla="*/ 1 h 22"/>
                <a:gd name="T54" fmla="*/ 19 w 25"/>
                <a:gd name="T55" fmla="*/ 15 h 22"/>
                <a:gd name="T56" fmla="*/ 19 w 25"/>
                <a:gd name="T57" fmla="*/ 7 h 22"/>
                <a:gd name="T58" fmla="*/ 19 w 25"/>
                <a:gd name="T59" fmla="*/ 4 h 22"/>
                <a:gd name="T60" fmla="*/ 18 w 25"/>
                <a:gd name="T61" fmla="*/ 3 h 22"/>
                <a:gd name="T62" fmla="*/ 17 w 25"/>
                <a:gd name="T63" fmla="*/ 2 h 22"/>
                <a:gd name="T64" fmla="*/ 16 w 25"/>
                <a:gd name="T65" fmla="*/ 2 h 22"/>
                <a:gd name="T66" fmla="*/ 16 w 25"/>
                <a:gd name="T67" fmla="*/ 1 h 22"/>
                <a:gd name="T68" fmla="*/ 25 w 25"/>
                <a:gd name="T69" fmla="*/ 1 h 22"/>
                <a:gd name="T70" fmla="*/ 25 w 25"/>
                <a:gd name="T71"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 h="22">
                  <a:moveTo>
                    <a:pt x="25" y="2"/>
                  </a:moveTo>
                  <a:cubicBezTo>
                    <a:pt x="24" y="2"/>
                    <a:pt x="24" y="2"/>
                    <a:pt x="24" y="2"/>
                  </a:cubicBezTo>
                  <a:cubicBezTo>
                    <a:pt x="23" y="2"/>
                    <a:pt x="23" y="2"/>
                    <a:pt x="22" y="3"/>
                  </a:cubicBezTo>
                  <a:cubicBezTo>
                    <a:pt x="22" y="3"/>
                    <a:pt x="22" y="3"/>
                    <a:pt x="21" y="4"/>
                  </a:cubicBezTo>
                  <a:cubicBezTo>
                    <a:pt x="21" y="5"/>
                    <a:pt x="21" y="6"/>
                    <a:pt x="21" y="7"/>
                  </a:cubicBezTo>
                  <a:cubicBezTo>
                    <a:pt x="21" y="22"/>
                    <a:pt x="21" y="22"/>
                    <a:pt x="21" y="22"/>
                  </a:cubicBezTo>
                  <a:cubicBezTo>
                    <a:pt x="18" y="22"/>
                    <a:pt x="18" y="22"/>
                    <a:pt x="18" y="22"/>
                  </a:cubicBezTo>
                  <a:cubicBezTo>
                    <a:pt x="5" y="5"/>
                    <a:pt x="5" y="5"/>
                    <a:pt x="5" y="5"/>
                  </a:cubicBezTo>
                  <a:cubicBezTo>
                    <a:pt x="5" y="15"/>
                    <a:pt x="5" y="15"/>
                    <a:pt x="5" y="15"/>
                  </a:cubicBezTo>
                  <a:cubicBezTo>
                    <a:pt x="5" y="17"/>
                    <a:pt x="5" y="18"/>
                    <a:pt x="5" y="18"/>
                  </a:cubicBezTo>
                  <a:cubicBezTo>
                    <a:pt x="6" y="19"/>
                    <a:pt x="6" y="19"/>
                    <a:pt x="6" y="20"/>
                  </a:cubicBezTo>
                  <a:cubicBezTo>
                    <a:pt x="6" y="20"/>
                    <a:pt x="7" y="20"/>
                    <a:pt x="7" y="20"/>
                  </a:cubicBezTo>
                  <a:cubicBezTo>
                    <a:pt x="8" y="20"/>
                    <a:pt x="9" y="20"/>
                    <a:pt x="9" y="21"/>
                  </a:cubicBezTo>
                  <a:cubicBezTo>
                    <a:pt x="9" y="22"/>
                    <a:pt x="9" y="22"/>
                    <a:pt x="9" y="22"/>
                  </a:cubicBezTo>
                  <a:cubicBezTo>
                    <a:pt x="0" y="22"/>
                    <a:pt x="0" y="22"/>
                    <a:pt x="0" y="22"/>
                  </a:cubicBezTo>
                  <a:cubicBezTo>
                    <a:pt x="0" y="20"/>
                    <a:pt x="0" y="20"/>
                    <a:pt x="0" y="20"/>
                  </a:cubicBezTo>
                  <a:cubicBezTo>
                    <a:pt x="0" y="20"/>
                    <a:pt x="1" y="20"/>
                    <a:pt x="1" y="20"/>
                  </a:cubicBezTo>
                  <a:cubicBezTo>
                    <a:pt x="2" y="20"/>
                    <a:pt x="2" y="20"/>
                    <a:pt x="2" y="20"/>
                  </a:cubicBezTo>
                  <a:cubicBezTo>
                    <a:pt x="3" y="19"/>
                    <a:pt x="3" y="19"/>
                    <a:pt x="3" y="18"/>
                  </a:cubicBezTo>
                  <a:cubicBezTo>
                    <a:pt x="3" y="18"/>
                    <a:pt x="3" y="17"/>
                    <a:pt x="3" y="15"/>
                  </a:cubicBezTo>
                  <a:cubicBezTo>
                    <a:pt x="4" y="5"/>
                    <a:pt x="4" y="5"/>
                    <a:pt x="4" y="5"/>
                  </a:cubicBezTo>
                  <a:cubicBezTo>
                    <a:pt x="4" y="5"/>
                    <a:pt x="4" y="5"/>
                    <a:pt x="3" y="4"/>
                  </a:cubicBezTo>
                  <a:cubicBezTo>
                    <a:pt x="3" y="4"/>
                    <a:pt x="3" y="3"/>
                    <a:pt x="3" y="3"/>
                  </a:cubicBezTo>
                  <a:cubicBezTo>
                    <a:pt x="2" y="3"/>
                    <a:pt x="2" y="2"/>
                    <a:pt x="2" y="2"/>
                  </a:cubicBezTo>
                  <a:cubicBezTo>
                    <a:pt x="1" y="2"/>
                    <a:pt x="1" y="2"/>
                    <a:pt x="0" y="2"/>
                  </a:cubicBezTo>
                  <a:cubicBezTo>
                    <a:pt x="0" y="0"/>
                    <a:pt x="0" y="0"/>
                    <a:pt x="0" y="0"/>
                  </a:cubicBezTo>
                  <a:cubicBezTo>
                    <a:pt x="8" y="1"/>
                    <a:pt x="8" y="1"/>
                    <a:pt x="8" y="1"/>
                  </a:cubicBezTo>
                  <a:cubicBezTo>
                    <a:pt x="19" y="15"/>
                    <a:pt x="19" y="15"/>
                    <a:pt x="19" y="15"/>
                  </a:cubicBezTo>
                  <a:cubicBezTo>
                    <a:pt x="19" y="7"/>
                    <a:pt x="19" y="7"/>
                    <a:pt x="19" y="7"/>
                  </a:cubicBezTo>
                  <a:cubicBezTo>
                    <a:pt x="19" y="6"/>
                    <a:pt x="19" y="5"/>
                    <a:pt x="19" y="4"/>
                  </a:cubicBezTo>
                  <a:cubicBezTo>
                    <a:pt x="19" y="4"/>
                    <a:pt x="19" y="3"/>
                    <a:pt x="18" y="3"/>
                  </a:cubicBezTo>
                  <a:cubicBezTo>
                    <a:pt x="18" y="3"/>
                    <a:pt x="18" y="2"/>
                    <a:pt x="17" y="2"/>
                  </a:cubicBezTo>
                  <a:cubicBezTo>
                    <a:pt x="17" y="2"/>
                    <a:pt x="16" y="2"/>
                    <a:pt x="16" y="2"/>
                  </a:cubicBezTo>
                  <a:cubicBezTo>
                    <a:pt x="16" y="1"/>
                    <a:pt x="16" y="1"/>
                    <a:pt x="16" y="1"/>
                  </a:cubicBezTo>
                  <a:cubicBezTo>
                    <a:pt x="25" y="1"/>
                    <a:pt x="25" y="1"/>
                    <a:pt x="25" y="1"/>
                  </a:cubicBezTo>
                  <a:lnTo>
                    <a:pt x="25" y="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19"/>
            <p:cNvSpPr/>
            <p:nvPr userDrawn="1"/>
          </p:nvSpPr>
          <p:spPr bwMode="auto">
            <a:xfrm>
              <a:off x="1174701" y="544935"/>
              <a:ext cx="63500" cy="87313"/>
            </a:xfrm>
            <a:custGeom>
              <a:avLst/>
              <a:gdLst>
                <a:gd name="T0" fmla="*/ 11 w 17"/>
                <a:gd name="T1" fmla="*/ 23 h 23"/>
                <a:gd name="T2" fmla="*/ 0 w 17"/>
                <a:gd name="T3" fmla="*/ 20 h 23"/>
                <a:gd name="T4" fmla="*/ 0 w 17"/>
                <a:gd name="T5" fmla="*/ 19 h 23"/>
                <a:gd name="T6" fmla="*/ 2 w 17"/>
                <a:gd name="T7" fmla="*/ 19 h 23"/>
                <a:gd name="T8" fmla="*/ 3 w 17"/>
                <a:gd name="T9" fmla="*/ 19 h 23"/>
                <a:gd name="T10" fmla="*/ 3 w 17"/>
                <a:gd name="T11" fmla="*/ 19 h 23"/>
                <a:gd name="T12" fmla="*/ 4 w 17"/>
                <a:gd name="T13" fmla="*/ 18 h 23"/>
                <a:gd name="T14" fmla="*/ 8 w 17"/>
                <a:gd name="T15" fmla="*/ 4 h 23"/>
                <a:gd name="T16" fmla="*/ 8 w 17"/>
                <a:gd name="T17" fmla="*/ 3 h 23"/>
                <a:gd name="T18" fmla="*/ 7 w 17"/>
                <a:gd name="T19" fmla="*/ 2 h 23"/>
                <a:gd name="T20" fmla="*/ 6 w 17"/>
                <a:gd name="T21" fmla="*/ 1 h 23"/>
                <a:gd name="T22" fmla="*/ 5 w 17"/>
                <a:gd name="T23" fmla="*/ 1 h 23"/>
                <a:gd name="T24" fmla="*/ 5 w 17"/>
                <a:gd name="T25" fmla="*/ 0 h 23"/>
                <a:gd name="T26" fmla="*/ 17 w 17"/>
                <a:gd name="T27" fmla="*/ 3 h 23"/>
                <a:gd name="T28" fmla="*/ 16 w 17"/>
                <a:gd name="T29" fmla="*/ 4 h 23"/>
                <a:gd name="T30" fmla="*/ 15 w 17"/>
                <a:gd name="T31" fmla="*/ 4 h 23"/>
                <a:gd name="T32" fmla="*/ 14 w 17"/>
                <a:gd name="T33" fmla="*/ 4 h 23"/>
                <a:gd name="T34" fmla="*/ 13 w 17"/>
                <a:gd name="T35" fmla="*/ 4 h 23"/>
                <a:gd name="T36" fmla="*/ 13 w 17"/>
                <a:gd name="T37" fmla="*/ 5 h 23"/>
                <a:gd name="T38" fmla="*/ 9 w 17"/>
                <a:gd name="T39" fmla="*/ 19 h 23"/>
                <a:gd name="T40" fmla="*/ 9 w 17"/>
                <a:gd name="T41" fmla="*/ 20 h 23"/>
                <a:gd name="T42" fmla="*/ 10 w 17"/>
                <a:gd name="T43" fmla="*/ 21 h 23"/>
                <a:gd name="T44" fmla="*/ 11 w 17"/>
                <a:gd name="T45" fmla="*/ 22 h 23"/>
                <a:gd name="T46" fmla="*/ 12 w 17"/>
                <a:gd name="T47" fmla="*/ 22 h 23"/>
                <a:gd name="T48" fmla="*/ 11 w 17"/>
                <a:gd name="T4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3">
                  <a:moveTo>
                    <a:pt x="11" y="23"/>
                  </a:moveTo>
                  <a:cubicBezTo>
                    <a:pt x="0" y="20"/>
                    <a:pt x="0" y="20"/>
                    <a:pt x="0" y="20"/>
                  </a:cubicBezTo>
                  <a:cubicBezTo>
                    <a:pt x="0" y="19"/>
                    <a:pt x="0" y="19"/>
                    <a:pt x="0" y="19"/>
                  </a:cubicBezTo>
                  <a:cubicBezTo>
                    <a:pt x="1" y="19"/>
                    <a:pt x="1" y="19"/>
                    <a:pt x="2" y="19"/>
                  </a:cubicBezTo>
                  <a:cubicBezTo>
                    <a:pt x="2" y="19"/>
                    <a:pt x="2" y="19"/>
                    <a:pt x="3" y="19"/>
                  </a:cubicBezTo>
                  <a:cubicBezTo>
                    <a:pt x="3" y="19"/>
                    <a:pt x="3" y="19"/>
                    <a:pt x="3" y="19"/>
                  </a:cubicBezTo>
                  <a:cubicBezTo>
                    <a:pt x="4" y="19"/>
                    <a:pt x="4" y="19"/>
                    <a:pt x="4" y="18"/>
                  </a:cubicBezTo>
                  <a:cubicBezTo>
                    <a:pt x="8" y="4"/>
                    <a:pt x="8" y="4"/>
                    <a:pt x="8" y="4"/>
                  </a:cubicBezTo>
                  <a:cubicBezTo>
                    <a:pt x="8" y="3"/>
                    <a:pt x="8" y="3"/>
                    <a:pt x="8" y="3"/>
                  </a:cubicBezTo>
                  <a:cubicBezTo>
                    <a:pt x="8" y="3"/>
                    <a:pt x="7" y="2"/>
                    <a:pt x="7" y="2"/>
                  </a:cubicBezTo>
                  <a:cubicBezTo>
                    <a:pt x="7" y="2"/>
                    <a:pt x="7" y="2"/>
                    <a:pt x="6" y="1"/>
                  </a:cubicBezTo>
                  <a:cubicBezTo>
                    <a:pt x="6" y="1"/>
                    <a:pt x="5" y="1"/>
                    <a:pt x="5" y="1"/>
                  </a:cubicBezTo>
                  <a:cubicBezTo>
                    <a:pt x="5" y="0"/>
                    <a:pt x="5" y="0"/>
                    <a:pt x="5" y="0"/>
                  </a:cubicBezTo>
                  <a:cubicBezTo>
                    <a:pt x="17" y="3"/>
                    <a:pt x="17" y="3"/>
                    <a:pt x="17" y="3"/>
                  </a:cubicBezTo>
                  <a:cubicBezTo>
                    <a:pt x="16" y="4"/>
                    <a:pt x="16" y="4"/>
                    <a:pt x="16" y="4"/>
                  </a:cubicBezTo>
                  <a:cubicBezTo>
                    <a:pt x="16" y="4"/>
                    <a:pt x="16" y="4"/>
                    <a:pt x="15" y="4"/>
                  </a:cubicBezTo>
                  <a:cubicBezTo>
                    <a:pt x="15" y="4"/>
                    <a:pt x="14" y="4"/>
                    <a:pt x="14" y="4"/>
                  </a:cubicBezTo>
                  <a:cubicBezTo>
                    <a:pt x="14" y="4"/>
                    <a:pt x="13" y="4"/>
                    <a:pt x="13" y="4"/>
                  </a:cubicBezTo>
                  <a:cubicBezTo>
                    <a:pt x="13" y="4"/>
                    <a:pt x="13" y="5"/>
                    <a:pt x="13" y="5"/>
                  </a:cubicBezTo>
                  <a:cubicBezTo>
                    <a:pt x="9" y="19"/>
                    <a:pt x="9" y="19"/>
                    <a:pt x="9" y="19"/>
                  </a:cubicBezTo>
                  <a:cubicBezTo>
                    <a:pt x="9" y="20"/>
                    <a:pt x="9" y="20"/>
                    <a:pt x="9" y="20"/>
                  </a:cubicBezTo>
                  <a:cubicBezTo>
                    <a:pt x="9" y="21"/>
                    <a:pt x="9" y="21"/>
                    <a:pt x="10" y="21"/>
                  </a:cubicBezTo>
                  <a:cubicBezTo>
                    <a:pt x="10" y="21"/>
                    <a:pt x="10" y="21"/>
                    <a:pt x="11" y="22"/>
                  </a:cubicBezTo>
                  <a:cubicBezTo>
                    <a:pt x="11" y="22"/>
                    <a:pt x="11" y="22"/>
                    <a:pt x="12" y="22"/>
                  </a:cubicBezTo>
                  <a:lnTo>
                    <a:pt x="11" y="2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 name="Freeform 20"/>
            <p:cNvSpPr/>
            <p:nvPr userDrawn="1"/>
          </p:nvSpPr>
          <p:spPr bwMode="auto">
            <a:xfrm>
              <a:off x="1292176" y="575097"/>
              <a:ext cx="82550" cy="95250"/>
            </a:xfrm>
            <a:custGeom>
              <a:avLst/>
              <a:gdLst>
                <a:gd name="T0" fmla="*/ 22 w 22"/>
                <a:gd name="T1" fmla="*/ 12 h 25"/>
                <a:gd name="T2" fmla="*/ 21 w 22"/>
                <a:gd name="T3" fmla="*/ 12 h 25"/>
                <a:gd name="T4" fmla="*/ 20 w 22"/>
                <a:gd name="T5" fmla="*/ 12 h 25"/>
                <a:gd name="T6" fmla="*/ 19 w 22"/>
                <a:gd name="T7" fmla="*/ 12 h 25"/>
                <a:gd name="T8" fmla="*/ 17 w 22"/>
                <a:gd name="T9" fmla="*/ 13 h 25"/>
                <a:gd name="T10" fmla="*/ 15 w 22"/>
                <a:gd name="T11" fmla="*/ 15 h 25"/>
                <a:gd name="T12" fmla="*/ 11 w 22"/>
                <a:gd name="T13" fmla="*/ 18 h 25"/>
                <a:gd name="T14" fmla="*/ 7 w 22"/>
                <a:gd name="T15" fmla="*/ 21 h 25"/>
                <a:gd name="T16" fmla="*/ 3 w 22"/>
                <a:gd name="T17" fmla="*/ 25 h 25"/>
                <a:gd name="T18" fmla="*/ 0 w 22"/>
                <a:gd name="T19" fmla="*/ 24 h 25"/>
                <a:gd name="T20" fmla="*/ 1 w 22"/>
                <a:gd name="T21" fmla="*/ 12 h 25"/>
                <a:gd name="T22" fmla="*/ 2 w 22"/>
                <a:gd name="T23" fmla="*/ 5 h 25"/>
                <a:gd name="T24" fmla="*/ 2 w 22"/>
                <a:gd name="T25" fmla="*/ 3 h 25"/>
                <a:gd name="T26" fmla="*/ 1 w 22"/>
                <a:gd name="T27" fmla="*/ 2 h 25"/>
                <a:gd name="T28" fmla="*/ 1 w 22"/>
                <a:gd name="T29" fmla="*/ 1 h 25"/>
                <a:gd name="T30" fmla="*/ 0 w 22"/>
                <a:gd name="T31" fmla="*/ 1 h 25"/>
                <a:gd name="T32" fmla="*/ 1 w 22"/>
                <a:gd name="T33" fmla="*/ 0 h 25"/>
                <a:gd name="T34" fmla="*/ 11 w 22"/>
                <a:gd name="T35" fmla="*/ 5 h 25"/>
                <a:gd name="T36" fmla="*/ 10 w 22"/>
                <a:gd name="T37" fmla="*/ 6 h 25"/>
                <a:gd name="T38" fmla="*/ 8 w 22"/>
                <a:gd name="T39" fmla="*/ 5 h 25"/>
                <a:gd name="T40" fmla="*/ 7 w 22"/>
                <a:gd name="T41" fmla="*/ 6 h 25"/>
                <a:gd name="T42" fmla="*/ 7 w 22"/>
                <a:gd name="T43" fmla="*/ 6 h 25"/>
                <a:gd name="T44" fmla="*/ 7 w 22"/>
                <a:gd name="T45" fmla="*/ 6 h 25"/>
                <a:gd name="T46" fmla="*/ 6 w 22"/>
                <a:gd name="T47" fmla="*/ 11 h 25"/>
                <a:gd name="T48" fmla="*/ 6 w 22"/>
                <a:gd name="T49" fmla="*/ 21 h 25"/>
                <a:gd name="T50" fmla="*/ 11 w 22"/>
                <a:gd name="T51" fmla="*/ 16 h 25"/>
                <a:gd name="T52" fmla="*/ 14 w 22"/>
                <a:gd name="T53" fmla="*/ 13 h 25"/>
                <a:gd name="T54" fmla="*/ 16 w 22"/>
                <a:gd name="T55" fmla="*/ 12 h 25"/>
                <a:gd name="T56" fmla="*/ 17 w 22"/>
                <a:gd name="T57" fmla="*/ 11 h 25"/>
                <a:gd name="T58" fmla="*/ 16 w 22"/>
                <a:gd name="T59" fmla="*/ 10 h 25"/>
                <a:gd name="T60" fmla="*/ 14 w 22"/>
                <a:gd name="T61" fmla="*/ 8 h 25"/>
                <a:gd name="T62" fmla="*/ 15 w 22"/>
                <a:gd name="T63" fmla="*/ 7 h 25"/>
                <a:gd name="T64" fmla="*/ 22 w 22"/>
                <a:gd name="T65" fmla="*/ 11 h 25"/>
                <a:gd name="T66" fmla="*/ 22 w 22"/>
                <a:gd name="T6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 h="25">
                  <a:moveTo>
                    <a:pt x="22" y="12"/>
                  </a:moveTo>
                  <a:cubicBezTo>
                    <a:pt x="22" y="12"/>
                    <a:pt x="21" y="12"/>
                    <a:pt x="21" y="12"/>
                  </a:cubicBezTo>
                  <a:cubicBezTo>
                    <a:pt x="21" y="12"/>
                    <a:pt x="20" y="12"/>
                    <a:pt x="20" y="12"/>
                  </a:cubicBezTo>
                  <a:cubicBezTo>
                    <a:pt x="19" y="12"/>
                    <a:pt x="19" y="12"/>
                    <a:pt x="19" y="12"/>
                  </a:cubicBezTo>
                  <a:cubicBezTo>
                    <a:pt x="18" y="12"/>
                    <a:pt x="18" y="13"/>
                    <a:pt x="17" y="13"/>
                  </a:cubicBezTo>
                  <a:cubicBezTo>
                    <a:pt x="17" y="13"/>
                    <a:pt x="16" y="14"/>
                    <a:pt x="15" y="15"/>
                  </a:cubicBezTo>
                  <a:cubicBezTo>
                    <a:pt x="14" y="16"/>
                    <a:pt x="13" y="17"/>
                    <a:pt x="11" y="18"/>
                  </a:cubicBezTo>
                  <a:cubicBezTo>
                    <a:pt x="10" y="19"/>
                    <a:pt x="9" y="20"/>
                    <a:pt x="7" y="21"/>
                  </a:cubicBezTo>
                  <a:cubicBezTo>
                    <a:pt x="6" y="23"/>
                    <a:pt x="4" y="24"/>
                    <a:pt x="3" y="25"/>
                  </a:cubicBezTo>
                  <a:cubicBezTo>
                    <a:pt x="0" y="24"/>
                    <a:pt x="0" y="24"/>
                    <a:pt x="0" y="24"/>
                  </a:cubicBezTo>
                  <a:cubicBezTo>
                    <a:pt x="1" y="20"/>
                    <a:pt x="1" y="16"/>
                    <a:pt x="1" y="12"/>
                  </a:cubicBezTo>
                  <a:cubicBezTo>
                    <a:pt x="2" y="9"/>
                    <a:pt x="2" y="6"/>
                    <a:pt x="2" y="5"/>
                  </a:cubicBezTo>
                  <a:cubicBezTo>
                    <a:pt x="2" y="4"/>
                    <a:pt x="2" y="4"/>
                    <a:pt x="2" y="3"/>
                  </a:cubicBezTo>
                  <a:cubicBezTo>
                    <a:pt x="2" y="3"/>
                    <a:pt x="2" y="3"/>
                    <a:pt x="1" y="2"/>
                  </a:cubicBezTo>
                  <a:cubicBezTo>
                    <a:pt x="1" y="2"/>
                    <a:pt x="1" y="2"/>
                    <a:pt x="1" y="1"/>
                  </a:cubicBezTo>
                  <a:cubicBezTo>
                    <a:pt x="1" y="1"/>
                    <a:pt x="0" y="1"/>
                    <a:pt x="0" y="1"/>
                  </a:cubicBezTo>
                  <a:cubicBezTo>
                    <a:pt x="1" y="0"/>
                    <a:pt x="1" y="0"/>
                    <a:pt x="1" y="0"/>
                  </a:cubicBezTo>
                  <a:cubicBezTo>
                    <a:pt x="11" y="5"/>
                    <a:pt x="11" y="5"/>
                    <a:pt x="11" y="5"/>
                  </a:cubicBezTo>
                  <a:cubicBezTo>
                    <a:pt x="10" y="6"/>
                    <a:pt x="10" y="6"/>
                    <a:pt x="10" y="6"/>
                  </a:cubicBezTo>
                  <a:cubicBezTo>
                    <a:pt x="9" y="6"/>
                    <a:pt x="8" y="5"/>
                    <a:pt x="8" y="5"/>
                  </a:cubicBezTo>
                  <a:cubicBezTo>
                    <a:pt x="8" y="5"/>
                    <a:pt x="7" y="5"/>
                    <a:pt x="7" y="6"/>
                  </a:cubicBezTo>
                  <a:cubicBezTo>
                    <a:pt x="7" y="6"/>
                    <a:pt x="7" y="6"/>
                    <a:pt x="7" y="6"/>
                  </a:cubicBezTo>
                  <a:cubicBezTo>
                    <a:pt x="7" y="6"/>
                    <a:pt x="7" y="6"/>
                    <a:pt x="7" y="6"/>
                  </a:cubicBezTo>
                  <a:cubicBezTo>
                    <a:pt x="7" y="7"/>
                    <a:pt x="7" y="9"/>
                    <a:pt x="6" y="11"/>
                  </a:cubicBezTo>
                  <a:cubicBezTo>
                    <a:pt x="6" y="13"/>
                    <a:pt x="6" y="16"/>
                    <a:pt x="6" y="21"/>
                  </a:cubicBezTo>
                  <a:cubicBezTo>
                    <a:pt x="8" y="19"/>
                    <a:pt x="9" y="18"/>
                    <a:pt x="11" y="16"/>
                  </a:cubicBezTo>
                  <a:cubicBezTo>
                    <a:pt x="12" y="15"/>
                    <a:pt x="13" y="14"/>
                    <a:pt x="14" y="13"/>
                  </a:cubicBezTo>
                  <a:cubicBezTo>
                    <a:pt x="15" y="13"/>
                    <a:pt x="15" y="12"/>
                    <a:pt x="16" y="12"/>
                  </a:cubicBezTo>
                  <a:cubicBezTo>
                    <a:pt x="16" y="12"/>
                    <a:pt x="16" y="11"/>
                    <a:pt x="17" y="11"/>
                  </a:cubicBezTo>
                  <a:cubicBezTo>
                    <a:pt x="17" y="11"/>
                    <a:pt x="17" y="10"/>
                    <a:pt x="16" y="10"/>
                  </a:cubicBezTo>
                  <a:cubicBezTo>
                    <a:pt x="16" y="10"/>
                    <a:pt x="15" y="9"/>
                    <a:pt x="14" y="8"/>
                  </a:cubicBezTo>
                  <a:cubicBezTo>
                    <a:pt x="15" y="7"/>
                    <a:pt x="15" y="7"/>
                    <a:pt x="15" y="7"/>
                  </a:cubicBezTo>
                  <a:cubicBezTo>
                    <a:pt x="22" y="11"/>
                    <a:pt x="22" y="11"/>
                    <a:pt x="22" y="11"/>
                  </a:cubicBezTo>
                  <a:lnTo>
                    <a:pt x="22" y="1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6" name="Freeform 21"/>
            <p:cNvSpPr/>
            <p:nvPr userDrawn="1"/>
          </p:nvSpPr>
          <p:spPr bwMode="auto">
            <a:xfrm>
              <a:off x="1366789" y="651297"/>
              <a:ext cx="104775" cy="109538"/>
            </a:xfrm>
            <a:custGeom>
              <a:avLst/>
              <a:gdLst>
                <a:gd name="T0" fmla="*/ 25 w 28"/>
                <a:gd name="T1" fmla="*/ 17 h 29"/>
                <a:gd name="T2" fmla="*/ 24 w 28"/>
                <a:gd name="T3" fmla="*/ 16 h 29"/>
                <a:gd name="T4" fmla="*/ 24 w 28"/>
                <a:gd name="T5" fmla="*/ 13 h 29"/>
                <a:gd name="T6" fmla="*/ 24 w 28"/>
                <a:gd name="T7" fmla="*/ 11 h 29"/>
                <a:gd name="T8" fmla="*/ 23 w 28"/>
                <a:gd name="T9" fmla="*/ 10 h 29"/>
                <a:gd name="T10" fmla="*/ 22 w 28"/>
                <a:gd name="T11" fmla="*/ 9 h 29"/>
                <a:gd name="T12" fmla="*/ 20 w 28"/>
                <a:gd name="T13" fmla="*/ 7 h 29"/>
                <a:gd name="T14" fmla="*/ 14 w 28"/>
                <a:gd name="T15" fmla="*/ 13 h 29"/>
                <a:gd name="T16" fmla="*/ 16 w 28"/>
                <a:gd name="T17" fmla="*/ 14 h 29"/>
                <a:gd name="T18" fmla="*/ 17 w 28"/>
                <a:gd name="T19" fmla="*/ 15 h 29"/>
                <a:gd name="T20" fmla="*/ 19 w 28"/>
                <a:gd name="T21" fmla="*/ 15 h 29"/>
                <a:gd name="T22" fmla="*/ 20 w 28"/>
                <a:gd name="T23" fmla="*/ 15 h 29"/>
                <a:gd name="T24" fmla="*/ 21 w 28"/>
                <a:gd name="T25" fmla="*/ 14 h 29"/>
                <a:gd name="T26" fmla="*/ 22 w 28"/>
                <a:gd name="T27" fmla="*/ 15 h 29"/>
                <a:gd name="T28" fmla="*/ 16 w 28"/>
                <a:gd name="T29" fmla="*/ 21 h 29"/>
                <a:gd name="T30" fmla="*/ 15 w 28"/>
                <a:gd name="T31" fmla="*/ 21 h 29"/>
                <a:gd name="T32" fmla="*/ 16 w 28"/>
                <a:gd name="T33" fmla="*/ 19 h 29"/>
                <a:gd name="T34" fmla="*/ 16 w 28"/>
                <a:gd name="T35" fmla="*/ 18 h 29"/>
                <a:gd name="T36" fmla="*/ 16 w 28"/>
                <a:gd name="T37" fmla="*/ 16 h 29"/>
                <a:gd name="T38" fmla="*/ 15 w 28"/>
                <a:gd name="T39" fmla="*/ 15 h 29"/>
                <a:gd name="T40" fmla="*/ 13 w 28"/>
                <a:gd name="T41" fmla="*/ 14 h 29"/>
                <a:gd name="T42" fmla="*/ 9 w 28"/>
                <a:gd name="T43" fmla="*/ 18 h 29"/>
                <a:gd name="T44" fmla="*/ 8 w 28"/>
                <a:gd name="T45" fmla="*/ 20 h 29"/>
                <a:gd name="T46" fmla="*/ 8 w 28"/>
                <a:gd name="T47" fmla="*/ 21 h 29"/>
                <a:gd name="T48" fmla="*/ 9 w 28"/>
                <a:gd name="T49" fmla="*/ 21 h 29"/>
                <a:gd name="T50" fmla="*/ 10 w 28"/>
                <a:gd name="T51" fmla="*/ 23 h 29"/>
                <a:gd name="T52" fmla="*/ 11 w 28"/>
                <a:gd name="T53" fmla="*/ 24 h 29"/>
                <a:gd name="T54" fmla="*/ 12 w 28"/>
                <a:gd name="T55" fmla="*/ 24 h 29"/>
                <a:gd name="T56" fmla="*/ 13 w 28"/>
                <a:gd name="T57" fmla="*/ 25 h 29"/>
                <a:gd name="T58" fmla="*/ 14 w 28"/>
                <a:gd name="T59" fmla="*/ 25 h 29"/>
                <a:gd name="T60" fmla="*/ 16 w 28"/>
                <a:gd name="T61" fmla="*/ 25 h 29"/>
                <a:gd name="T62" fmla="*/ 19 w 28"/>
                <a:gd name="T63" fmla="*/ 24 h 29"/>
                <a:gd name="T64" fmla="*/ 20 w 28"/>
                <a:gd name="T65" fmla="*/ 25 h 29"/>
                <a:gd name="T66" fmla="*/ 15 w 28"/>
                <a:gd name="T67" fmla="*/ 29 h 29"/>
                <a:gd name="T68" fmla="*/ 0 w 28"/>
                <a:gd name="T69" fmla="*/ 16 h 29"/>
                <a:gd name="T70" fmla="*/ 1 w 28"/>
                <a:gd name="T71" fmla="*/ 15 h 29"/>
                <a:gd name="T72" fmla="*/ 2 w 28"/>
                <a:gd name="T73" fmla="*/ 16 h 29"/>
                <a:gd name="T74" fmla="*/ 3 w 28"/>
                <a:gd name="T75" fmla="*/ 16 h 29"/>
                <a:gd name="T76" fmla="*/ 4 w 28"/>
                <a:gd name="T77" fmla="*/ 16 h 29"/>
                <a:gd name="T78" fmla="*/ 5 w 28"/>
                <a:gd name="T79" fmla="*/ 16 h 29"/>
                <a:gd name="T80" fmla="*/ 15 w 28"/>
                <a:gd name="T81" fmla="*/ 5 h 29"/>
                <a:gd name="T82" fmla="*/ 15 w 28"/>
                <a:gd name="T83" fmla="*/ 4 h 29"/>
                <a:gd name="T84" fmla="*/ 15 w 28"/>
                <a:gd name="T85" fmla="*/ 3 h 29"/>
                <a:gd name="T86" fmla="*/ 14 w 28"/>
                <a:gd name="T87" fmla="*/ 2 h 29"/>
                <a:gd name="T88" fmla="*/ 14 w 28"/>
                <a:gd name="T89" fmla="*/ 1 h 29"/>
                <a:gd name="T90" fmla="*/ 15 w 28"/>
                <a:gd name="T91" fmla="*/ 0 h 29"/>
                <a:gd name="T92" fmla="*/ 28 w 28"/>
                <a:gd name="T93" fmla="*/ 13 h 29"/>
                <a:gd name="T94" fmla="*/ 25 w 28"/>
                <a:gd name="T95"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 h="29">
                  <a:moveTo>
                    <a:pt x="25" y="17"/>
                  </a:moveTo>
                  <a:cubicBezTo>
                    <a:pt x="24" y="16"/>
                    <a:pt x="24" y="16"/>
                    <a:pt x="24" y="16"/>
                  </a:cubicBezTo>
                  <a:cubicBezTo>
                    <a:pt x="24" y="15"/>
                    <a:pt x="24" y="14"/>
                    <a:pt x="24" y="13"/>
                  </a:cubicBezTo>
                  <a:cubicBezTo>
                    <a:pt x="24" y="12"/>
                    <a:pt x="24" y="11"/>
                    <a:pt x="24" y="11"/>
                  </a:cubicBezTo>
                  <a:cubicBezTo>
                    <a:pt x="24" y="10"/>
                    <a:pt x="23" y="10"/>
                    <a:pt x="23" y="10"/>
                  </a:cubicBezTo>
                  <a:cubicBezTo>
                    <a:pt x="23" y="9"/>
                    <a:pt x="22" y="9"/>
                    <a:pt x="22" y="9"/>
                  </a:cubicBezTo>
                  <a:cubicBezTo>
                    <a:pt x="20" y="7"/>
                    <a:pt x="20" y="7"/>
                    <a:pt x="20" y="7"/>
                  </a:cubicBezTo>
                  <a:cubicBezTo>
                    <a:pt x="14" y="13"/>
                    <a:pt x="14" y="13"/>
                    <a:pt x="14" y="13"/>
                  </a:cubicBezTo>
                  <a:cubicBezTo>
                    <a:pt x="16" y="14"/>
                    <a:pt x="16" y="14"/>
                    <a:pt x="16" y="14"/>
                  </a:cubicBezTo>
                  <a:cubicBezTo>
                    <a:pt x="16" y="15"/>
                    <a:pt x="17" y="15"/>
                    <a:pt x="17" y="15"/>
                  </a:cubicBezTo>
                  <a:cubicBezTo>
                    <a:pt x="18" y="15"/>
                    <a:pt x="18" y="15"/>
                    <a:pt x="19" y="15"/>
                  </a:cubicBezTo>
                  <a:cubicBezTo>
                    <a:pt x="19" y="15"/>
                    <a:pt x="19" y="15"/>
                    <a:pt x="20" y="15"/>
                  </a:cubicBezTo>
                  <a:cubicBezTo>
                    <a:pt x="20" y="15"/>
                    <a:pt x="21" y="14"/>
                    <a:pt x="21" y="14"/>
                  </a:cubicBezTo>
                  <a:cubicBezTo>
                    <a:pt x="22" y="15"/>
                    <a:pt x="22" y="15"/>
                    <a:pt x="22" y="15"/>
                  </a:cubicBezTo>
                  <a:cubicBezTo>
                    <a:pt x="16" y="21"/>
                    <a:pt x="16" y="21"/>
                    <a:pt x="16" y="21"/>
                  </a:cubicBezTo>
                  <a:cubicBezTo>
                    <a:pt x="15" y="21"/>
                    <a:pt x="15" y="21"/>
                    <a:pt x="15" y="21"/>
                  </a:cubicBezTo>
                  <a:cubicBezTo>
                    <a:pt x="16" y="20"/>
                    <a:pt x="16" y="20"/>
                    <a:pt x="16" y="19"/>
                  </a:cubicBezTo>
                  <a:cubicBezTo>
                    <a:pt x="16" y="19"/>
                    <a:pt x="16" y="18"/>
                    <a:pt x="16" y="18"/>
                  </a:cubicBezTo>
                  <a:cubicBezTo>
                    <a:pt x="16" y="17"/>
                    <a:pt x="16" y="17"/>
                    <a:pt x="16" y="16"/>
                  </a:cubicBezTo>
                  <a:cubicBezTo>
                    <a:pt x="16" y="16"/>
                    <a:pt x="15" y="16"/>
                    <a:pt x="15" y="15"/>
                  </a:cubicBezTo>
                  <a:cubicBezTo>
                    <a:pt x="13" y="14"/>
                    <a:pt x="13" y="14"/>
                    <a:pt x="13" y="14"/>
                  </a:cubicBezTo>
                  <a:cubicBezTo>
                    <a:pt x="9" y="18"/>
                    <a:pt x="9" y="18"/>
                    <a:pt x="9" y="18"/>
                  </a:cubicBezTo>
                  <a:cubicBezTo>
                    <a:pt x="9" y="19"/>
                    <a:pt x="9" y="19"/>
                    <a:pt x="8" y="20"/>
                  </a:cubicBezTo>
                  <a:cubicBezTo>
                    <a:pt x="8" y="20"/>
                    <a:pt x="8" y="20"/>
                    <a:pt x="8" y="21"/>
                  </a:cubicBezTo>
                  <a:cubicBezTo>
                    <a:pt x="8" y="21"/>
                    <a:pt x="8" y="21"/>
                    <a:pt x="9" y="21"/>
                  </a:cubicBezTo>
                  <a:cubicBezTo>
                    <a:pt x="9" y="22"/>
                    <a:pt x="9" y="22"/>
                    <a:pt x="10" y="23"/>
                  </a:cubicBezTo>
                  <a:cubicBezTo>
                    <a:pt x="10" y="23"/>
                    <a:pt x="11" y="23"/>
                    <a:pt x="11" y="24"/>
                  </a:cubicBezTo>
                  <a:cubicBezTo>
                    <a:pt x="11" y="24"/>
                    <a:pt x="12" y="24"/>
                    <a:pt x="12" y="24"/>
                  </a:cubicBezTo>
                  <a:cubicBezTo>
                    <a:pt x="12" y="25"/>
                    <a:pt x="13" y="25"/>
                    <a:pt x="13" y="25"/>
                  </a:cubicBezTo>
                  <a:cubicBezTo>
                    <a:pt x="13" y="25"/>
                    <a:pt x="14" y="25"/>
                    <a:pt x="14" y="25"/>
                  </a:cubicBezTo>
                  <a:cubicBezTo>
                    <a:pt x="14" y="25"/>
                    <a:pt x="15" y="25"/>
                    <a:pt x="16" y="25"/>
                  </a:cubicBezTo>
                  <a:cubicBezTo>
                    <a:pt x="18" y="24"/>
                    <a:pt x="18" y="24"/>
                    <a:pt x="19" y="24"/>
                  </a:cubicBezTo>
                  <a:cubicBezTo>
                    <a:pt x="20" y="25"/>
                    <a:pt x="20" y="25"/>
                    <a:pt x="20" y="25"/>
                  </a:cubicBezTo>
                  <a:cubicBezTo>
                    <a:pt x="15" y="29"/>
                    <a:pt x="15" y="29"/>
                    <a:pt x="15" y="29"/>
                  </a:cubicBezTo>
                  <a:cubicBezTo>
                    <a:pt x="0" y="16"/>
                    <a:pt x="0" y="16"/>
                    <a:pt x="0" y="16"/>
                  </a:cubicBezTo>
                  <a:cubicBezTo>
                    <a:pt x="1" y="15"/>
                    <a:pt x="1" y="15"/>
                    <a:pt x="1" y="15"/>
                  </a:cubicBezTo>
                  <a:cubicBezTo>
                    <a:pt x="1" y="15"/>
                    <a:pt x="2" y="15"/>
                    <a:pt x="2" y="16"/>
                  </a:cubicBezTo>
                  <a:cubicBezTo>
                    <a:pt x="2" y="16"/>
                    <a:pt x="3" y="16"/>
                    <a:pt x="3" y="16"/>
                  </a:cubicBezTo>
                  <a:cubicBezTo>
                    <a:pt x="3" y="16"/>
                    <a:pt x="4" y="16"/>
                    <a:pt x="4" y="16"/>
                  </a:cubicBezTo>
                  <a:cubicBezTo>
                    <a:pt x="4" y="16"/>
                    <a:pt x="4" y="16"/>
                    <a:pt x="5" y="16"/>
                  </a:cubicBezTo>
                  <a:cubicBezTo>
                    <a:pt x="15" y="5"/>
                    <a:pt x="15" y="5"/>
                    <a:pt x="15" y="5"/>
                  </a:cubicBezTo>
                  <a:cubicBezTo>
                    <a:pt x="15" y="4"/>
                    <a:pt x="15" y="4"/>
                    <a:pt x="15" y="4"/>
                  </a:cubicBezTo>
                  <a:cubicBezTo>
                    <a:pt x="15" y="4"/>
                    <a:pt x="15" y="3"/>
                    <a:pt x="15" y="3"/>
                  </a:cubicBezTo>
                  <a:cubicBezTo>
                    <a:pt x="15" y="3"/>
                    <a:pt x="15" y="2"/>
                    <a:pt x="14" y="2"/>
                  </a:cubicBezTo>
                  <a:cubicBezTo>
                    <a:pt x="14" y="2"/>
                    <a:pt x="14" y="1"/>
                    <a:pt x="14" y="1"/>
                  </a:cubicBezTo>
                  <a:cubicBezTo>
                    <a:pt x="15" y="0"/>
                    <a:pt x="15" y="0"/>
                    <a:pt x="15" y="0"/>
                  </a:cubicBezTo>
                  <a:cubicBezTo>
                    <a:pt x="28" y="13"/>
                    <a:pt x="28" y="13"/>
                    <a:pt x="28" y="13"/>
                  </a:cubicBezTo>
                  <a:lnTo>
                    <a:pt x="25" y="17"/>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7" name="Freeform 22"/>
            <p:cNvSpPr>
              <a:spLocks noEditPoints="1"/>
            </p:cNvSpPr>
            <p:nvPr userDrawn="1"/>
          </p:nvSpPr>
          <p:spPr bwMode="auto">
            <a:xfrm>
              <a:off x="1452514" y="749722"/>
              <a:ext cx="98425" cy="120650"/>
            </a:xfrm>
            <a:custGeom>
              <a:avLst/>
              <a:gdLst>
                <a:gd name="T0" fmla="*/ 13 w 26"/>
                <a:gd name="T1" fmla="*/ 32 h 32"/>
                <a:gd name="T2" fmla="*/ 8 w 26"/>
                <a:gd name="T3" fmla="*/ 25 h 32"/>
                <a:gd name="T4" fmla="*/ 11 w 26"/>
                <a:gd name="T5" fmla="*/ 20 h 32"/>
                <a:gd name="T6" fmla="*/ 12 w 26"/>
                <a:gd name="T7" fmla="*/ 14 h 32"/>
                <a:gd name="T8" fmla="*/ 12 w 26"/>
                <a:gd name="T9" fmla="*/ 14 h 32"/>
                <a:gd name="T10" fmla="*/ 7 w 26"/>
                <a:gd name="T11" fmla="*/ 17 h 32"/>
                <a:gd name="T12" fmla="*/ 6 w 26"/>
                <a:gd name="T13" fmla="*/ 18 h 32"/>
                <a:gd name="T14" fmla="*/ 6 w 26"/>
                <a:gd name="T15" fmla="*/ 19 h 32"/>
                <a:gd name="T16" fmla="*/ 6 w 26"/>
                <a:gd name="T17" fmla="*/ 20 h 32"/>
                <a:gd name="T18" fmla="*/ 7 w 26"/>
                <a:gd name="T19" fmla="*/ 21 h 32"/>
                <a:gd name="T20" fmla="*/ 6 w 26"/>
                <a:gd name="T21" fmla="*/ 21 h 32"/>
                <a:gd name="T22" fmla="*/ 0 w 26"/>
                <a:gd name="T23" fmla="*/ 12 h 32"/>
                <a:gd name="T24" fmla="*/ 0 w 26"/>
                <a:gd name="T25" fmla="*/ 11 h 32"/>
                <a:gd name="T26" fmla="*/ 1 w 26"/>
                <a:gd name="T27" fmla="*/ 12 h 32"/>
                <a:gd name="T28" fmla="*/ 2 w 26"/>
                <a:gd name="T29" fmla="*/ 13 h 32"/>
                <a:gd name="T30" fmla="*/ 3 w 26"/>
                <a:gd name="T31" fmla="*/ 13 h 32"/>
                <a:gd name="T32" fmla="*/ 4 w 26"/>
                <a:gd name="T33" fmla="*/ 13 h 32"/>
                <a:gd name="T34" fmla="*/ 16 w 26"/>
                <a:gd name="T35" fmla="*/ 5 h 32"/>
                <a:gd name="T36" fmla="*/ 17 w 26"/>
                <a:gd name="T37" fmla="*/ 4 h 32"/>
                <a:gd name="T38" fmla="*/ 17 w 26"/>
                <a:gd name="T39" fmla="*/ 3 h 32"/>
                <a:gd name="T40" fmla="*/ 17 w 26"/>
                <a:gd name="T41" fmla="*/ 2 h 32"/>
                <a:gd name="T42" fmla="*/ 16 w 26"/>
                <a:gd name="T43" fmla="*/ 1 h 32"/>
                <a:gd name="T44" fmla="*/ 17 w 26"/>
                <a:gd name="T45" fmla="*/ 0 h 32"/>
                <a:gd name="T46" fmla="*/ 24 w 26"/>
                <a:gd name="T47" fmla="*/ 10 h 32"/>
                <a:gd name="T48" fmla="*/ 26 w 26"/>
                <a:gd name="T49" fmla="*/ 16 h 32"/>
                <a:gd name="T50" fmla="*/ 24 w 26"/>
                <a:gd name="T51" fmla="*/ 20 h 32"/>
                <a:gd name="T52" fmla="*/ 20 w 26"/>
                <a:gd name="T53" fmla="*/ 21 h 32"/>
                <a:gd name="T54" fmla="*/ 16 w 26"/>
                <a:gd name="T55" fmla="*/ 19 h 32"/>
                <a:gd name="T56" fmla="*/ 15 w 26"/>
                <a:gd name="T57" fmla="*/ 22 h 32"/>
                <a:gd name="T58" fmla="*/ 14 w 26"/>
                <a:gd name="T59" fmla="*/ 26 h 32"/>
                <a:gd name="T60" fmla="*/ 13 w 26"/>
                <a:gd name="T61" fmla="*/ 28 h 32"/>
                <a:gd name="T62" fmla="*/ 13 w 26"/>
                <a:gd name="T63" fmla="*/ 30 h 32"/>
                <a:gd name="T64" fmla="*/ 13 w 26"/>
                <a:gd name="T65" fmla="*/ 31 h 32"/>
                <a:gd name="T66" fmla="*/ 14 w 26"/>
                <a:gd name="T67" fmla="*/ 31 h 32"/>
                <a:gd name="T68" fmla="*/ 13 w 26"/>
                <a:gd name="T69" fmla="*/ 32 h 32"/>
                <a:gd name="T70" fmla="*/ 20 w 26"/>
                <a:gd name="T71" fmla="*/ 15 h 32"/>
                <a:gd name="T72" fmla="*/ 22 w 26"/>
                <a:gd name="T73" fmla="*/ 12 h 32"/>
                <a:gd name="T74" fmla="*/ 21 w 26"/>
                <a:gd name="T75" fmla="*/ 9 h 32"/>
                <a:gd name="T76" fmla="*/ 21 w 26"/>
                <a:gd name="T77" fmla="*/ 8 h 32"/>
                <a:gd name="T78" fmla="*/ 13 w 26"/>
                <a:gd name="T79" fmla="*/ 13 h 32"/>
                <a:gd name="T80" fmla="*/ 14 w 26"/>
                <a:gd name="T81" fmla="*/ 14 h 32"/>
                <a:gd name="T82" fmla="*/ 17 w 26"/>
                <a:gd name="T83" fmla="*/ 16 h 32"/>
                <a:gd name="T84" fmla="*/ 20 w 26"/>
                <a:gd name="T8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32">
                  <a:moveTo>
                    <a:pt x="13" y="32"/>
                  </a:moveTo>
                  <a:cubicBezTo>
                    <a:pt x="8" y="25"/>
                    <a:pt x="8" y="25"/>
                    <a:pt x="8" y="25"/>
                  </a:cubicBezTo>
                  <a:cubicBezTo>
                    <a:pt x="9" y="23"/>
                    <a:pt x="10" y="21"/>
                    <a:pt x="11" y="20"/>
                  </a:cubicBezTo>
                  <a:cubicBezTo>
                    <a:pt x="11" y="18"/>
                    <a:pt x="12" y="16"/>
                    <a:pt x="12" y="14"/>
                  </a:cubicBezTo>
                  <a:cubicBezTo>
                    <a:pt x="12" y="14"/>
                    <a:pt x="12" y="14"/>
                    <a:pt x="12" y="14"/>
                  </a:cubicBezTo>
                  <a:cubicBezTo>
                    <a:pt x="7" y="17"/>
                    <a:pt x="7" y="17"/>
                    <a:pt x="7" y="17"/>
                  </a:cubicBezTo>
                  <a:cubicBezTo>
                    <a:pt x="6" y="17"/>
                    <a:pt x="6" y="18"/>
                    <a:pt x="6" y="18"/>
                  </a:cubicBezTo>
                  <a:cubicBezTo>
                    <a:pt x="6" y="18"/>
                    <a:pt x="6" y="18"/>
                    <a:pt x="6" y="19"/>
                  </a:cubicBezTo>
                  <a:cubicBezTo>
                    <a:pt x="6" y="19"/>
                    <a:pt x="6" y="19"/>
                    <a:pt x="6" y="20"/>
                  </a:cubicBezTo>
                  <a:cubicBezTo>
                    <a:pt x="6" y="20"/>
                    <a:pt x="6" y="20"/>
                    <a:pt x="7" y="21"/>
                  </a:cubicBezTo>
                  <a:cubicBezTo>
                    <a:pt x="6" y="21"/>
                    <a:pt x="6" y="21"/>
                    <a:pt x="6" y="21"/>
                  </a:cubicBezTo>
                  <a:cubicBezTo>
                    <a:pt x="0" y="12"/>
                    <a:pt x="0" y="12"/>
                    <a:pt x="0" y="12"/>
                  </a:cubicBezTo>
                  <a:cubicBezTo>
                    <a:pt x="0" y="11"/>
                    <a:pt x="0" y="11"/>
                    <a:pt x="0" y="11"/>
                  </a:cubicBezTo>
                  <a:cubicBezTo>
                    <a:pt x="1" y="11"/>
                    <a:pt x="1" y="12"/>
                    <a:pt x="1" y="12"/>
                  </a:cubicBezTo>
                  <a:cubicBezTo>
                    <a:pt x="2" y="12"/>
                    <a:pt x="2" y="13"/>
                    <a:pt x="2" y="13"/>
                  </a:cubicBezTo>
                  <a:cubicBezTo>
                    <a:pt x="2" y="13"/>
                    <a:pt x="3" y="13"/>
                    <a:pt x="3" y="13"/>
                  </a:cubicBezTo>
                  <a:cubicBezTo>
                    <a:pt x="3" y="13"/>
                    <a:pt x="3" y="13"/>
                    <a:pt x="4" y="13"/>
                  </a:cubicBezTo>
                  <a:cubicBezTo>
                    <a:pt x="16" y="5"/>
                    <a:pt x="16" y="5"/>
                    <a:pt x="16" y="5"/>
                  </a:cubicBezTo>
                  <a:cubicBezTo>
                    <a:pt x="16" y="5"/>
                    <a:pt x="17" y="4"/>
                    <a:pt x="17" y="4"/>
                  </a:cubicBezTo>
                  <a:cubicBezTo>
                    <a:pt x="17" y="4"/>
                    <a:pt x="17" y="4"/>
                    <a:pt x="17" y="3"/>
                  </a:cubicBezTo>
                  <a:cubicBezTo>
                    <a:pt x="17" y="3"/>
                    <a:pt x="17" y="2"/>
                    <a:pt x="17" y="2"/>
                  </a:cubicBezTo>
                  <a:cubicBezTo>
                    <a:pt x="16" y="2"/>
                    <a:pt x="16" y="1"/>
                    <a:pt x="16" y="1"/>
                  </a:cubicBezTo>
                  <a:cubicBezTo>
                    <a:pt x="17" y="0"/>
                    <a:pt x="17" y="0"/>
                    <a:pt x="17" y="0"/>
                  </a:cubicBezTo>
                  <a:cubicBezTo>
                    <a:pt x="24" y="10"/>
                    <a:pt x="24" y="10"/>
                    <a:pt x="24" y="10"/>
                  </a:cubicBezTo>
                  <a:cubicBezTo>
                    <a:pt x="25" y="13"/>
                    <a:pt x="26" y="14"/>
                    <a:pt x="26" y="16"/>
                  </a:cubicBezTo>
                  <a:cubicBezTo>
                    <a:pt x="26" y="18"/>
                    <a:pt x="25" y="19"/>
                    <a:pt x="24" y="20"/>
                  </a:cubicBezTo>
                  <a:cubicBezTo>
                    <a:pt x="23" y="21"/>
                    <a:pt x="21" y="21"/>
                    <a:pt x="20" y="21"/>
                  </a:cubicBezTo>
                  <a:cubicBezTo>
                    <a:pt x="19" y="20"/>
                    <a:pt x="18" y="20"/>
                    <a:pt x="16" y="19"/>
                  </a:cubicBezTo>
                  <a:cubicBezTo>
                    <a:pt x="16" y="20"/>
                    <a:pt x="15" y="21"/>
                    <a:pt x="15" y="22"/>
                  </a:cubicBezTo>
                  <a:cubicBezTo>
                    <a:pt x="14" y="24"/>
                    <a:pt x="14" y="25"/>
                    <a:pt x="14" y="26"/>
                  </a:cubicBezTo>
                  <a:cubicBezTo>
                    <a:pt x="13" y="27"/>
                    <a:pt x="13" y="27"/>
                    <a:pt x="13" y="28"/>
                  </a:cubicBezTo>
                  <a:cubicBezTo>
                    <a:pt x="13" y="29"/>
                    <a:pt x="13" y="30"/>
                    <a:pt x="13" y="30"/>
                  </a:cubicBezTo>
                  <a:cubicBezTo>
                    <a:pt x="13" y="30"/>
                    <a:pt x="13" y="30"/>
                    <a:pt x="13" y="31"/>
                  </a:cubicBezTo>
                  <a:cubicBezTo>
                    <a:pt x="13" y="31"/>
                    <a:pt x="14" y="31"/>
                    <a:pt x="14" y="31"/>
                  </a:cubicBezTo>
                  <a:lnTo>
                    <a:pt x="13" y="32"/>
                  </a:lnTo>
                  <a:close/>
                  <a:moveTo>
                    <a:pt x="20" y="15"/>
                  </a:moveTo>
                  <a:cubicBezTo>
                    <a:pt x="21" y="14"/>
                    <a:pt x="22" y="13"/>
                    <a:pt x="22" y="12"/>
                  </a:cubicBezTo>
                  <a:cubicBezTo>
                    <a:pt x="22" y="11"/>
                    <a:pt x="22" y="10"/>
                    <a:pt x="21" y="9"/>
                  </a:cubicBezTo>
                  <a:cubicBezTo>
                    <a:pt x="21" y="8"/>
                    <a:pt x="21" y="8"/>
                    <a:pt x="21" y="8"/>
                  </a:cubicBezTo>
                  <a:cubicBezTo>
                    <a:pt x="13" y="13"/>
                    <a:pt x="13" y="13"/>
                    <a:pt x="13" y="13"/>
                  </a:cubicBezTo>
                  <a:cubicBezTo>
                    <a:pt x="14" y="14"/>
                    <a:pt x="14" y="14"/>
                    <a:pt x="14" y="14"/>
                  </a:cubicBezTo>
                  <a:cubicBezTo>
                    <a:pt x="15" y="15"/>
                    <a:pt x="16" y="16"/>
                    <a:pt x="17" y="16"/>
                  </a:cubicBezTo>
                  <a:cubicBezTo>
                    <a:pt x="18" y="16"/>
                    <a:pt x="19" y="16"/>
                    <a:pt x="20" y="1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 name="Freeform 23"/>
            <p:cNvSpPr/>
            <p:nvPr userDrawn="1"/>
          </p:nvSpPr>
          <p:spPr bwMode="auto">
            <a:xfrm>
              <a:off x="1512839" y="884660"/>
              <a:ext cx="95250" cy="76200"/>
            </a:xfrm>
            <a:custGeom>
              <a:avLst/>
              <a:gdLst>
                <a:gd name="T0" fmla="*/ 2 w 25"/>
                <a:gd name="T1" fmla="*/ 13 h 20"/>
                <a:gd name="T2" fmla="*/ 2 w 25"/>
                <a:gd name="T3" fmla="*/ 10 h 20"/>
                <a:gd name="T4" fmla="*/ 2 w 25"/>
                <a:gd name="T5" fmla="*/ 7 h 20"/>
                <a:gd name="T6" fmla="*/ 1 w 25"/>
                <a:gd name="T7" fmla="*/ 6 h 20"/>
                <a:gd name="T8" fmla="*/ 0 w 25"/>
                <a:gd name="T9" fmla="*/ 5 h 20"/>
                <a:gd name="T10" fmla="*/ 7 w 25"/>
                <a:gd name="T11" fmla="*/ 2 h 20"/>
                <a:gd name="T12" fmla="*/ 8 w 25"/>
                <a:gd name="T13" fmla="*/ 4 h 20"/>
                <a:gd name="T14" fmla="*/ 6 w 25"/>
                <a:gd name="T15" fmla="*/ 5 h 20"/>
                <a:gd name="T16" fmla="*/ 4 w 25"/>
                <a:gd name="T17" fmla="*/ 7 h 20"/>
                <a:gd name="T18" fmla="*/ 4 w 25"/>
                <a:gd name="T19" fmla="*/ 10 h 20"/>
                <a:gd name="T20" fmla="*/ 4 w 25"/>
                <a:gd name="T21" fmla="*/ 13 h 20"/>
                <a:gd name="T22" fmla="*/ 6 w 25"/>
                <a:gd name="T23" fmla="*/ 15 h 20"/>
                <a:gd name="T24" fmla="*/ 8 w 25"/>
                <a:gd name="T25" fmla="*/ 15 h 20"/>
                <a:gd name="T26" fmla="*/ 10 w 25"/>
                <a:gd name="T27" fmla="*/ 14 h 20"/>
                <a:gd name="T28" fmla="*/ 11 w 25"/>
                <a:gd name="T29" fmla="*/ 11 h 20"/>
                <a:gd name="T30" fmla="*/ 11 w 25"/>
                <a:gd name="T31" fmla="*/ 8 h 20"/>
                <a:gd name="T32" fmla="*/ 11 w 25"/>
                <a:gd name="T33" fmla="*/ 6 h 20"/>
                <a:gd name="T34" fmla="*/ 12 w 25"/>
                <a:gd name="T35" fmla="*/ 3 h 20"/>
                <a:gd name="T36" fmla="*/ 15 w 25"/>
                <a:gd name="T37" fmla="*/ 0 h 20"/>
                <a:gd name="T38" fmla="*/ 17 w 25"/>
                <a:gd name="T39" fmla="*/ 0 h 20"/>
                <a:gd name="T40" fmla="*/ 20 w 25"/>
                <a:gd name="T41" fmla="*/ 1 h 20"/>
                <a:gd name="T42" fmla="*/ 22 w 25"/>
                <a:gd name="T43" fmla="*/ 3 h 20"/>
                <a:gd name="T44" fmla="*/ 23 w 25"/>
                <a:gd name="T45" fmla="*/ 6 h 20"/>
                <a:gd name="T46" fmla="*/ 24 w 25"/>
                <a:gd name="T47" fmla="*/ 9 h 20"/>
                <a:gd name="T48" fmla="*/ 24 w 25"/>
                <a:gd name="T49" fmla="*/ 12 h 20"/>
                <a:gd name="T50" fmla="*/ 25 w 25"/>
                <a:gd name="T51" fmla="*/ 12 h 20"/>
                <a:gd name="T52" fmla="*/ 25 w 25"/>
                <a:gd name="T53" fmla="*/ 14 h 20"/>
                <a:gd name="T54" fmla="*/ 19 w 25"/>
                <a:gd name="T55" fmla="*/ 16 h 20"/>
                <a:gd name="T56" fmla="*/ 18 w 25"/>
                <a:gd name="T57" fmla="*/ 15 h 20"/>
                <a:gd name="T58" fmla="*/ 20 w 25"/>
                <a:gd name="T59" fmla="*/ 13 h 20"/>
                <a:gd name="T60" fmla="*/ 22 w 25"/>
                <a:gd name="T61" fmla="*/ 11 h 20"/>
                <a:gd name="T62" fmla="*/ 22 w 25"/>
                <a:gd name="T63" fmla="*/ 9 h 20"/>
                <a:gd name="T64" fmla="*/ 22 w 25"/>
                <a:gd name="T65" fmla="*/ 7 h 20"/>
                <a:gd name="T66" fmla="*/ 20 w 25"/>
                <a:gd name="T67" fmla="*/ 5 h 20"/>
                <a:gd name="T68" fmla="*/ 18 w 25"/>
                <a:gd name="T69" fmla="*/ 4 h 20"/>
                <a:gd name="T70" fmla="*/ 16 w 25"/>
                <a:gd name="T71" fmla="*/ 6 h 20"/>
                <a:gd name="T72" fmla="*/ 16 w 25"/>
                <a:gd name="T73" fmla="*/ 9 h 20"/>
                <a:gd name="T74" fmla="*/ 16 w 25"/>
                <a:gd name="T75" fmla="*/ 11 h 20"/>
                <a:gd name="T76" fmla="*/ 16 w 25"/>
                <a:gd name="T77" fmla="*/ 13 h 20"/>
                <a:gd name="T78" fmla="*/ 15 w 25"/>
                <a:gd name="T79" fmla="*/ 17 h 20"/>
                <a:gd name="T80" fmla="*/ 12 w 25"/>
                <a:gd name="T81" fmla="*/ 20 h 20"/>
                <a:gd name="T82" fmla="*/ 9 w 25"/>
                <a:gd name="T83" fmla="*/ 20 h 20"/>
                <a:gd name="T84" fmla="*/ 6 w 25"/>
                <a:gd name="T85" fmla="*/ 19 h 20"/>
                <a:gd name="T86" fmla="*/ 4 w 25"/>
                <a:gd name="T87" fmla="*/ 17 h 20"/>
                <a:gd name="T88" fmla="*/ 2 w 25"/>
                <a:gd name="T89"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 h="20">
                  <a:moveTo>
                    <a:pt x="2" y="13"/>
                  </a:moveTo>
                  <a:cubicBezTo>
                    <a:pt x="2" y="12"/>
                    <a:pt x="2" y="11"/>
                    <a:pt x="2" y="10"/>
                  </a:cubicBezTo>
                  <a:cubicBezTo>
                    <a:pt x="2" y="9"/>
                    <a:pt x="2" y="8"/>
                    <a:pt x="2" y="7"/>
                  </a:cubicBezTo>
                  <a:cubicBezTo>
                    <a:pt x="1" y="6"/>
                    <a:pt x="1" y="6"/>
                    <a:pt x="1" y="6"/>
                  </a:cubicBezTo>
                  <a:cubicBezTo>
                    <a:pt x="0" y="5"/>
                    <a:pt x="0" y="5"/>
                    <a:pt x="0" y="5"/>
                  </a:cubicBezTo>
                  <a:cubicBezTo>
                    <a:pt x="7" y="2"/>
                    <a:pt x="7" y="2"/>
                    <a:pt x="7" y="2"/>
                  </a:cubicBezTo>
                  <a:cubicBezTo>
                    <a:pt x="8" y="4"/>
                    <a:pt x="8" y="4"/>
                    <a:pt x="8" y="4"/>
                  </a:cubicBezTo>
                  <a:cubicBezTo>
                    <a:pt x="7" y="4"/>
                    <a:pt x="7" y="5"/>
                    <a:pt x="6" y="5"/>
                  </a:cubicBezTo>
                  <a:cubicBezTo>
                    <a:pt x="5" y="6"/>
                    <a:pt x="5" y="7"/>
                    <a:pt x="4" y="7"/>
                  </a:cubicBezTo>
                  <a:cubicBezTo>
                    <a:pt x="4" y="8"/>
                    <a:pt x="4" y="9"/>
                    <a:pt x="4" y="10"/>
                  </a:cubicBezTo>
                  <a:cubicBezTo>
                    <a:pt x="3" y="11"/>
                    <a:pt x="4" y="12"/>
                    <a:pt x="4" y="13"/>
                  </a:cubicBezTo>
                  <a:cubicBezTo>
                    <a:pt x="4" y="14"/>
                    <a:pt x="5" y="15"/>
                    <a:pt x="6" y="15"/>
                  </a:cubicBezTo>
                  <a:cubicBezTo>
                    <a:pt x="7" y="16"/>
                    <a:pt x="7" y="16"/>
                    <a:pt x="8" y="15"/>
                  </a:cubicBezTo>
                  <a:cubicBezTo>
                    <a:pt x="9" y="15"/>
                    <a:pt x="10" y="15"/>
                    <a:pt x="10" y="14"/>
                  </a:cubicBezTo>
                  <a:cubicBezTo>
                    <a:pt x="10" y="13"/>
                    <a:pt x="11" y="12"/>
                    <a:pt x="11" y="11"/>
                  </a:cubicBezTo>
                  <a:cubicBezTo>
                    <a:pt x="11" y="10"/>
                    <a:pt x="11" y="9"/>
                    <a:pt x="11" y="8"/>
                  </a:cubicBezTo>
                  <a:cubicBezTo>
                    <a:pt x="11" y="8"/>
                    <a:pt x="11" y="7"/>
                    <a:pt x="11" y="6"/>
                  </a:cubicBezTo>
                  <a:cubicBezTo>
                    <a:pt x="11" y="5"/>
                    <a:pt x="11" y="3"/>
                    <a:pt x="12" y="3"/>
                  </a:cubicBezTo>
                  <a:cubicBezTo>
                    <a:pt x="13" y="2"/>
                    <a:pt x="14" y="1"/>
                    <a:pt x="15" y="0"/>
                  </a:cubicBezTo>
                  <a:cubicBezTo>
                    <a:pt x="16" y="0"/>
                    <a:pt x="16" y="0"/>
                    <a:pt x="17" y="0"/>
                  </a:cubicBezTo>
                  <a:cubicBezTo>
                    <a:pt x="18" y="0"/>
                    <a:pt x="19" y="1"/>
                    <a:pt x="20" y="1"/>
                  </a:cubicBezTo>
                  <a:cubicBezTo>
                    <a:pt x="20" y="1"/>
                    <a:pt x="21" y="2"/>
                    <a:pt x="22" y="3"/>
                  </a:cubicBezTo>
                  <a:cubicBezTo>
                    <a:pt x="22" y="4"/>
                    <a:pt x="23" y="5"/>
                    <a:pt x="23" y="6"/>
                  </a:cubicBezTo>
                  <a:cubicBezTo>
                    <a:pt x="24" y="7"/>
                    <a:pt x="24" y="8"/>
                    <a:pt x="24" y="9"/>
                  </a:cubicBezTo>
                  <a:cubicBezTo>
                    <a:pt x="24" y="10"/>
                    <a:pt x="24" y="11"/>
                    <a:pt x="24" y="12"/>
                  </a:cubicBezTo>
                  <a:cubicBezTo>
                    <a:pt x="25" y="12"/>
                    <a:pt x="25" y="12"/>
                    <a:pt x="25" y="12"/>
                  </a:cubicBezTo>
                  <a:cubicBezTo>
                    <a:pt x="25" y="14"/>
                    <a:pt x="25" y="14"/>
                    <a:pt x="25" y="14"/>
                  </a:cubicBezTo>
                  <a:cubicBezTo>
                    <a:pt x="19" y="16"/>
                    <a:pt x="19" y="16"/>
                    <a:pt x="19" y="16"/>
                  </a:cubicBezTo>
                  <a:cubicBezTo>
                    <a:pt x="18" y="15"/>
                    <a:pt x="18" y="15"/>
                    <a:pt x="18" y="15"/>
                  </a:cubicBezTo>
                  <a:cubicBezTo>
                    <a:pt x="19" y="14"/>
                    <a:pt x="19" y="14"/>
                    <a:pt x="20" y="13"/>
                  </a:cubicBezTo>
                  <a:cubicBezTo>
                    <a:pt x="21" y="12"/>
                    <a:pt x="21" y="12"/>
                    <a:pt x="22" y="11"/>
                  </a:cubicBezTo>
                  <a:cubicBezTo>
                    <a:pt x="22" y="11"/>
                    <a:pt x="22" y="10"/>
                    <a:pt x="22" y="9"/>
                  </a:cubicBezTo>
                  <a:cubicBezTo>
                    <a:pt x="22" y="8"/>
                    <a:pt x="22" y="8"/>
                    <a:pt x="22" y="7"/>
                  </a:cubicBezTo>
                  <a:cubicBezTo>
                    <a:pt x="22" y="6"/>
                    <a:pt x="21" y="5"/>
                    <a:pt x="20" y="5"/>
                  </a:cubicBezTo>
                  <a:cubicBezTo>
                    <a:pt x="20" y="4"/>
                    <a:pt x="19" y="4"/>
                    <a:pt x="18" y="4"/>
                  </a:cubicBezTo>
                  <a:cubicBezTo>
                    <a:pt x="17" y="5"/>
                    <a:pt x="17" y="5"/>
                    <a:pt x="16" y="6"/>
                  </a:cubicBezTo>
                  <a:cubicBezTo>
                    <a:pt x="16" y="7"/>
                    <a:pt x="16" y="8"/>
                    <a:pt x="16" y="9"/>
                  </a:cubicBezTo>
                  <a:cubicBezTo>
                    <a:pt x="16" y="10"/>
                    <a:pt x="16" y="11"/>
                    <a:pt x="16" y="11"/>
                  </a:cubicBezTo>
                  <a:cubicBezTo>
                    <a:pt x="16" y="12"/>
                    <a:pt x="16" y="13"/>
                    <a:pt x="16" y="13"/>
                  </a:cubicBezTo>
                  <a:cubicBezTo>
                    <a:pt x="16" y="15"/>
                    <a:pt x="15" y="16"/>
                    <a:pt x="15" y="17"/>
                  </a:cubicBezTo>
                  <a:cubicBezTo>
                    <a:pt x="14" y="18"/>
                    <a:pt x="13" y="19"/>
                    <a:pt x="12" y="20"/>
                  </a:cubicBezTo>
                  <a:cubicBezTo>
                    <a:pt x="11" y="20"/>
                    <a:pt x="10" y="20"/>
                    <a:pt x="9" y="20"/>
                  </a:cubicBezTo>
                  <a:cubicBezTo>
                    <a:pt x="8" y="20"/>
                    <a:pt x="7" y="19"/>
                    <a:pt x="6" y="19"/>
                  </a:cubicBezTo>
                  <a:cubicBezTo>
                    <a:pt x="6" y="18"/>
                    <a:pt x="5" y="18"/>
                    <a:pt x="4" y="17"/>
                  </a:cubicBezTo>
                  <a:cubicBezTo>
                    <a:pt x="3" y="16"/>
                    <a:pt x="3" y="15"/>
                    <a:pt x="2"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9" name="Freeform 24"/>
            <p:cNvSpPr/>
            <p:nvPr userDrawn="1"/>
          </p:nvSpPr>
          <p:spPr bwMode="auto">
            <a:xfrm>
              <a:off x="1543001" y="1006897"/>
              <a:ext cx="82550" cy="52388"/>
            </a:xfrm>
            <a:custGeom>
              <a:avLst/>
              <a:gdLst>
                <a:gd name="T0" fmla="*/ 1 w 22"/>
                <a:gd name="T1" fmla="*/ 14 h 14"/>
                <a:gd name="T2" fmla="*/ 0 w 22"/>
                <a:gd name="T3" fmla="*/ 2 h 14"/>
                <a:gd name="T4" fmla="*/ 1 w 22"/>
                <a:gd name="T5" fmla="*/ 2 h 14"/>
                <a:gd name="T6" fmla="*/ 2 w 22"/>
                <a:gd name="T7" fmla="*/ 3 h 14"/>
                <a:gd name="T8" fmla="*/ 2 w 22"/>
                <a:gd name="T9" fmla="*/ 4 h 14"/>
                <a:gd name="T10" fmla="*/ 3 w 22"/>
                <a:gd name="T11" fmla="*/ 5 h 14"/>
                <a:gd name="T12" fmla="*/ 3 w 22"/>
                <a:gd name="T13" fmla="*/ 5 h 14"/>
                <a:gd name="T14" fmla="*/ 18 w 22"/>
                <a:gd name="T15" fmla="*/ 3 h 14"/>
                <a:gd name="T16" fmla="*/ 19 w 22"/>
                <a:gd name="T17" fmla="*/ 3 h 14"/>
                <a:gd name="T18" fmla="*/ 20 w 22"/>
                <a:gd name="T19" fmla="*/ 2 h 14"/>
                <a:gd name="T20" fmla="*/ 20 w 22"/>
                <a:gd name="T21" fmla="*/ 1 h 14"/>
                <a:gd name="T22" fmla="*/ 20 w 22"/>
                <a:gd name="T23" fmla="*/ 0 h 14"/>
                <a:gd name="T24" fmla="*/ 21 w 22"/>
                <a:gd name="T25" fmla="*/ 0 h 14"/>
                <a:gd name="T26" fmla="*/ 22 w 22"/>
                <a:gd name="T27" fmla="*/ 12 h 14"/>
                <a:gd name="T28" fmla="*/ 21 w 22"/>
                <a:gd name="T29" fmla="*/ 12 h 14"/>
                <a:gd name="T30" fmla="*/ 21 w 22"/>
                <a:gd name="T31" fmla="*/ 11 h 14"/>
                <a:gd name="T32" fmla="*/ 21 w 22"/>
                <a:gd name="T33" fmla="*/ 9 h 14"/>
                <a:gd name="T34" fmla="*/ 20 w 22"/>
                <a:gd name="T35" fmla="*/ 9 h 14"/>
                <a:gd name="T36" fmla="*/ 19 w 22"/>
                <a:gd name="T37" fmla="*/ 9 h 14"/>
                <a:gd name="T38" fmla="*/ 4 w 22"/>
                <a:gd name="T39" fmla="*/ 10 h 14"/>
                <a:gd name="T40" fmla="*/ 3 w 22"/>
                <a:gd name="T41" fmla="*/ 11 h 14"/>
                <a:gd name="T42" fmla="*/ 3 w 22"/>
                <a:gd name="T43" fmla="*/ 11 h 14"/>
                <a:gd name="T44" fmla="*/ 3 w 22"/>
                <a:gd name="T45" fmla="*/ 12 h 14"/>
                <a:gd name="T46" fmla="*/ 3 w 22"/>
                <a:gd name="T47" fmla="*/ 14 h 14"/>
                <a:gd name="T48" fmla="*/ 1 w 22"/>
                <a:gd name="T49"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14">
                  <a:moveTo>
                    <a:pt x="1" y="14"/>
                  </a:moveTo>
                  <a:cubicBezTo>
                    <a:pt x="0" y="2"/>
                    <a:pt x="0" y="2"/>
                    <a:pt x="0" y="2"/>
                  </a:cubicBezTo>
                  <a:cubicBezTo>
                    <a:pt x="1" y="2"/>
                    <a:pt x="1" y="2"/>
                    <a:pt x="1" y="2"/>
                  </a:cubicBezTo>
                  <a:cubicBezTo>
                    <a:pt x="1" y="2"/>
                    <a:pt x="1" y="3"/>
                    <a:pt x="2" y="3"/>
                  </a:cubicBezTo>
                  <a:cubicBezTo>
                    <a:pt x="2" y="4"/>
                    <a:pt x="2" y="4"/>
                    <a:pt x="2" y="4"/>
                  </a:cubicBezTo>
                  <a:cubicBezTo>
                    <a:pt x="2" y="5"/>
                    <a:pt x="2" y="5"/>
                    <a:pt x="3" y="5"/>
                  </a:cubicBezTo>
                  <a:cubicBezTo>
                    <a:pt x="3" y="5"/>
                    <a:pt x="3" y="5"/>
                    <a:pt x="3" y="5"/>
                  </a:cubicBezTo>
                  <a:cubicBezTo>
                    <a:pt x="18" y="3"/>
                    <a:pt x="18" y="3"/>
                    <a:pt x="18" y="3"/>
                  </a:cubicBezTo>
                  <a:cubicBezTo>
                    <a:pt x="19" y="3"/>
                    <a:pt x="19" y="3"/>
                    <a:pt x="19" y="3"/>
                  </a:cubicBezTo>
                  <a:cubicBezTo>
                    <a:pt x="19" y="3"/>
                    <a:pt x="20" y="3"/>
                    <a:pt x="20" y="2"/>
                  </a:cubicBezTo>
                  <a:cubicBezTo>
                    <a:pt x="20" y="2"/>
                    <a:pt x="20" y="2"/>
                    <a:pt x="20" y="1"/>
                  </a:cubicBezTo>
                  <a:cubicBezTo>
                    <a:pt x="20" y="1"/>
                    <a:pt x="20" y="0"/>
                    <a:pt x="20" y="0"/>
                  </a:cubicBezTo>
                  <a:cubicBezTo>
                    <a:pt x="21" y="0"/>
                    <a:pt x="21" y="0"/>
                    <a:pt x="21" y="0"/>
                  </a:cubicBezTo>
                  <a:cubicBezTo>
                    <a:pt x="22" y="12"/>
                    <a:pt x="22" y="12"/>
                    <a:pt x="22" y="12"/>
                  </a:cubicBezTo>
                  <a:cubicBezTo>
                    <a:pt x="21" y="12"/>
                    <a:pt x="21" y="12"/>
                    <a:pt x="21" y="12"/>
                  </a:cubicBezTo>
                  <a:cubicBezTo>
                    <a:pt x="21" y="11"/>
                    <a:pt x="21" y="11"/>
                    <a:pt x="21" y="11"/>
                  </a:cubicBezTo>
                  <a:cubicBezTo>
                    <a:pt x="21" y="10"/>
                    <a:pt x="21" y="10"/>
                    <a:pt x="21" y="9"/>
                  </a:cubicBezTo>
                  <a:cubicBezTo>
                    <a:pt x="20" y="9"/>
                    <a:pt x="20" y="9"/>
                    <a:pt x="20" y="9"/>
                  </a:cubicBezTo>
                  <a:cubicBezTo>
                    <a:pt x="20" y="9"/>
                    <a:pt x="19" y="9"/>
                    <a:pt x="19" y="9"/>
                  </a:cubicBezTo>
                  <a:cubicBezTo>
                    <a:pt x="4" y="10"/>
                    <a:pt x="4" y="10"/>
                    <a:pt x="4" y="10"/>
                  </a:cubicBezTo>
                  <a:cubicBezTo>
                    <a:pt x="4" y="10"/>
                    <a:pt x="3" y="10"/>
                    <a:pt x="3" y="11"/>
                  </a:cubicBezTo>
                  <a:cubicBezTo>
                    <a:pt x="3" y="11"/>
                    <a:pt x="3" y="11"/>
                    <a:pt x="3" y="11"/>
                  </a:cubicBezTo>
                  <a:cubicBezTo>
                    <a:pt x="3" y="12"/>
                    <a:pt x="3" y="12"/>
                    <a:pt x="3" y="12"/>
                  </a:cubicBezTo>
                  <a:cubicBezTo>
                    <a:pt x="3" y="13"/>
                    <a:pt x="3" y="13"/>
                    <a:pt x="3" y="14"/>
                  </a:cubicBezTo>
                  <a:lnTo>
                    <a:pt x="1"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25"/>
            <p:cNvSpPr/>
            <p:nvPr userDrawn="1"/>
          </p:nvSpPr>
          <p:spPr bwMode="auto">
            <a:xfrm>
              <a:off x="1543001" y="1108497"/>
              <a:ext cx="87313" cy="79375"/>
            </a:xfrm>
            <a:custGeom>
              <a:avLst/>
              <a:gdLst>
                <a:gd name="T0" fmla="*/ 14 w 23"/>
                <a:gd name="T1" fmla="*/ 21 h 21"/>
                <a:gd name="T2" fmla="*/ 14 w 23"/>
                <a:gd name="T3" fmla="*/ 20 h 21"/>
                <a:gd name="T4" fmla="*/ 17 w 23"/>
                <a:gd name="T5" fmla="*/ 18 h 21"/>
                <a:gd name="T6" fmla="*/ 19 w 23"/>
                <a:gd name="T7" fmla="*/ 17 h 21"/>
                <a:gd name="T8" fmla="*/ 20 w 23"/>
                <a:gd name="T9" fmla="*/ 16 h 21"/>
                <a:gd name="T10" fmla="*/ 20 w 23"/>
                <a:gd name="T11" fmla="*/ 14 h 21"/>
                <a:gd name="T12" fmla="*/ 20 w 23"/>
                <a:gd name="T13" fmla="*/ 14 h 21"/>
                <a:gd name="T14" fmla="*/ 3 w 23"/>
                <a:gd name="T15" fmla="*/ 12 h 21"/>
                <a:gd name="T16" fmla="*/ 3 w 23"/>
                <a:gd name="T17" fmla="*/ 12 h 21"/>
                <a:gd name="T18" fmla="*/ 2 w 23"/>
                <a:gd name="T19" fmla="*/ 13 h 21"/>
                <a:gd name="T20" fmla="*/ 1 w 23"/>
                <a:gd name="T21" fmla="*/ 14 h 21"/>
                <a:gd name="T22" fmla="*/ 1 w 23"/>
                <a:gd name="T23" fmla="*/ 15 h 21"/>
                <a:gd name="T24" fmla="*/ 0 w 23"/>
                <a:gd name="T25" fmla="*/ 15 h 21"/>
                <a:gd name="T26" fmla="*/ 1 w 23"/>
                <a:gd name="T27" fmla="*/ 3 h 21"/>
                <a:gd name="T28" fmla="*/ 2 w 23"/>
                <a:gd name="T29" fmla="*/ 3 h 21"/>
                <a:gd name="T30" fmla="*/ 2 w 23"/>
                <a:gd name="T31" fmla="*/ 4 h 21"/>
                <a:gd name="T32" fmla="*/ 2 w 23"/>
                <a:gd name="T33" fmla="*/ 5 h 21"/>
                <a:gd name="T34" fmla="*/ 3 w 23"/>
                <a:gd name="T35" fmla="*/ 6 h 21"/>
                <a:gd name="T36" fmla="*/ 4 w 23"/>
                <a:gd name="T37" fmla="*/ 7 h 21"/>
                <a:gd name="T38" fmla="*/ 20 w 23"/>
                <a:gd name="T39" fmla="*/ 9 h 21"/>
                <a:gd name="T40" fmla="*/ 21 w 23"/>
                <a:gd name="T41" fmla="*/ 8 h 21"/>
                <a:gd name="T42" fmla="*/ 21 w 23"/>
                <a:gd name="T43" fmla="*/ 7 h 21"/>
                <a:gd name="T44" fmla="*/ 21 w 23"/>
                <a:gd name="T45" fmla="*/ 5 h 21"/>
                <a:gd name="T46" fmla="*/ 19 w 23"/>
                <a:gd name="T47" fmla="*/ 3 h 21"/>
                <a:gd name="T48" fmla="*/ 17 w 23"/>
                <a:gd name="T49" fmla="*/ 2 h 21"/>
                <a:gd name="T50" fmla="*/ 17 w 23"/>
                <a:gd name="T51" fmla="*/ 0 h 21"/>
                <a:gd name="T52" fmla="*/ 23 w 23"/>
                <a:gd name="T53" fmla="*/ 1 h 21"/>
                <a:gd name="T54" fmla="*/ 20 w 23"/>
                <a:gd name="T55" fmla="*/ 21 h 21"/>
                <a:gd name="T56" fmla="*/ 14 w 23"/>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1">
                  <a:moveTo>
                    <a:pt x="14" y="21"/>
                  </a:moveTo>
                  <a:cubicBezTo>
                    <a:pt x="14" y="20"/>
                    <a:pt x="14" y="20"/>
                    <a:pt x="14" y="20"/>
                  </a:cubicBezTo>
                  <a:cubicBezTo>
                    <a:pt x="15" y="19"/>
                    <a:pt x="16" y="19"/>
                    <a:pt x="17" y="18"/>
                  </a:cubicBezTo>
                  <a:cubicBezTo>
                    <a:pt x="19" y="18"/>
                    <a:pt x="19" y="17"/>
                    <a:pt x="19" y="17"/>
                  </a:cubicBezTo>
                  <a:cubicBezTo>
                    <a:pt x="19" y="16"/>
                    <a:pt x="19" y="16"/>
                    <a:pt x="20" y="16"/>
                  </a:cubicBezTo>
                  <a:cubicBezTo>
                    <a:pt x="20" y="15"/>
                    <a:pt x="20" y="15"/>
                    <a:pt x="20" y="14"/>
                  </a:cubicBezTo>
                  <a:cubicBezTo>
                    <a:pt x="20" y="14"/>
                    <a:pt x="20" y="14"/>
                    <a:pt x="20" y="14"/>
                  </a:cubicBezTo>
                  <a:cubicBezTo>
                    <a:pt x="3" y="12"/>
                    <a:pt x="3" y="12"/>
                    <a:pt x="3" y="12"/>
                  </a:cubicBezTo>
                  <a:cubicBezTo>
                    <a:pt x="3" y="12"/>
                    <a:pt x="3" y="12"/>
                    <a:pt x="3" y="12"/>
                  </a:cubicBezTo>
                  <a:cubicBezTo>
                    <a:pt x="2" y="12"/>
                    <a:pt x="2" y="12"/>
                    <a:pt x="2" y="13"/>
                  </a:cubicBezTo>
                  <a:cubicBezTo>
                    <a:pt x="2" y="13"/>
                    <a:pt x="2" y="13"/>
                    <a:pt x="1" y="14"/>
                  </a:cubicBezTo>
                  <a:cubicBezTo>
                    <a:pt x="1" y="14"/>
                    <a:pt x="1" y="14"/>
                    <a:pt x="1" y="15"/>
                  </a:cubicBezTo>
                  <a:cubicBezTo>
                    <a:pt x="0" y="15"/>
                    <a:pt x="0" y="15"/>
                    <a:pt x="0" y="15"/>
                  </a:cubicBezTo>
                  <a:cubicBezTo>
                    <a:pt x="1" y="3"/>
                    <a:pt x="1" y="3"/>
                    <a:pt x="1" y="3"/>
                  </a:cubicBezTo>
                  <a:cubicBezTo>
                    <a:pt x="2" y="3"/>
                    <a:pt x="2" y="3"/>
                    <a:pt x="2" y="3"/>
                  </a:cubicBezTo>
                  <a:cubicBezTo>
                    <a:pt x="2" y="3"/>
                    <a:pt x="2" y="4"/>
                    <a:pt x="2" y="4"/>
                  </a:cubicBezTo>
                  <a:cubicBezTo>
                    <a:pt x="2" y="5"/>
                    <a:pt x="2" y="5"/>
                    <a:pt x="2" y="5"/>
                  </a:cubicBezTo>
                  <a:cubicBezTo>
                    <a:pt x="3" y="6"/>
                    <a:pt x="3" y="6"/>
                    <a:pt x="3" y="6"/>
                  </a:cubicBezTo>
                  <a:cubicBezTo>
                    <a:pt x="3" y="6"/>
                    <a:pt x="4" y="6"/>
                    <a:pt x="4" y="7"/>
                  </a:cubicBezTo>
                  <a:cubicBezTo>
                    <a:pt x="20" y="9"/>
                    <a:pt x="20" y="9"/>
                    <a:pt x="20" y="9"/>
                  </a:cubicBezTo>
                  <a:cubicBezTo>
                    <a:pt x="21" y="8"/>
                    <a:pt x="21" y="8"/>
                    <a:pt x="21" y="8"/>
                  </a:cubicBezTo>
                  <a:cubicBezTo>
                    <a:pt x="21" y="7"/>
                    <a:pt x="21" y="7"/>
                    <a:pt x="21" y="7"/>
                  </a:cubicBezTo>
                  <a:cubicBezTo>
                    <a:pt x="21" y="6"/>
                    <a:pt x="21" y="6"/>
                    <a:pt x="21" y="5"/>
                  </a:cubicBezTo>
                  <a:cubicBezTo>
                    <a:pt x="21" y="5"/>
                    <a:pt x="20" y="4"/>
                    <a:pt x="19" y="3"/>
                  </a:cubicBezTo>
                  <a:cubicBezTo>
                    <a:pt x="18" y="3"/>
                    <a:pt x="17" y="2"/>
                    <a:pt x="17" y="2"/>
                  </a:cubicBezTo>
                  <a:cubicBezTo>
                    <a:pt x="17" y="0"/>
                    <a:pt x="17" y="0"/>
                    <a:pt x="17" y="0"/>
                  </a:cubicBezTo>
                  <a:cubicBezTo>
                    <a:pt x="23" y="1"/>
                    <a:pt x="23" y="1"/>
                    <a:pt x="23" y="1"/>
                  </a:cubicBezTo>
                  <a:cubicBezTo>
                    <a:pt x="20" y="21"/>
                    <a:pt x="20" y="21"/>
                    <a:pt x="20" y="21"/>
                  </a:cubicBezTo>
                  <a:lnTo>
                    <a:pt x="14" y="2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26"/>
            <p:cNvSpPr/>
            <p:nvPr userDrawn="1"/>
          </p:nvSpPr>
          <p:spPr bwMode="auto">
            <a:xfrm>
              <a:off x="1509664" y="1233910"/>
              <a:ext cx="98425" cy="93663"/>
            </a:xfrm>
            <a:custGeom>
              <a:avLst/>
              <a:gdLst>
                <a:gd name="T0" fmla="*/ 16 w 26"/>
                <a:gd name="T1" fmla="*/ 24 h 25"/>
                <a:gd name="T2" fmla="*/ 17 w 26"/>
                <a:gd name="T3" fmla="*/ 23 h 25"/>
                <a:gd name="T4" fmla="*/ 17 w 26"/>
                <a:gd name="T5" fmla="*/ 22 h 25"/>
                <a:gd name="T6" fmla="*/ 16 w 26"/>
                <a:gd name="T7" fmla="*/ 21 h 25"/>
                <a:gd name="T8" fmla="*/ 15 w 26"/>
                <a:gd name="T9" fmla="*/ 19 h 25"/>
                <a:gd name="T10" fmla="*/ 13 w 26"/>
                <a:gd name="T11" fmla="*/ 17 h 25"/>
                <a:gd name="T12" fmla="*/ 11 w 26"/>
                <a:gd name="T13" fmla="*/ 13 h 25"/>
                <a:gd name="T14" fmla="*/ 9 w 26"/>
                <a:gd name="T15" fmla="*/ 11 h 25"/>
                <a:gd name="T16" fmla="*/ 7 w 26"/>
                <a:gd name="T17" fmla="*/ 10 h 25"/>
                <a:gd name="T18" fmla="*/ 4 w 26"/>
                <a:gd name="T19" fmla="*/ 9 h 25"/>
                <a:gd name="T20" fmla="*/ 3 w 26"/>
                <a:gd name="T21" fmla="*/ 9 h 25"/>
                <a:gd name="T22" fmla="*/ 2 w 26"/>
                <a:gd name="T23" fmla="*/ 10 h 25"/>
                <a:gd name="T24" fmla="*/ 2 w 26"/>
                <a:gd name="T25" fmla="*/ 11 h 25"/>
                <a:gd name="T26" fmla="*/ 1 w 26"/>
                <a:gd name="T27" fmla="*/ 12 h 25"/>
                <a:gd name="T28" fmla="*/ 0 w 26"/>
                <a:gd name="T29" fmla="*/ 11 h 25"/>
                <a:gd name="T30" fmla="*/ 4 w 26"/>
                <a:gd name="T31" fmla="*/ 0 h 25"/>
                <a:gd name="T32" fmla="*/ 5 w 26"/>
                <a:gd name="T33" fmla="*/ 1 h 25"/>
                <a:gd name="T34" fmla="*/ 5 w 26"/>
                <a:gd name="T35" fmla="*/ 2 h 25"/>
                <a:gd name="T36" fmla="*/ 5 w 26"/>
                <a:gd name="T37" fmla="*/ 3 h 25"/>
                <a:gd name="T38" fmla="*/ 5 w 26"/>
                <a:gd name="T39" fmla="*/ 4 h 25"/>
                <a:gd name="T40" fmla="*/ 6 w 26"/>
                <a:gd name="T41" fmla="*/ 4 h 25"/>
                <a:gd name="T42" fmla="*/ 9 w 26"/>
                <a:gd name="T43" fmla="*/ 6 h 25"/>
                <a:gd name="T44" fmla="*/ 10 w 26"/>
                <a:gd name="T45" fmla="*/ 6 h 25"/>
                <a:gd name="T46" fmla="*/ 11 w 26"/>
                <a:gd name="T47" fmla="*/ 6 h 25"/>
                <a:gd name="T48" fmla="*/ 12 w 26"/>
                <a:gd name="T49" fmla="*/ 6 h 25"/>
                <a:gd name="T50" fmla="*/ 13 w 26"/>
                <a:gd name="T51" fmla="*/ 6 h 25"/>
                <a:gd name="T52" fmla="*/ 17 w 26"/>
                <a:gd name="T53" fmla="*/ 5 h 25"/>
                <a:gd name="T54" fmla="*/ 21 w 26"/>
                <a:gd name="T55" fmla="*/ 4 h 25"/>
                <a:gd name="T56" fmla="*/ 23 w 26"/>
                <a:gd name="T57" fmla="*/ 4 h 25"/>
                <a:gd name="T58" fmla="*/ 24 w 26"/>
                <a:gd name="T59" fmla="*/ 3 h 25"/>
                <a:gd name="T60" fmla="*/ 25 w 26"/>
                <a:gd name="T61" fmla="*/ 3 h 25"/>
                <a:gd name="T62" fmla="*/ 25 w 26"/>
                <a:gd name="T63" fmla="*/ 2 h 25"/>
                <a:gd name="T64" fmla="*/ 26 w 26"/>
                <a:gd name="T65" fmla="*/ 2 h 25"/>
                <a:gd name="T66" fmla="*/ 22 w 26"/>
                <a:gd name="T67" fmla="*/ 13 h 25"/>
                <a:gd name="T68" fmla="*/ 21 w 26"/>
                <a:gd name="T69" fmla="*/ 13 h 25"/>
                <a:gd name="T70" fmla="*/ 21 w 26"/>
                <a:gd name="T71" fmla="*/ 11 h 25"/>
                <a:gd name="T72" fmla="*/ 21 w 26"/>
                <a:gd name="T73" fmla="*/ 10 h 25"/>
                <a:gd name="T74" fmla="*/ 20 w 26"/>
                <a:gd name="T75" fmla="*/ 10 h 25"/>
                <a:gd name="T76" fmla="*/ 19 w 26"/>
                <a:gd name="T77" fmla="*/ 10 h 25"/>
                <a:gd name="T78" fmla="*/ 16 w 26"/>
                <a:gd name="T79" fmla="*/ 11 h 25"/>
                <a:gd name="T80" fmla="*/ 11 w 26"/>
                <a:gd name="T81" fmla="*/ 11 h 25"/>
                <a:gd name="T82" fmla="*/ 16 w 26"/>
                <a:gd name="T83" fmla="*/ 17 h 25"/>
                <a:gd name="T84" fmla="*/ 17 w 26"/>
                <a:gd name="T85" fmla="*/ 19 h 25"/>
                <a:gd name="T86" fmla="*/ 18 w 26"/>
                <a:gd name="T87" fmla="*/ 19 h 25"/>
                <a:gd name="T88" fmla="*/ 19 w 26"/>
                <a:gd name="T89" fmla="*/ 17 h 25"/>
                <a:gd name="T90" fmla="*/ 20 w 26"/>
                <a:gd name="T91" fmla="*/ 17 h 25"/>
                <a:gd name="T92" fmla="*/ 18 w 26"/>
                <a:gd name="T93" fmla="*/ 25 h 25"/>
                <a:gd name="T94" fmla="*/ 16 w 26"/>
                <a:gd name="T95"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25">
                  <a:moveTo>
                    <a:pt x="16" y="24"/>
                  </a:moveTo>
                  <a:cubicBezTo>
                    <a:pt x="17" y="24"/>
                    <a:pt x="17" y="23"/>
                    <a:pt x="17" y="23"/>
                  </a:cubicBezTo>
                  <a:cubicBezTo>
                    <a:pt x="17" y="23"/>
                    <a:pt x="17" y="23"/>
                    <a:pt x="17" y="22"/>
                  </a:cubicBezTo>
                  <a:cubicBezTo>
                    <a:pt x="16" y="22"/>
                    <a:pt x="16" y="21"/>
                    <a:pt x="16" y="21"/>
                  </a:cubicBezTo>
                  <a:cubicBezTo>
                    <a:pt x="16" y="20"/>
                    <a:pt x="16" y="20"/>
                    <a:pt x="15" y="19"/>
                  </a:cubicBezTo>
                  <a:cubicBezTo>
                    <a:pt x="15" y="19"/>
                    <a:pt x="14" y="18"/>
                    <a:pt x="13" y="17"/>
                  </a:cubicBezTo>
                  <a:cubicBezTo>
                    <a:pt x="12" y="15"/>
                    <a:pt x="12" y="14"/>
                    <a:pt x="11" y="13"/>
                  </a:cubicBezTo>
                  <a:cubicBezTo>
                    <a:pt x="10" y="12"/>
                    <a:pt x="10" y="12"/>
                    <a:pt x="9" y="11"/>
                  </a:cubicBezTo>
                  <a:cubicBezTo>
                    <a:pt x="9" y="11"/>
                    <a:pt x="8" y="11"/>
                    <a:pt x="7" y="10"/>
                  </a:cubicBezTo>
                  <a:cubicBezTo>
                    <a:pt x="4" y="9"/>
                    <a:pt x="4" y="9"/>
                    <a:pt x="4" y="9"/>
                  </a:cubicBezTo>
                  <a:cubicBezTo>
                    <a:pt x="4" y="9"/>
                    <a:pt x="4" y="9"/>
                    <a:pt x="3" y="9"/>
                  </a:cubicBezTo>
                  <a:cubicBezTo>
                    <a:pt x="3" y="9"/>
                    <a:pt x="3" y="9"/>
                    <a:pt x="2" y="10"/>
                  </a:cubicBezTo>
                  <a:cubicBezTo>
                    <a:pt x="2" y="10"/>
                    <a:pt x="2" y="10"/>
                    <a:pt x="2" y="11"/>
                  </a:cubicBezTo>
                  <a:cubicBezTo>
                    <a:pt x="1" y="11"/>
                    <a:pt x="1" y="11"/>
                    <a:pt x="1" y="12"/>
                  </a:cubicBezTo>
                  <a:cubicBezTo>
                    <a:pt x="0" y="11"/>
                    <a:pt x="0" y="11"/>
                    <a:pt x="0" y="11"/>
                  </a:cubicBezTo>
                  <a:cubicBezTo>
                    <a:pt x="4" y="0"/>
                    <a:pt x="4" y="0"/>
                    <a:pt x="4" y="0"/>
                  </a:cubicBezTo>
                  <a:cubicBezTo>
                    <a:pt x="5" y="1"/>
                    <a:pt x="5" y="1"/>
                    <a:pt x="5" y="1"/>
                  </a:cubicBezTo>
                  <a:cubicBezTo>
                    <a:pt x="5" y="1"/>
                    <a:pt x="5" y="1"/>
                    <a:pt x="5" y="2"/>
                  </a:cubicBezTo>
                  <a:cubicBezTo>
                    <a:pt x="5" y="2"/>
                    <a:pt x="5" y="3"/>
                    <a:pt x="5" y="3"/>
                  </a:cubicBezTo>
                  <a:cubicBezTo>
                    <a:pt x="5" y="3"/>
                    <a:pt x="5" y="4"/>
                    <a:pt x="5" y="4"/>
                  </a:cubicBezTo>
                  <a:cubicBezTo>
                    <a:pt x="5" y="4"/>
                    <a:pt x="6" y="4"/>
                    <a:pt x="6" y="4"/>
                  </a:cubicBezTo>
                  <a:cubicBezTo>
                    <a:pt x="9" y="6"/>
                    <a:pt x="9" y="6"/>
                    <a:pt x="9" y="6"/>
                  </a:cubicBezTo>
                  <a:cubicBezTo>
                    <a:pt x="10" y="6"/>
                    <a:pt x="10" y="6"/>
                    <a:pt x="10" y="6"/>
                  </a:cubicBezTo>
                  <a:cubicBezTo>
                    <a:pt x="11" y="6"/>
                    <a:pt x="11" y="6"/>
                    <a:pt x="11" y="6"/>
                  </a:cubicBezTo>
                  <a:cubicBezTo>
                    <a:pt x="11" y="6"/>
                    <a:pt x="11" y="6"/>
                    <a:pt x="12" y="6"/>
                  </a:cubicBezTo>
                  <a:cubicBezTo>
                    <a:pt x="12" y="6"/>
                    <a:pt x="12" y="6"/>
                    <a:pt x="13" y="6"/>
                  </a:cubicBezTo>
                  <a:cubicBezTo>
                    <a:pt x="14" y="6"/>
                    <a:pt x="16" y="5"/>
                    <a:pt x="17" y="5"/>
                  </a:cubicBezTo>
                  <a:cubicBezTo>
                    <a:pt x="19" y="5"/>
                    <a:pt x="20" y="5"/>
                    <a:pt x="21" y="4"/>
                  </a:cubicBezTo>
                  <a:cubicBezTo>
                    <a:pt x="22" y="4"/>
                    <a:pt x="22" y="4"/>
                    <a:pt x="23" y="4"/>
                  </a:cubicBezTo>
                  <a:cubicBezTo>
                    <a:pt x="23" y="4"/>
                    <a:pt x="24" y="4"/>
                    <a:pt x="24" y="3"/>
                  </a:cubicBezTo>
                  <a:cubicBezTo>
                    <a:pt x="24" y="3"/>
                    <a:pt x="24" y="3"/>
                    <a:pt x="25" y="3"/>
                  </a:cubicBezTo>
                  <a:cubicBezTo>
                    <a:pt x="25" y="2"/>
                    <a:pt x="25" y="2"/>
                    <a:pt x="25" y="2"/>
                  </a:cubicBezTo>
                  <a:cubicBezTo>
                    <a:pt x="26" y="2"/>
                    <a:pt x="26" y="2"/>
                    <a:pt x="26" y="2"/>
                  </a:cubicBezTo>
                  <a:cubicBezTo>
                    <a:pt x="22" y="13"/>
                    <a:pt x="22" y="13"/>
                    <a:pt x="22" y="13"/>
                  </a:cubicBezTo>
                  <a:cubicBezTo>
                    <a:pt x="21" y="13"/>
                    <a:pt x="21" y="13"/>
                    <a:pt x="21" y="13"/>
                  </a:cubicBezTo>
                  <a:cubicBezTo>
                    <a:pt x="21" y="12"/>
                    <a:pt x="21" y="11"/>
                    <a:pt x="21" y="11"/>
                  </a:cubicBezTo>
                  <a:cubicBezTo>
                    <a:pt x="21" y="10"/>
                    <a:pt x="21" y="10"/>
                    <a:pt x="21" y="10"/>
                  </a:cubicBezTo>
                  <a:cubicBezTo>
                    <a:pt x="21" y="10"/>
                    <a:pt x="21" y="10"/>
                    <a:pt x="20" y="10"/>
                  </a:cubicBezTo>
                  <a:cubicBezTo>
                    <a:pt x="20" y="10"/>
                    <a:pt x="19" y="10"/>
                    <a:pt x="19" y="10"/>
                  </a:cubicBezTo>
                  <a:cubicBezTo>
                    <a:pt x="18" y="10"/>
                    <a:pt x="17" y="10"/>
                    <a:pt x="16" y="11"/>
                  </a:cubicBezTo>
                  <a:cubicBezTo>
                    <a:pt x="14" y="11"/>
                    <a:pt x="13" y="11"/>
                    <a:pt x="11" y="11"/>
                  </a:cubicBezTo>
                  <a:cubicBezTo>
                    <a:pt x="13" y="14"/>
                    <a:pt x="15" y="16"/>
                    <a:pt x="16" y="17"/>
                  </a:cubicBezTo>
                  <a:cubicBezTo>
                    <a:pt x="16" y="18"/>
                    <a:pt x="17" y="19"/>
                    <a:pt x="17" y="19"/>
                  </a:cubicBezTo>
                  <a:cubicBezTo>
                    <a:pt x="18" y="19"/>
                    <a:pt x="18" y="19"/>
                    <a:pt x="18" y="19"/>
                  </a:cubicBezTo>
                  <a:cubicBezTo>
                    <a:pt x="19" y="18"/>
                    <a:pt x="19" y="18"/>
                    <a:pt x="19" y="17"/>
                  </a:cubicBezTo>
                  <a:cubicBezTo>
                    <a:pt x="20" y="17"/>
                    <a:pt x="20" y="17"/>
                    <a:pt x="20" y="17"/>
                  </a:cubicBezTo>
                  <a:cubicBezTo>
                    <a:pt x="18" y="25"/>
                    <a:pt x="18" y="25"/>
                    <a:pt x="18" y="25"/>
                  </a:cubicBezTo>
                  <a:lnTo>
                    <a:pt x="16" y="2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27"/>
            <p:cNvSpPr>
              <a:spLocks noEditPoints="1"/>
            </p:cNvSpPr>
            <p:nvPr userDrawn="1"/>
          </p:nvSpPr>
          <p:spPr bwMode="auto">
            <a:xfrm>
              <a:off x="671464" y="673522"/>
              <a:ext cx="815975" cy="820738"/>
            </a:xfrm>
            <a:custGeom>
              <a:avLst/>
              <a:gdLst>
                <a:gd name="T0" fmla="*/ 108 w 217"/>
                <a:gd name="T1" fmla="*/ 217 h 217"/>
                <a:gd name="T2" fmla="*/ 108 w 217"/>
                <a:gd name="T3" fmla="*/ 0 h 217"/>
                <a:gd name="T4" fmla="*/ 92 w 217"/>
                <a:gd name="T5" fmla="*/ 18 h 217"/>
                <a:gd name="T6" fmla="*/ 84 w 217"/>
                <a:gd name="T7" fmla="*/ 38 h 217"/>
                <a:gd name="T8" fmla="*/ 27 w 217"/>
                <a:gd name="T9" fmla="*/ 67 h 217"/>
                <a:gd name="T10" fmla="*/ 38 w 217"/>
                <a:gd name="T11" fmla="*/ 80 h 217"/>
                <a:gd name="T12" fmla="*/ 84 w 217"/>
                <a:gd name="T13" fmla="*/ 74 h 217"/>
                <a:gd name="T14" fmla="*/ 21 w 217"/>
                <a:gd name="T15" fmla="*/ 128 h 217"/>
                <a:gd name="T16" fmla="*/ 23 w 217"/>
                <a:gd name="T17" fmla="*/ 139 h 217"/>
                <a:gd name="T18" fmla="*/ 63 w 217"/>
                <a:gd name="T19" fmla="*/ 104 h 217"/>
                <a:gd name="T20" fmla="*/ 101 w 217"/>
                <a:gd name="T21" fmla="*/ 80 h 217"/>
                <a:gd name="T22" fmla="*/ 101 w 217"/>
                <a:gd name="T23" fmla="*/ 27 h 217"/>
                <a:gd name="T24" fmla="*/ 92 w 217"/>
                <a:gd name="T25" fmla="*/ 18 h 217"/>
                <a:gd name="T26" fmla="*/ 116 w 217"/>
                <a:gd name="T27" fmla="*/ 27 h 217"/>
                <a:gd name="T28" fmla="*/ 116 w 217"/>
                <a:gd name="T29" fmla="*/ 80 h 217"/>
                <a:gd name="T30" fmla="*/ 154 w 217"/>
                <a:gd name="T31" fmla="*/ 104 h 217"/>
                <a:gd name="T32" fmla="*/ 193 w 217"/>
                <a:gd name="T33" fmla="*/ 139 h 217"/>
                <a:gd name="T34" fmla="*/ 196 w 217"/>
                <a:gd name="T35" fmla="*/ 128 h 217"/>
                <a:gd name="T36" fmla="*/ 133 w 217"/>
                <a:gd name="T37" fmla="*/ 74 h 217"/>
                <a:gd name="T38" fmla="*/ 178 w 217"/>
                <a:gd name="T39" fmla="*/ 80 h 217"/>
                <a:gd name="T40" fmla="*/ 189 w 217"/>
                <a:gd name="T41" fmla="*/ 67 h 217"/>
                <a:gd name="T42" fmla="*/ 133 w 217"/>
                <a:gd name="T43" fmla="*/ 38 h 217"/>
                <a:gd name="T44" fmla="*/ 124 w 217"/>
                <a:gd name="T45" fmla="*/ 18 h 217"/>
                <a:gd name="T46" fmla="*/ 176 w 217"/>
                <a:gd name="T47" fmla="*/ 164 h 217"/>
                <a:gd name="T48" fmla="*/ 148 w 217"/>
                <a:gd name="T49" fmla="*/ 122 h 217"/>
                <a:gd name="T50" fmla="*/ 117 w 217"/>
                <a:gd name="T51" fmla="*/ 105 h 217"/>
                <a:gd name="T52" fmla="*/ 108 w 217"/>
                <a:gd name="T53" fmla="*/ 92 h 217"/>
                <a:gd name="T54" fmla="*/ 100 w 217"/>
                <a:gd name="T55" fmla="*/ 105 h 217"/>
                <a:gd name="T56" fmla="*/ 68 w 217"/>
                <a:gd name="T57" fmla="*/ 122 h 217"/>
                <a:gd name="T58" fmla="*/ 41 w 217"/>
                <a:gd name="T59" fmla="*/ 164 h 217"/>
                <a:gd name="T60" fmla="*/ 56 w 217"/>
                <a:gd name="T61" fmla="*/ 171 h 217"/>
                <a:gd name="T62" fmla="*/ 100 w 217"/>
                <a:gd name="T63" fmla="*/ 122 h 217"/>
                <a:gd name="T64" fmla="*/ 95 w 217"/>
                <a:gd name="T65" fmla="*/ 143 h 217"/>
                <a:gd name="T66" fmla="*/ 82 w 217"/>
                <a:gd name="T67" fmla="*/ 154 h 217"/>
                <a:gd name="T68" fmla="*/ 75 w 217"/>
                <a:gd name="T69" fmla="*/ 194 h 217"/>
                <a:gd name="T70" fmla="*/ 95 w 217"/>
                <a:gd name="T71" fmla="*/ 164 h 217"/>
                <a:gd name="T72" fmla="*/ 121 w 217"/>
                <a:gd name="T73" fmla="*/ 164 h 217"/>
                <a:gd name="T74" fmla="*/ 141 w 217"/>
                <a:gd name="T75" fmla="*/ 194 h 217"/>
                <a:gd name="T76" fmla="*/ 134 w 217"/>
                <a:gd name="T77" fmla="*/ 154 h 217"/>
                <a:gd name="T78" fmla="*/ 122 w 217"/>
                <a:gd name="T79" fmla="*/ 143 h 217"/>
                <a:gd name="T80" fmla="*/ 117 w 217"/>
                <a:gd name="T81" fmla="*/ 122 h 217"/>
                <a:gd name="T82" fmla="*/ 160 w 217"/>
                <a:gd name="T83" fmla="*/ 171 h 217"/>
                <a:gd name="T84" fmla="*/ 176 w 217"/>
                <a:gd name="T85" fmla="*/ 16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7" h="217">
                  <a:moveTo>
                    <a:pt x="217" y="109"/>
                  </a:moveTo>
                  <a:cubicBezTo>
                    <a:pt x="217" y="169"/>
                    <a:pt x="168" y="217"/>
                    <a:pt x="108" y="217"/>
                  </a:cubicBezTo>
                  <a:cubicBezTo>
                    <a:pt x="48" y="217"/>
                    <a:pt x="0" y="169"/>
                    <a:pt x="0" y="109"/>
                  </a:cubicBezTo>
                  <a:cubicBezTo>
                    <a:pt x="0" y="49"/>
                    <a:pt x="48" y="0"/>
                    <a:pt x="108" y="0"/>
                  </a:cubicBezTo>
                  <a:cubicBezTo>
                    <a:pt x="168" y="0"/>
                    <a:pt x="217" y="49"/>
                    <a:pt x="217" y="109"/>
                  </a:cubicBezTo>
                  <a:close/>
                  <a:moveTo>
                    <a:pt x="92" y="18"/>
                  </a:moveTo>
                  <a:cubicBezTo>
                    <a:pt x="88" y="18"/>
                    <a:pt x="84" y="22"/>
                    <a:pt x="84" y="27"/>
                  </a:cubicBezTo>
                  <a:cubicBezTo>
                    <a:pt x="84" y="38"/>
                    <a:pt x="84" y="38"/>
                    <a:pt x="84" y="38"/>
                  </a:cubicBezTo>
                  <a:cubicBezTo>
                    <a:pt x="75" y="40"/>
                    <a:pt x="66" y="43"/>
                    <a:pt x="57" y="48"/>
                  </a:cubicBezTo>
                  <a:cubicBezTo>
                    <a:pt x="46" y="53"/>
                    <a:pt x="36" y="60"/>
                    <a:pt x="27" y="67"/>
                  </a:cubicBezTo>
                  <a:cubicBezTo>
                    <a:pt x="24" y="70"/>
                    <a:pt x="23" y="75"/>
                    <a:pt x="26" y="79"/>
                  </a:cubicBezTo>
                  <a:cubicBezTo>
                    <a:pt x="29" y="82"/>
                    <a:pt x="35" y="83"/>
                    <a:pt x="38" y="80"/>
                  </a:cubicBezTo>
                  <a:cubicBezTo>
                    <a:pt x="52" y="68"/>
                    <a:pt x="68" y="59"/>
                    <a:pt x="84" y="55"/>
                  </a:cubicBezTo>
                  <a:cubicBezTo>
                    <a:pt x="84" y="74"/>
                    <a:pt x="84" y="74"/>
                    <a:pt x="84" y="74"/>
                  </a:cubicBezTo>
                  <a:cubicBezTo>
                    <a:pt x="73" y="77"/>
                    <a:pt x="62" y="83"/>
                    <a:pt x="52" y="92"/>
                  </a:cubicBezTo>
                  <a:cubicBezTo>
                    <a:pt x="41" y="101"/>
                    <a:pt x="30" y="113"/>
                    <a:pt x="21" y="128"/>
                  </a:cubicBezTo>
                  <a:cubicBezTo>
                    <a:pt x="20" y="129"/>
                    <a:pt x="19" y="131"/>
                    <a:pt x="19" y="132"/>
                  </a:cubicBezTo>
                  <a:cubicBezTo>
                    <a:pt x="19" y="135"/>
                    <a:pt x="21" y="138"/>
                    <a:pt x="23" y="139"/>
                  </a:cubicBezTo>
                  <a:cubicBezTo>
                    <a:pt x="27" y="142"/>
                    <a:pt x="32" y="141"/>
                    <a:pt x="35" y="137"/>
                  </a:cubicBezTo>
                  <a:cubicBezTo>
                    <a:pt x="43" y="124"/>
                    <a:pt x="53" y="113"/>
                    <a:pt x="63" y="104"/>
                  </a:cubicBezTo>
                  <a:cubicBezTo>
                    <a:pt x="73" y="96"/>
                    <a:pt x="84" y="90"/>
                    <a:pt x="94" y="88"/>
                  </a:cubicBezTo>
                  <a:cubicBezTo>
                    <a:pt x="99" y="87"/>
                    <a:pt x="101" y="83"/>
                    <a:pt x="101" y="80"/>
                  </a:cubicBezTo>
                  <a:cubicBezTo>
                    <a:pt x="101" y="80"/>
                    <a:pt x="101" y="78"/>
                    <a:pt x="101" y="76"/>
                  </a:cubicBezTo>
                  <a:cubicBezTo>
                    <a:pt x="101" y="63"/>
                    <a:pt x="101" y="27"/>
                    <a:pt x="101" y="27"/>
                  </a:cubicBezTo>
                  <a:cubicBezTo>
                    <a:pt x="101" y="27"/>
                    <a:pt x="101" y="27"/>
                    <a:pt x="101" y="27"/>
                  </a:cubicBezTo>
                  <a:cubicBezTo>
                    <a:pt x="101" y="22"/>
                    <a:pt x="97" y="18"/>
                    <a:pt x="92" y="18"/>
                  </a:cubicBezTo>
                  <a:close/>
                  <a:moveTo>
                    <a:pt x="116" y="27"/>
                  </a:moveTo>
                  <a:cubicBezTo>
                    <a:pt x="116" y="27"/>
                    <a:pt x="116" y="27"/>
                    <a:pt x="116" y="27"/>
                  </a:cubicBezTo>
                  <a:cubicBezTo>
                    <a:pt x="116" y="27"/>
                    <a:pt x="116" y="63"/>
                    <a:pt x="116" y="76"/>
                  </a:cubicBezTo>
                  <a:cubicBezTo>
                    <a:pt x="116" y="78"/>
                    <a:pt x="116" y="80"/>
                    <a:pt x="116" y="80"/>
                  </a:cubicBezTo>
                  <a:cubicBezTo>
                    <a:pt x="116" y="83"/>
                    <a:pt x="118" y="87"/>
                    <a:pt x="122" y="88"/>
                  </a:cubicBezTo>
                  <a:cubicBezTo>
                    <a:pt x="132" y="90"/>
                    <a:pt x="143" y="96"/>
                    <a:pt x="154" y="104"/>
                  </a:cubicBezTo>
                  <a:cubicBezTo>
                    <a:pt x="164" y="113"/>
                    <a:pt x="173" y="124"/>
                    <a:pt x="182" y="137"/>
                  </a:cubicBezTo>
                  <a:cubicBezTo>
                    <a:pt x="184" y="141"/>
                    <a:pt x="189" y="142"/>
                    <a:pt x="193" y="139"/>
                  </a:cubicBezTo>
                  <a:cubicBezTo>
                    <a:pt x="196" y="138"/>
                    <a:pt x="197" y="135"/>
                    <a:pt x="197" y="132"/>
                  </a:cubicBezTo>
                  <a:cubicBezTo>
                    <a:pt x="197" y="131"/>
                    <a:pt x="197" y="129"/>
                    <a:pt x="196" y="128"/>
                  </a:cubicBezTo>
                  <a:cubicBezTo>
                    <a:pt x="186" y="113"/>
                    <a:pt x="176" y="101"/>
                    <a:pt x="164" y="92"/>
                  </a:cubicBezTo>
                  <a:cubicBezTo>
                    <a:pt x="154" y="83"/>
                    <a:pt x="144" y="77"/>
                    <a:pt x="133" y="74"/>
                  </a:cubicBezTo>
                  <a:cubicBezTo>
                    <a:pt x="133" y="55"/>
                    <a:pt x="133" y="55"/>
                    <a:pt x="133" y="55"/>
                  </a:cubicBezTo>
                  <a:cubicBezTo>
                    <a:pt x="148" y="59"/>
                    <a:pt x="165" y="68"/>
                    <a:pt x="178" y="80"/>
                  </a:cubicBezTo>
                  <a:cubicBezTo>
                    <a:pt x="182" y="83"/>
                    <a:pt x="187" y="82"/>
                    <a:pt x="190" y="79"/>
                  </a:cubicBezTo>
                  <a:cubicBezTo>
                    <a:pt x="193" y="75"/>
                    <a:pt x="193" y="70"/>
                    <a:pt x="189" y="67"/>
                  </a:cubicBezTo>
                  <a:cubicBezTo>
                    <a:pt x="180" y="60"/>
                    <a:pt x="170" y="53"/>
                    <a:pt x="160" y="48"/>
                  </a:cubicBezTo>
                  <a:cubicBezTo>
                    <a:pt x="151" y="43"/>
                    <a:pt x="142" y="40"/>
                    <a:pt x="133" y="38"/>
                  </a:cubicBezTo>
                  <a:cubicBezTo>
                    <a:pt x="133" y="27"/>
                    <a:pt x="133" y="27"/>
                    <a:pt x="133" y="27"/>
                  </a:cubicBezTo>
                  <a:cubicBezTo>
                    <a:pt x="133" y="22"/>
                    <a:pt x="129" y="18"/>
                    <a:pt x="124" y="18"/>
                  </a:cubicBezTo>
                  <a:cubicBezTo>
                    <a:pt x="119" y="18"/>
                    <a:pt x="116" y="22"/>
                    <a:pt x="116" y="27"/>
                  </a:cubicBezTo>
                  <a:close/>
                  <a:moveTo>
                    <a:pt x="176" y="164"/>
                  </a:moveTo>
                  <a:cubicBezTo>
                    <a:pt x="172" y="156"/>
                    <a:pt x="168" y="148"/>
                    <a:pt x="164" y="141"/>
                  </a:cubicBezTo>
                  <a:cubicBezTo>
                    <a:pt x="159" y="134"/>
                    <a:pt x="154" y="128"/>
                    <a:pt x="148" y="122"/>
                  </a:cubicBezTo>
                  <a:cubicBezTo>
                    <a:pt x="142" y="117"/>
                    <a:pt x="136" y="112"/>
                    <a:pt x="130" y="110"/>
                  </a:cubicBezTo>
                  <a:cubicBezTo>
                    <a:pt x="126" y="108"/>
                    <a:pt x="121" y="106"/>
                    <a:pt x="117" y="105"/>
                  </a:cubicBezTo>
                  <a:cubicBezTo>
                    <a:pt x="117" y="100"/>
                    <a:pt x="117" y="100"/>
                    <a:pt x="117" y="100"/>
                  </a:cubicBezTo>
                  <a:cubicBezTo>
                    <a:pt x="117" y="96"/>
                    <a:pt x="113" y="92"/>
                    <a:pt x="108" y="92"/>
                  </a:cubicBezTo>
                  <a:cubicBezTo>
                    <a:pt x="104" y="92"/>
                    <a:pt x="100" y="96"/>
                    <a:pt x="100" y="100"/>
                  </a:cubicBezTo>
                  <a:cubicBezTo>
                    <a:pt x="100" y="105"/>
                    <a:pt x="100" y="105"/>
                    <a:pt x="100" y="105"/>
                  </a:cubicBezTo>
                  <a:cubicBezTo>
                    <a:pt x="95" y="106"/>
                    <a:pt x="91" y="108"/>
                    <a:pt x="87" y="110"/>
                  </a:cubicBezTo>
                  <a:cubicBezTo>
                    <a:pt x="80" y="112"/>
                    <a:pt x="74" y="117"/>
                    <a:pt x="68" y="122"/>
                  </a:cubicBezTo>
                  <a:cubicBezTo>
                    <a:pt x="63" y="128"/>
                    <a:pt x="58" y="134"/>
                    <a:pt x="53" y="141"/>
                  </a:cubicBezTo>
                  <a:cubicBezTo>
                    <a:pt x="48" y="148"/>
                    <a:pt x="44" y="156"/>
                    <a:pt x="41" y="164"/>
                  </a:cubicBezTo>
                  <a:cubicBezTo>
                    <a:pt x="39" y="168"/>
                    <a:pt x="41" y="173"/>
                    <a:pt x="45" y="175"/>
                  </a:cubicBezTo>
                  <a:cubicBezTo>
                    <a:pt x="49" y="177"/>
                    <a:pt x="54" y="175"/>
                    <a:pt x="56" y="171"/>
                  </a:cubicBezTo>
                  <a:cubicBezTo>
                    <a:pt x="63" y="155"/>
                    <a:pt x="71" y="143"/>
                    <a:pt x="80" y="134"/>
                  </a:cubicBezTo>
                  <a:cubicBezTo>
                    <a:pt x="86" y="128"/>
                    <a:pt x="93" y="124"/>
                    <a:pt x="100" y="122"/>
                  </a:cubicBezTo>
                  <a:cubicBezTo>
                    <a:pt x="100" y="136"/>
                    <a:pt x="100" y="136"/>
                    <a:pt x="100" y="136"/>
                  </a:cubicBezTo>
                  <a:cubicBezTo>
                    <a:pt x="100" y="141"/>
                    <a:pt x="96" y="142"/>
                    <a:pt x="95" y="143"/>
                  </a:cubicBezTo>
                  <a:cubicBezTo>
                    <a:pt x="94" y="144"/>
                    <a:pt x="93" y="144"/>
                    <a:pt x="93" y="145"/>
                  </a:cubicBezTo>
                  <a:cubicBezTo>
                    <a:pt x="89" y="147"/>
                    <a:pt x="86" y="150"/>
                    <a:pt x="82" y="154"/>
                  </a:cubicBezTo>
                  <a:cubicBezTo>
                    <a:pt x="76" y="162"/>
                    <a:pt x="71" y="173"/>
                    <a:pt x="69" y="185"/>
                  </a:cubicBezTo>
                  <a:cubicBezTo>
                    <a:pt x="68" y="189"/>
                    <a:pt x="71" y="193"/>
                    <a:pt x="75" y="194"/>
                  </a:cubicBezTo>
                  <a:cubicBezTo>
                    <a:pt x="80" y="195"/>
                    <a:pt x="84" y="193"/>
                    <a:pt x="85" y="188"/>
                  </a:cubicBezTo>
                  <a:cubicBezTo>
                    <a:pt x="87" y="179"/>
                    <a:pt x="91" y="170"/>
                    <a:pt x="95" y="164"/>
                  </a:cubicBezTo>
                  <a:cubicBezTo>
                    <a:pt x="98" y="161"/>
                    <a:pt x="103" y="156"/>
                    <a:pt x="108" y="156"/>
                  </a:cubicBezTo>
                  <a:cubicBezTo>
                    <a:pt x="114" y="156"/>
                    <a:pt x="119" y="161"/>
                    <a:pt x="121" y="164"/>
                  </a:cubicBezTo>
                  <a:cubicBezTo>
                    <a:pt x="126" y="170"/>
                    <a:pt x="129" y="179"/>
                    <a:pt x="131" y="188"/>
                  </a:cubicBezTo>
                  <a:cubicBezTo>
                    <a:pt x="132" y="193"/>
                    <a:pt x="137" y="195"/>
                    <a:pt x="141" y="194"/>
                  </a:cubicBezTo>
                  <a:cubicBezTo>
                    <a:pt x="146" y="193"/>
                    <a:pt x="149" y="189"/>
                    <a:pt x="148" y="185"/>
                  </a:cubicBezTo>
                  <a:cubicBezTo>
                    <a:pt x="145" y="173"/>
                    <a:pt x="140" y="162"/>
                    <a:pt x="134" y="154"/>
                  </a:cubicBezTo>
                  <a:cubicBezTo>
                    <a:pt x="131" y="150"/>
                    <a:pt x="127" y="147"/>
                    <a:pt x="124" y="145"/>
                  </a:cubicBezTo>
                  <a:cubicBezTo>
                    <a:pt x="123" y="144"/>
                    <a:pt x="122" y="144"/>
                    <a:pt x="122" y="143"/>
                  </a:cubicBezTo>
                  <a:cubicBezTo>
                    <a:pt x="120" y="142"/>
                    <a:pt x="117" y="141"/>
                    <a:pt x="117" y="136"/>
                  </a:cubicBezTo>
                  <a:cubicBezTo>
                    <a:pt x="117" y="122"/>
                    <a:pt x="117" y="122"/>
                    <a:pt x="117" y="122"/>
                  </a:cubicBezTo>
                  <a:cubicBezTo>
                    <a:pt x="124" y="124"/>
                    <a:pt x="130" y="128"/>
                    <a:pt x="137" y="134"/>
                  </a:cubicBezTo>
                  <a:cubicBezTo>
                    <a:pt x="146" y="143"/>
                    <a:pt x="154" y="155"/>
                    <a:pt x="160" y="171"/>
                  </a:cubicBezTo>
                  <a:cubicBezTo>
                    <a:pt x="162" y="175"/>
                    <a:pt x="167" y="177"/>
                    <a:pt x="171" y="175"/>
                  </a:cubicBezTo>
                  <a:cubicBezTo>
                    <a:pt x="176" y="173"/>
                    <a:pt x="178" y="168"/>
                    <a:pt x="176" y="16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28"/>
            <p:cNvSpPr>
              <a:spLocks noEditPoints="1"/>
            </p:cNvSpPr>
            <p:nvPr userDrawn="1"/>
          </p:nvSpPr>
          <p:spPr bwMode="auto">
            <a:xfrm>
              <a:off x="1924001" y="1452985"/>
              <a:ext cx="146050" cy="192088"/>
            </a:xfrm>
            <a:custGeom>
              <a:avLst/>
              <a:gdLst>
                <a:gd name="T0" fmla="*/ 39 w 39"/>
                <a:gd name="T1" fmla="*/ 13 h 51"/>
                <a:gd name="T2" fmla="*/ 37 w 39"/>
                <a:gd name="T3" fmla="*/ 20 h 51"/>
                <a:gd name="T4" fmla="*/ 33 w 39"/>
                <a:gd name="T5" fmla="*/ 25 h 51"/>
                <a:gd name="T6" fmla="*/ 27 w 39"/>
                <a:gd name="T7" fmla="*/ 28 h 51"/>
                <a:gd name="T8" fmla="*/ 20 w 39"/>
                <a:gd name="T9" fmla="*/ 29 h 51"/>
                <a:gd name="T10" fmla="*/ 14 w 39"/>
                <a:gd name="T11" fmla="*/ 29 h 51"/>
                <a:gd name="T12" fmla="*/ 14 w 39"/>
                <a:gd name="T13" fmla="*/ 44 h 51"/>
                <a:gd name="T14" fmla="*/ 15 w 39"/>
                <a:gd name="T15" fmla="*/ 47 h 51"/>
                <a:gd name="T16" fmla="*/ 17 w 39"/>
                <a:gd name="T17" fmla="*/ 48 h 51"/>
                <a:gd name="T18" fmla="*/ 19 w 39"/>
                <a:gd name="T19" fmla="*/ 49 h 51"/>
                <a:gd name="T20" fmla="*/ 22 w 39"/>
                <a:gd name="T21" fmla="*/ 49 h 51"/>
                <a:gd name="T22" fmla="*/ 22 w 39"/>
                <a:gd name="T23" fmla="*/ 51 h 51"/>
                <a:gd name="T24" fmla="*/ 0 w 39"/>
                <a:gd name="T25" fmla="*/ 51 h 51"/>
                <a:gd name="T26" fmla="*/ 0 w 39"/>
                <a:gd name="T27" fmla="*/ 49 h 51"/>
                <a:gd name="T28" fmla="*/ 3 w 39"/>
                <a:gd name="T29" fmla="*/ 49 h 51"/>
                <a:gd name="T30" fmla="*/ 5 w 39"/>
                <a:gd name="T31" fmla="*/ 48 h 51"/>
                <a:gd name="T32" fmla="*/ 6 w 39"/>
                <a:gd name="T33" fmla="*/ 47 h 51"/>
                <a:gd name="T34" fmla="*/ 7 w 39"/>
                <a:gd name="T35" fmla="*/ 44 h 51"/>
                <a:gd name="T36" fmla="*/ 7 w 39"/>
                <a:gd name="T37" fmla="*/ 8 h 51"/>
                <a:gd name="T38" fmla="*/ 6 w 39"/>
                <a:gd name="T39" fmla="*/ 5 h 51"/>
                <a:gd name="T40" fmla="*/ 5 w 39"/>
                <a:gd name="T41" fmla="*/ 4 h 51"/>
                <a:gd name="T42" fmla="*/ 2 w 39"/>
                <a:gd name="T43" fmla="*/ 3 h 51"/>
                <a:gd name="T44" fmla="*/ 0 w 39"/>
                <a:gd name="T45" fmla="*/ 3 h 51"/>
                <a:gd name="T46" fmla="*/ 0 w 39"/>
                <a:gd name="T47" fmla="*/ 0 h 51"/>
                <a:gd name="T48" fmla="*/ 23 w 39"/>
                <a:gd name="T49" fmla="*/ 0 h 51"/>
                <a:gd name="T50" fmla="*/ 35 w 39"/>
                <a:gd name="T51" fmla="*/ 4 h 51"/>
                <a:gd name="T52" fmla="*/ 39 w 39"/>
                <a:gd name="T53" fmla="*/ 13 h 51"/>
                <a:gd name="T54" fmla="*/ 28 w 39"/>
                <a:gd name="T55" fmla="*/ 22 h 51"/>
                <a:gd name="T56" fmla="*/ 30 w 39"/>
                <a:gd name="T57" fmla="*/ 18 h 51"/>
                <a:gd name="T58" fmla="*/ 30 w 39"/>
                <a:gd name="T59" fmla="*/ 15 h 51"/>
                <a:gd name="T60" fmla="*/ 30 w 39"/>
                <a:gd name="T61" fmla="*/ 11 h 51"/>
                <a:gd name="T62" fmla="*/ 28 w 39"/>
                <a:gd name="T63" fmla="*/ 7 h 51"/>
                <a:gd name="T64" fmla="*/ 25 w 39"/>
                <a:gd name="T65" fmla="*/ 4 h 51"/>
                <a:gd name="T66" fmla="*/ 20 w 39"/>
                <a:gd name="T67" fmla="*/ 3 h 51"/>
                <a:gd name="T68" fmla="*/ 14 w 39"/>
                <a:gd name="T69" fmla="*/ 3 h 51"/>
                <a:gd name="T70" fmla="*/ 14 w 39"/>
                <a:gd name="T71" fmla="*/ 26 h 51"/>
                <a:gd name="T72" fmla="*/ 18 w 39"/>
                <a:gd name="T73" fmla="*/ 26 h 51"/>
                <a:gd name="T74" fmla="*/ 24 w 39"/>
                <a:gd name="T75" fmla="*/ 25 h 51"/>
                <a:gd name="T76" fmla="*/ 28 w 39"/>
                <a:gd name="T77"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9" h="51">
                  <a:moveTo>
                    <a:pt x="39" y="13"/>
                  </a:moveTo>
                  <a:cubicBezTo>
                    <a:pt x="39" y="16"/>
                    <a:pt x="38" y="18"/>
                    <a:pt x="37" y="20"/>
                  </a:cubicBezTo>
                  <a:cubicBezTo>
                    <a:pt x="36" y="22"/>
                    <a:pt x="35" y="24"/>
                    <a:pt x="33" y="25"/>
                  </a:cubicBezTo>
                  <a:cubicBezTo>
                    <a:pt x="31" y="27"/>
                    <a:pt x="29" y="28"/>
                    <a:pt x="27" y="28"/>
                  </a:cubicBezTo>
                  <a:cubicBezTo>
                    <a:pt x="25" y="29"/>
                    <a:pt x="23" y="29"/>
                    <a:pt x="20" y="29"/>
                  </a:cubicBezTo>
                  <a:cubicBezTo>
                    <a:pt x="14" y="29"/>
                    <a:pt x="14" y="29"/>
                    <a:pt x="14" y="29"/>
                  </a:cubicBezTo>
                  <a:cubicBezTo>
                    <a:pt x="14" y="44"/>
                    <a:pt x="14" y="44"/>
                    <a:pt x="14" y="44"/>
                  </a:cubicBezTo>
                  <a:cubicBezTo>
                    <a:pt x="14"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6" y="5"/>
                  </a:cubicBezTo>
                  <a:cubicBezTo>
                    <a:pt x="6" y="5"/>
                    <a:pt x="6" y="4"/>
                    <a:pt x="5" y="4"/>
                  </a:cubicBezTo>
                  <a:cubicBezTo>
                    <a:pt x="4" y="4"/>
                    <a:pt x="3" y="3"/>
                    <a:pt x="2" y="3"/>
                  </a:cubicBezTo>
                  <a:cubicBezTo>
                    <a:pt x="1" y="3"/>
                    <a:pt x="0" y="3"/>
                    <a:pt x="0" y="3"/>
                  </a:cubicBezTo>
                  <a:cubicBezTo>
                    <a:pt x="0" y="0"/>
                    <a:pt x="0" y="0"/>
                    <a:pt x="0" y="0"/>
                  </a:cubicBezTo>
                  <a:cubicBezTo>
                    <a:pt x="23" y="0"/>
                    <a:pt x="23" y="0"/>
                    <a:pt x="23" y="0"/>
                  </a:cubicBezTo>
                  <a:cubicBezTo>
                    <a:pt x="28" y="0"/>
                    <a:pt x="32" y="2"/>
                    <a:pt x="35" y="4"/>
                  </a:cubicBezTo>
                  <a:cubicBezTo>
                    <a:pt x="37" y="6"/>
                    <a:pt x="39" y="9"/>
                    <a:pt x="39" y="13"/>
                  </a:cubicBezTo>
                  <a:close/>
                  <a:moveTo>
                    <a:pt x="28" y="22"/>
                  </a:moveTo>
                  <a:cubicBezTo>
                    <a:pt x="29" y="21"/>
                    <a:pt x="29" y="19"/>
                    <a:pt x="30" y="18"/>
                  </a:cubicBezTo>
                  <a:cubicBezTo>
                    <a:pt x="30" y="17"/>
                    <a:pt x="30" y="16"/>
                    <a:pt x="30" y="15"/>
                  </a:cubicBezTo>
                  <a:cubicBezTo>
                    <a:pt x="30" y="13"/>
                    <a:pt x="30" y="12"/>
                    <a:pt x="30" y="11"/>
                  </a:cubicBezTo>
                  <a:cubicBezTo>
                    <a:pt x="29" y="9"/>
                    <a:pt x="29" y="8"/>
                    <a:pt x="28" y="7"/>
                  </a:cubicBezTo>
                  <a:cubicBezTo>
                    <a:pt x="27" y="6"/>
                    <a:pt x="26" y="5"/>
                    <a:pt x="25" y="4"/>
                  </a:cubicBezTo>
                  <a:cubicBezTo>
                    <a:pt x="23" y="4"/>
                    <a:pt x="22" y="3"/>
                    <a:pt x="20" y="3"/>
                  </a:cubicBezTo>
                  <a:cubicBezTo>
                    <a:pt x="14" y="3"/>
                    <a:pt x="14" y="3"/>
                    <a:pt x="14" y="3"/>
                  </a:cubicBezTo>
                  <a:cubicBezTo>
                    <a:pt x="14" y="26"/>
                    <a:pt x="14" y="26"/>
                    <a:pt x="14" y="26"/>
                  </a:cubicBezTo>
                  <a:cubicBezTo>
                    <a:pt x="18" y="26"/>
                    <a:pt x="18" y="26"/>
                    <a:pt x="18" y="26"/>
                  </a:cubicBezTo>
                  <a:cubicBezTo>
                    <a:pt x="21" y="26"/>
                    <a:pt x="23" y="25"/>
                    <a:pt x="24" y="25"/>
                  </a:cubicBezTo>
                  <a:cubicBezTo>
                    <a:pt x="26" y="24"/>
                    <a:pt x="27" y="23"/>
                    <a:pt x="28" y="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Freeform 29"/>
            <p:cNvSpPr/>
            <p:nvPr userDrawn="1"/>
          </p:nvSpPr>
          <p:spPr bwMode="auto">
            <a:xfrm>
              <a:off x="2089101" y="1452985"/>
              <a:ext cx="165100" cy="192088"/>
            </a:xfrm>
            <a:custGeom>
              <a:avLst/>
              <a:gdLst>
                <a:gd name="T0" fmla="*/ 44 w 44"/>
                <a:gd name="T1" fmla="*/ 36 h 51"/>
                <a:gd name="T2" fmla="*/ 43 w 44"/>
                <a:gd name="T3" fmla="*/ 51 h 51"/>
                <a:gd name="T4" fmla="*/ 0 w 44"/>
                <a:gd name="T5" fmla="*/ 51 h 51"/>
                <a:gd name="T6" fmla="*/ 0 w 44"/>
                <a:gd name="T7" fmla="*/ 49 h 51"/>
                <a:gd name="T8" fmla="*/ 3 w 44"/>
                <a:gd name="T9" fmla="*/ 49 h 51"/>
                <a:gd name="T10" fmla="*/ 6 w 44"/>
                <a:gd name="T11" fmla="*/ 48 h 51"/>
                <a:gd name="T12" fmla="*/ 7 w 44"/>
                <a:gd name="T13" fmla="*/ 47 h 51"/>
                <a:gd name="T14" fmla="*/ 8 w 44"/>
                <a:gd name="T15" fmla="*/ 44 h 51"/>
                <a:gd name="T16" fmla="*/ 8 w 44"/>
                <a:gd name="T17" fmla="*/ 8 h 51"/>
                <a:gd name="T18" fmla="*/ 7 w 44"/>
                <a:gd name="T19" fmla="*/ 6 h 51"/>
                <a:gd name="T20" fmla="*/ 6 w 44"/>
                <a:gd name="T21" fmla="*/ 4 h 51"/>
                <a:gd name="T22" fmla="*/ 3 w 44"/>
                <a:gd name="T23" fmla="*/ 3 h 51"/>
                <a:gd name="T24" fmla="*/ 0 w 44"/>
                <a:gd name="T25" fmla="*/ 3 h 51"/>
                <a:gd name="T26" fmla="*/ 0 w 44"/>
                <a:gd name="T27" fmla="*/ 0 h 51"/>
                <a:gd name="T28" fmla="*/ 40 w 44"/>
                <a:gd name="T29" fmla="*/ 0 h 51"/>
                <a:gd name="T30" fmla="*/ 40 w 44"/>
                <a:gd name="T31" fmla="*/ 13 h 51"/>
                <a:gd name="T32" fmla="*/ 37 w 44"/>
                <a:gd name="T33" fmla="*/ 13 h 51"/>
                <a:gd name="T34" fmla="*/ 34 w 44"/>
                <a:gd name="T35" fmla="*/ 7 h 51"/>
                <a:gd name="T36" fmla="*/ 29 w 44"/>
                <a:gd name="T37" fmla="*/ 4 h 51"/>
                <a:gd name="T38" fmla="*/ 27 w 44"/>
                <a:gd name="T39" fmla="*/ 4 h 51"/>
                <a:gd name="T40" fmla="*/ 23 w 44"/>
                <a:gd name="T41" fmla="*/ 3 h 51"/>
                <a:gd name="T42" fmla="*/ 15 w 44"/>
                <a:gd name="T43" fmla="*/ 3 h 51"/>
                <a:gd name="T44" fmla="*/ 15 w 44"/>
                <a:gd name="T45" fmla="*/ 24 h 51"/>
                <a:gd name="T46" fmla="*/ 21 w 44"/>
                <a:gd name="T47" fmla="*/ 24 h 51"/>
                <a:gd name="T48" fmla="*/ 25 w 44"/>
                <a:gd name="T49" fmla="*/ 23 h 51"/>
                <a:gd name="T50" fmla="*/ 27 w 44"/>
                <a:gd name="T51" fmla="*/ 21 h 51"/>
                <a:gd name="T52" fmla="*/ 29 w 44"/>
                <a:gd name="T53" fmla="*/ 19 h 51"/>
                <a:gd name="T54" fmla="*/ 29 w 44"/>
                <a:gd name="T55" fmla="*/ 15 h 51"/>
                <a:gd name="T56" fmla="*/ 32 w 44"/>
                <a:gd name="T57" fmla="*/ 15 h 51"/>
                <a:gd name="T58" fmla="*/ 32 w 44"/>
                <a:gd name="T59" fmla="*/ 35 h 51"/>
                <a:gd name="T60" fmla="*/ 29 w 44"/>
                <a:gd name="T61" fmla="*/ 35 h 51"/>
                <a:gd name="T62" fmla="*/ 29 w 44"/>
                <a:gd name="T63" fmla="*/ 32 h 51"/>
                <a:gd name="T64" fmla="*/ 27 w 44"/>
                <a:gd name="T65" fmla="*/ 29 h 51"/>
                <a:gd name="T66" fmla="*/ 25 w 44"/>
                <a:gd name="T67" fmla="*/ 27 h 51"/>
                <a:gd name="T68" fmla="*/ 21 w 44"/>
                <a:gd name="T69" fmla="*/ 27 h 51"/>
                <a:gd name="T70" fmla="*/ 15 w 44"/>
                <a:gd name="T71" fmla="*/ 27 h 51"/>
                <a:gd name="T72" fmla="*/ 15 w 44"/>
                <a:gd name="T73" fmla="*/ 42 h 51"/>
                <a:gd name="T74" fmla="*/ 16 w 44"/>
                <a:gd name="T75" fmla="*/ 45 h 51"/>
                <a:gd name="T76" fmla="*/ 17 w 44"/>
                <a:gd name="T77" fmla="*/ 47 h 51"/>
                <a:gd name="T78" fmla="*/ 19 w 44"/>
                <a:gd name="T79" fmla="*/ 48 h 51"/>
                <a:gd name="T80" fmla="*/ 24 w 44"/>
                <a:gd name="T81" fmla="*/ 48 h 51"/>
                <a:gd name="T82" fmla="*/ 27 w 44"/>
                <a:gd name="T83" fmla="*/ 48 h 51"/>
                <a:gd name="T84" fmla="*/ 30 w 44"/>
                <a:gd name="T85" fmla="*/ 48 h 51"/>
                <a:gd name="T86" fmla="*/ 33 w 44"/>
                <a:gd name="T87" fmla="*/ 48 h 51"/>
                <a:gd name="T88" fmla="*/ 35 w 44"/>
                <a:gd name="T89" fmla="*/ 47 h 51"/>
                <a:gd name="T90" fmla="*/ 39 w 44"/>
                <a:gd name="T91" fmla="*/ 42 h 51"/>
                <a:gd name="T92" fmla="*/ 41 w 44"/>
                <a:gd name="T93" fmla="*/ 36 h 51"/>
                <a:gd name="T94" fmla="*/ 44 w 44"/>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51">
                  <a:moveTo>
                    <a:pt x="44" y="36"/>
                  </a:moveTo>
                  <a:cubicBezTo>
                    <a:pt x="43" y="51"/>
                    <a:pt x="43" y="51"/>
                    <a:pt x="43" y="51"/>
                  </a:cubicBezTo>
                  <a:cubicBezTo>
                    <a:pt x="0" y="51"/>
                    <a:pt x="0" y="51"/>
                    <a:pt x="0" y="51"/>
                  </a:cubicBezTo>
                  <a:cubicBezTo>
                    <a:pt x="0" y="49"/>
                    <a:pt x="0" y="49"/>
                    <a:pt x="0" y="49"/>
                  </a:cubicBezTo>
                  <a:cubicBezTo>
                    <a:pt x="1" y="49"/>
                    <a:pt x="2" y="49"/>
                    <a:pt x="3" y="49"/>
                  </a:cubicBezTo>
                  <a:cubicBezTo>
                    <a:pt x="4" y="48"/>
                    <a:pt x="5" y="48"/>
                    <a:pt x="6" y="48"/>
                  </a:cubicBezTo>
                  <a:cubicBezTo>
                    <a:pt x="6" y="48"/>
                    <a:pt x="7" y="47"/>
                    <a:pt x="7" y="47"/>
                  </a:cubicBezTo>
                  <a:cubicBezTo>
                    <a:pt x="7" y="46"/>
                    <a:pt x="8" y="45"/>
                    <a:pt x="8" y="44"/>
                  </a:cubicBezTo>
                  <a:cubicBezTo>
                    <a:pt x="8" y="8"/>
                    <a:pt x="8" y="8"/>
                    <a:pt x="8" y="8"/>
                  </a:cubicBezTo>
                  <a:cubicBezTo>
                    <a:pt x="8" y="7"/>
                    <a:pt x="8" y="6"/>
                    <a:pt x="7" y="6"/>
                  </a:cubicBezTo>
                  <a:cubicBezTo>
                    <a:pt x="7" y="5"/>
                    <a:pt x="6" y="5"/>
                    <a:pt x="6" y="4"/>
                  </a:cubicBezTo>
                  <a:cubicBezTo>
                    <a:pt x="5" y="4"/>
                    <a:pt x="4" y="4"/>
                    <a:pt x="3" y="3"/>
                  </a:cubicBezTo>
                  <a:cubicBezTo>
                    <a:pt x="2" y="3"/>
                    <a:pt x="1" y="3"/>
                    <a:pt x="0" y="3"/>
                  </a:cubicBezTo>
                  <a:cubicBezTo>
                    <a:pt x="0" y="0"/>
                    <a:pt x="0" y="0"/>
                    <a:pt x="0" y="0"/>
                  </a:cubicBezTo>
                  <a:cubicBezTo>
                    <a:pt x="40" y="0"/>
                    <a:pt x="40" y="0"/>
                    <a:pt x="40" y="0"/>
                  </a:cubicBezTo>
                  <a:cubicBezTo>
                    <a:pt x="40" y="13"/>
                    <a:pt x="40" y="13"/>
                    <a:pt x="40" y="13"/>
                  </a:cubicBezTo>
                  <a:cubicBezTo>
                    <a:pt x="37" y="13"/>
                    <a:pt x="37" y="13"/>
                    <a:pt x="37" y="13"/>
                  </a:cubicBezTo>
                  <a:cubicBezTo>
                    <a:pt x="37" y="11"/>
                    <a:pt x="36" y="9"/>
                    <a:pt x="34" y="7"/>
                  </a:cubicBezTo>
                  <a:cubicBezTo>
                    <a:pt x="32" y="5"/>
                    <a:pt x="31" y="4"/>
                    <a:pt x="29" y="4"/>
                  </a:cubicBezTo>
                  <a:cubicBezTo>
                    <a:pt x="29" y="4"/>
                    <a:pt x="28" y="4"/>
                    <a:pt x="27" y="4"/>
                  </a:cubicBezTo>
                  <a:cubicBezTo>
                    <a:pt x="26" y="3"/>
                    <a:pt x="25" y="3"/>
                    <a:pt x="23" y="3"/>
                  </a:cubicBezTo>
                  <a:cubicBezTo>
                    <a:pt x="15" y="3"/>
                    <a:pt x="15" y="3"/>
                    <a:pt x="15" y="3"/>
                  </a:cubicBezTo>
                  <a:cubicBezTo>
                    <a:pt x="15" y="24"/>
                    <a:pt x="15" y="24"/>
                    <a:pt x="15" y="24"/>
                  </a:cubicBezTo>
                  <a:cubicBezTo>
                    <a:pt x="21" y="24"/>
                    <a:pt x="21" y="24"/>
                    <a:pt x="21" y="24"/>
                  </a:cubicBezTo>
                  <a:cubicBezTo>
                    <a:pt x="23" y="24"/>
                    <a:pt x="24" y="23"/>
                    <a:pt x="25" y="23"/>
                  </a:cubicBezTo>
                  <a:cubicBezTo>
                    <a:pt x="26" y="23"/>
                    <a:pt x="27" y="22"/>
                    <a:pt x="27" y="21"/>
                  </a:cubicBezTo>
                  <a:cubicBezTo>
                    <a:pt x="28" y="21"/>
                    <a:pt x="28" y="20"/>
                    <a:pt x="29" y="19"/>
                  </a:cubicBezTo>
                  <a:cubicBezTo>
                    <a:pt x="29" y="17"/>
                    <a:pt x="29" y="16"/>
                    <a:pt x="29" y="15"/>
                  </a:cubicBezTo>
                  <a:cubicBezTo>
                    <a:pt x="32" y="15"/>
                    <a:pt x="32" y="15"/>
                    <a:pt x="32" y="15"/>
                  </a:cubicBezTo>
                  <a:cubicBezTo>
                    <a:pt x="32" y="35"/>
                    <a:pt x="32" y="35"/>
                    <a:pt x="32" y="35"/>
                  </a:cubicBezTo>
                  <a:cubicBezTo>
                    <a:pt x="29" y="35"/>
                    <a:pt x="29" y="35"/>
                    <a:pt x="29" y="35"/>
                  </a:cubicBezTo>
                  <a:cubicBezTo>
                    <a:pt x="29" y="34"/>
                    <a:pt x="29" y="33"/>
                    <a:pt x="29" y="32"/>
                  </a:cubicBezTo>
                  <a:cubicBezTo>
                    <a:pt x="28" y="30"/>
                    <a:pt x="28" y="29"/>
                    <a:pt x="27" y="29"/>
                  </a:cubicBezTo>
                  <a:cubicBezTo>
                    <a:pt x="27" y="28"/>
                    <a:pt x="26" y="27"/>
                    <a:pt x="25" y="27"/>
                  </a:cubicBezTo>
                  <a:cubicBezTo>
                    <a:pt x="24" y="27"/>
                    <a:pt x="23" y="27"/>
                    <a:pt x="21" y="27"/>
                  </a:cubicBezTo>
                  <a:cubicBezTo>
                    <a:pt x="15" y="27"/>
                    <a:pt x="15" y="27"/>
                    <a:pt x="15" y="27"/>
                  </a:cubicBezTo>
                  <a:cubicBezTo>
                    <a:pt x="15" y="42"/>
                    <a:pt x="15" y="42"/>
                    <a:pt x="15" y="42"/>
                  </a:cubicBezTo>
                  <a:cubicBezTo>
                    <a:pt x="15" y="43"/>
                    <a:pt x="15" y="44"/>
                    <a:pt x="16" y="45"/>
                  </a:cubicBezTo>
                  <a:cubicBezTo>
                    <a:pt x="16" y="46"/>
                    <a:pt x="16" y="47"/>
                    <a:pt x="17" y="47"/>
                  </a:cubicBezTo>
                  <a:cubicBezTo>
                    <a:pt x="17" y="48"/>
                    <a:pt x="18" y="48"/>
                    <a:pt x="19" y="48"/>
                  </a:cubicBezTo>
                  <a:cubicBezTo>
                    <a:pt x="20" y="48"/>
                    <a:pt x="22" y="48"/>
                    <a:pt x="24" y="48"/>
                  </a:cubicBezTo>
                  <a:cubicBezTo>
                    <a:pt x="25" y="48"/>
                    <a:pt x="26" y="48"/>
                    <a:pt x="27" y="48"/>
                  </a:cubicBezTo>
                  <a:cubicBezTo>
                    <a:pt x="28" y="48"/>
                    <a:pt x="29" y="48"/>
                    <a:pt x="30" y="48"/>
                  </a:cubicBezTo>
                  <a:cubicBezTo>
                    <a:pt x="31" y="48"/>
                    <a:pt x="32" y="48"/>
                    <a:pt x="33" y="48"/>
                  </a:cubicBezTo>
                  <a:cubicBezTo>
                    <a:pt x="34" y="48"/>
                    <a:pt x="35" y="47"/>
                    <a:pt x="35" y="47"/>
                  </a:cubicBezTo>
                  <a:cubicBezTo>
                    <a:pt x="36" y="46"/>
                    <a:pt x="37" y="44"/>
                    <a:pt x="39" y="42"/>
                  </a:cubicBezTo>
                  <a:cubicBezTo>
                    <a:pt x="40" y="39"/>
                    <a:pt x="41" y="38"/>
                    <a:pt x="41" y="36"/>
                  </a:cubicBezTo>
                  <a:lnTo>
                    <a:pt x="44"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Freeform 30"/>
            <p:cNvSpPr/>
            <p:nvPr userDrawn="1"/>
          </p:nvSpPr>
          <p:spPr bwMode="auto">
            <a:xfrm>
              <a:off x="2265314" y="1452985"/>
              <a:ext cx="184150" cy="192088"/>
            </a:xfrm>
            <a:custGeom>
              <a:avLst/>
              <a:gdLst>
                <a:gd name="T0" fmla="*/ 49 w 49"/>
                <a:gd name="T1" fmla="*/ 51 h 51"/>
                <a:gd name="T2" fmla="*/ 35 w 49"/>
                <a:gd name="T3" fmla="*/ 51 h 51"/>
                <a:gd name="T4" fmla="*/ 26 w 49"/>
                <a:gd name="T5" fmla="*/ 39 h 51"/>
                <a:gd name="T6" fmla="*/ 15 w 49"/>
                <a:gd name="T7" fmla="*/ 27 h 51"/>
                <a:gd name="T8" fmla="*/ 14 w 49"/>
                <a:gd name="T9" fmla="*/ 27 h 51"/>
                <a:gd name="T10" fmla="*/ 14 w 49"/>
                <a:gd name="T11" fmla="*/ 44 h 51"/>
                <a:gd name="T12" fmla="*/ 14 w 49"/>
                <a:gd name="T13" fmla="*/ 46 h 51"/>
                <a:gd name="T14" fmla="*/ 16 w 49"/>
                <a:gd name="T15" fmla="*/ 48 h 51"/>
                <a:gd name="T16" fmla="*/ 18 w 49"/>
                <a:gd name="T17" fmla="*/ 48 h 51"/>
                <a:gd name="T18" fmla="*/ 21 w 49"/>
                <a:gd name="T19" fmla="*/ 49 h 51"/>
                <a:gd name="T20" fmla="*/ 21 w 49"/>
                <a:gd name="T21" fmla="*/ 51 h 51"/>
                <a:gd name="T22" fmla="*/ 0 w 49"/>
                <a:gd name="T23" fmla="*/ 51 h 51"/>
                <a:gd name="T24" fmla="*/ 0 w 49"/>
                <a:gd name="T25" fmla="*/ 49 h 51"/>
                <a:gd name="T26" fmla="*/ 2 w 49"/>
                <a:gd name="T27" fmla="*/ 49 h 51"/>
                <a:gd name="T28" fmla="*/ 4 w 49"/>
                <a:gd name="T29" fmla="*/ 48 h 51"/>
                <a:gd name="T30" fmla="*/ 6 w 49"/>
                <a:gd name="T31" fmla="*/ 47 h 51"/>
                <a:gd name="T32" fmla="*/ 6 w 49"/>
                <a:gd name="T33" fmla="*/ 45 h 51"/>
                <a:gd name="T34" fmla="*/ 6 w 49"/>
                <a:gd name="T35" fmla="*/ 8 h 51"/>
                <a:gd name="T36" fmla="*/ 6 w 49"/>
                <a:gd name="T37" fmla="*/ 6 h 51"/>
                <a:gd name="T38" fmla="*/ 4 w 49"/>
                <a:gd name="T39" fmla="*/ 4 h 51"/>
                <a:gd name="T40" fmla="*/ 2 w 49"/>
                <a:gd name="T41" fmla="*/ 3 h 51"/>
                <a:gd name="T42" fmla="*/ 0 w 49"/>
                <a:gd name="T43" fmla="*/ 3 h 51"/>
                <a:gd name="T44" fmla="*/ 0 w 49"/>
                <a:gd name="T45" fmla="*/ 0 h 51"/>
                <a:gd name="T46" fmla="*/ 21 w 49"/>
                <a:gd name="T47" fmla="*/ 0 h 51"/>
                <a:gd name="T48" fmla="*/ 21 w 49"/>
                <a:gd name="T49" fmla="*/ 3 h 51"/>
                <a:gd name="T50" fmla="*/ 18 w 49"/>
                <a:gd name="T51" fmla="*/ 3 h 51"/>
                <a:gd name="T52" fmla="*/ 16 w 49"/>
                <a:gd name="T53" fmla="*/ 4 h 51"/>
                <a:gd name="T54" fmla="*/ 14 w 49"/>
                <a:gd name="T55" fmla="*/ 5 h 51"/>
                <a:gd name="T56" fmla="*/ 14 w 49"/>
                <a:gd name="T57" fmla="*/ 8 h 51"/>
                <a:gd name="T58" fmla="*/ 14 w 49"/>
                <a:gd name="T59" fmla="*/ 25 h 51"/>
                <a:gd name="T60" fmla="*/ 15 w 49"/>
                <a:gd name="T61" fmla="*/ 25 h 51"/>
                <a:gd name="T62" fmla="*/ 21 w 49"/>
                <a:gd name="T63" fmla="*/ 19 h 51"/>
                <a:gd name="T64" fmla="*/ 27 w 49"/>
                <a:gd name="T65" fmla="*/ 14 h 51"/>
                <a:gd name="T66" fmla="*/ 31 w 49"/>
                <a:gd name="T67" fmla="*/ 8 h 51"/>
                <a:gd name="T68" fmla="*/ 32 w 49"/>
                <a:gd name="T69" fmla="*/ 5 h 51"/>
                <a:gd name="T70" fmla="*/ 32 w 49"/>
                <a:gd name="T71" fmla="*/ 4 h 51"/>
                <a:gd name="T72" fmla="*/ 30 w 49"/>
                <a:gd name="T73" fmla="*/ 3 h 51"/>
                <a:gd name="T74" fmla="*/ 28 w 49"/>
                <a:gd name="T75" fmla="*/ 3 h 51"/>
                <a:gd name="T76" fmla="*/ 27 w 49"/>
                <a:gd name="T77" fmla="*/ 3 h 51"/>
                <a:gd name="T78" fmla="*/ 27 w 49"/>
                <a:gd name="T79" fmla="*/ 0 h 51"/>
                <a:gd name="T80" fmla="*/ 46 w 49"/>
                <a:gd name="T81" fmla="*/ 0 h 51"/>
                <a:gd name="T82" fmla="*/ 46 w 49"/>
                <a:gd name="T83" fmla="*/ 3 h 51"/>
                <a:gd name="T84" fmla="*/ 46 w 49"/>
                <a:gd name="T85" fmla="*/ 3 h 51"/>
                <a:gd name="T86" fmla="*/ 45 w 49"/>
                <a:gd name="T87" fmla="*/ 3 h 51"/>
                <a:gd name="T88" fmla="*/ 44 w 49"/>
                <a:gd name="T89" fmla="*/ 3 h 51"/>
                <a:gd name="T90" fmla="*/ 42 w 49"/>
                <a:gd name="T91" fmla="*/ 4 h 51"/>
                <a:gd name="T92" fmla="*/ 40 w 49"/>
                <a:gd name="T93" fmla="*/ 4 h 51"/>
                <a:gd name="T94" fmla="*/ 38 w 49"/>
                <a:gd name="T95" fmla="*/ 6 h 51"/>
                <a:gd name="T96" fmla="*/ 30 w 49"/>
                <a:gd name="T97" fmla="*/ 15 h 51"/>
                <a:gd name="T98" fmla="*/ 22 w 49"/>
                <a:gd name="T99" fmla="*/ 23 h 51"/>
                <a:gd name="T100" fmla="*/ 31 w 49"/>
                <a:gd name="T101" fmla="*/ 34 h 51"/>
                <a:gd name="T102" fmla="*/ 39 w 49"/>
                <a:gd name="T103" fmla="*/ 43 h 51"/>
                <a:gd name="T104" fmla="*/ 42 w 49"/>
                <a:gd name="T105" fmla="*/ 46 h 51"/>
                <a:gd name="T106" fmla="*/ 44 w 49"/>
                <a:gd name="T107" fmla="*/ 48 h 51"/>
                <a:gd name="T108" fmla="*/ 47 w 49"/>
                <a:gd name="T109" fmla="*/ 49 h 51"/>
                <a:gd name="T110" fmla="*/ 49 w 49"/>
                <a:gd name="T111" fmla="*/ 49 h 51"/>
                <a:gd name="T112" fmla="*/ 49 w 49"/>
                <a:gd name="T113"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1">
                  <a:moveTo>
                    <a:pt x="49" y="51"/>
                  </a:moveTo>
                  <a:cubicBezTo>
                    <a:pt x="35" y="51"/>
                    <a:pt x="35" y="51"/>
                    <a:pt x="35" y="51"/>
                  </a:cubicBezTo>
                  <a:cubicBezTo>
                    <a:pt x="32" y="47"/>
                    <a:pt x="29" y="43"/>
                    <a:pt x="26" y="39"/>
                  </a:cubicBezTo>
                  <a:cubicBezTo>
                    <a:pt x="22" y="35"/>
                    <a:pt x="19" y="30"/>
                    <a:pt x="15" y="27"/>
                  </a:cubicBezTo>
                  <a:cubicBezTo>
                    <a:pt x="14" y="27"/>
                    <a:pt x="14" y="27"/>
                    <a:pt x="14" y="27"/>
                  </a:cubicBezTo>
                  <a:cubicBezTo>
                    <a:pt x="14" y="44"/>
                    <a:pt x="14" y="44"/>
                    <a:pt x="14" y="44"/>
                  </a:cubicBezTo>
                  <a:cubicBezTo>
                    <a:pt x="14" y="45"/>
                    <a:pt x="14" y="46"/>
                    <a:pt x="14" y="46"/>
                  </a:cubicBezTo>
                  <a:cubicBezTo>
                    <a:pt x="15" y="47"/>
                    <a:pt x="15" y="47"/>
                    <a:pt x="16" y="48"/>
                  </a:cubicBezTo>
                  <a:cubicBezTo>
                    <a:pt x="16" y="48"/>
                    <a:pt x="17" y="48"/>
                    <a:pt x="18" y="48"/>
                  </a:cubicBezTo>
                  <a:cubicBezTo>
                    <a:pt x="19" y="49"/>
                    <a:pt x="20" y="49"/>
                    <a:pt x="21" y="49"/>
                  </a:cubicBezTo>
                  <a:cubicBezTo>
                    <a:pt x="21" y="51"/>
                    <a:pt x="21" y="51"/>
                    <a:pt x="21" y="51"/>
                  </a:cubicBezTo>
                  <a:cubicBezTo>
                    <a:pt x="0" y="51"/>
                    <a:pt x="0" y="51"/>
                    <a:pt x="0" y="51"/>
                  </a:cubicBezTo>
                  <a:cubicBezTo>
                    <a:pt x="0" y="49"/>
                    <a:pt x="0" y="49"/>
                    <a:pt x="0" y="49"/>
                  </a:cubicBezTo>
                  <a:cubicBezTo>
                    <a:pt x="0" y="49"/>
                    <a:pt x="1" y="49"/>
                    <a:pt x="2" y="49"/>
                  </a:cubicBezTo>
                  <a:cubicBezTo>
                    <a:pt x="3" y="49"/>
                    <a:pt x="4" y="48"/>
                    <a:pt x="4" y="48"/>
                  </a:cubicBezTo>
                  <a:cubicBezTo>
                    <a:pt x="5" y="48"/>
                    <a:pt x="6" y="47"/>
                    <a:pt x="6" y="47"/>
                  </a:cubicBezTo>
                  <a:cubicBezTo>
                    <a:pt x="6" y="46"/>
                    <a:pt x="6" y="45"/>
                    <a:pt x="6" y="45"/>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25"/>
                    <a:pt x="14" y="25"/>
                    <a:pt x="14" y="25"/>
                  </a:cubicBezTo>
                  <a:cubicBezTo>
                    <a:pt x="15" y="25"/>
                    <a:pt x="15" y="25"/>
                    <a:pt x="15" y="25"/>
                  </a:cubicBezTo>
                  <a:cubicBezTo>
                    <a:pt x="17" y="23"/>
                    <a:pt x="19" y="21"/>
                    <a:pt x="21" y="19"/>
                  </a:cubicBezTo>
                  <a:cubicBezTo>
                    <a:pt x="23" y="17"/>
                    <a:pt x="25" y="16"/>
                    <a:pt x="27" y="14"/>
                  </a:cubicBezTo>
                  <a:cubicBezTo>
                    <a:pt x="29" y="11"/>
                    <a:pt x="30" y="10"/>
                    <a:pt x="31" y="8"/>
                  </a:cubicBezTo>
                  <a:cubicBezTo>
                    <a:pt x="32" y="7"/>
                    <a:pt x="32" y="6"/>
                    <a:pt x="32" y="5"/>
                  </a:cubicBezTo>
                  <a:cubicBezTo>
                    <a:pt x="32" y="4"/>
                    <a:pt x="32" y="4"/>
                    <a:pt x="32" y="4"/>
                  </a:cubicBezTo>
                  <a:cubicBezTo>
                    <a:pt x="31" y="4"/>
                    <a:pt x="31" y="4"/>
                    <a:pt x="30" y="3"/>
                  </a:cubicBezTo>
                  <a:cubicBezTo>
                    <a:pt x="29" y="3"/>
                    <a:pt x="29" y="3"/>
                    <a:pt x="28" y="3"/>
                  </a:cubicBezTo>
                  <a:cubicBezTo>
                    <a:pt x="28" y="3"/>
                    <a:pt x="27" y="3"/>
                    <a:pt x="27" y="3"/>
                  </a:cubicBezTo>
                  <a:cubicBezTo>
                    <a:pt x="27" y="0"/>
                    <a:pt x="27" y="0"/>
                    <a:pt x="27" y="0"/>
                  </a:cubicBezTo>
                  <a:cubicBezTo>
                    <a:pt x="46" y="0"/>
                    <a:pt x="46" y="0"/>
                    <a:pt x="46" y="0"/>
                  </a:cubicBezTo>
                  <a:cubicBezTo>
                    <a:pt x="46" y="3"/>
                    <a:pt x="46" y="3"/>
                    <a:pt x="46" y="3"/>
                  </a:cubicBezTo>
                  <a:cubicBezTo>
                    <a:pt x="46" y="3"/>
                    <a:pt x="46" y="3"/>
                    <a:pt x="46" y="3"/>
                  </a:cubicBezTo>
                  <a:cubicBezTo>
                    <a:pt x="45" y="3"/>
                    <a:pt x="45" y="3"/>
                    <a:pt x="45" y="3"/>
                  </a:cubicBezTo>
                  <a:cubicBezTo>
                    <a:pt x="44" y="3"/>
                    <a:pt x="44" y="3"/>
                    <a:pt x="44" y="3"/>
                  </a:cubicBezTo>
                  <a:cubicBezTo>
                    <a:pt x="43" y="3"/>
                    <a:pt x="43" y="3"/>
                    <a:pt x="42" y="4"/>
                  </a:cubicBezTo>
                  <a:cubicBezTo>
                    <a:pt x="42" y="4"/>
                    <a:pt x="41" y="4"/>
                    <a:pt x="40" y="4"/>
                  </a:cubicBezTo>
                  <a:cubicBezTo>
                    <a:pt x="39" y="5"/>
                    <a:pt x="38" y="5"/>
                    <a:pt x="38" y="6"/>
                  </a:cubicBezTo>
                  <a:cubicBezTo>
                    <a:pt x="35" y="9"/>
                    <a:pt x="33" y="12"/>
                    <a:pt x="30" y="15"/>
                  </a:cubicBezTo>
                  <a:cubicBezTo>
                    <a:pt x="27" y="18"/>
                    <a:pt x="25" y="20"/>
                    <a:pt x="22" y="23"/>
                  </a:cubicBezTo>
                  <a:cubicBezTo>
                    <a:pt x="26" y="27"/>
                    <a:pt x="29" y="31"/>
                    <a:pt x="31" y="34"/>
                  </a:cubicBezTo>
                  <a:cubicBezTo>
                    <a:pt x="33" y="36"/>
                    <a:pt x="36" y="40"/>
                    <a:pt x="39" y="43"/>
                  </a:cubicBezTo>
                  <a:cubicBezTo>
                    <a:pt x="40" y="44"/>
                    <a:pt x="41" y="45"/>
                    <a:pt x="42" y="46"/>
                  </a:cubicBezTo>
                  <a:cubicBezTo>
                    <a:pt x="43" y="47"/>
                    <a:pt x="44" y="47"/>
                    <a:pt x="44" y="48"/>
                  </a:cubicBezTo>
                  <a:cubicBezTo>
                    <a:pt x="45" y="48"/>
                    <a:pt x="46" y="48"/>
                    <a:pt x="47" y="49"/>
                  </a:cubicBezTo>
                  <a:cubicBezTo>
                    <a:pt x="48" y="49"/>
                    <a:pt x="48" y="49"/>
                    <a:pt x="49" y="49"/>
                  </a:cubicBezTo>
                  <a:lnTo>
                    <a:pt x="49"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Freeform 31"/>
            <p:cNvSpPr/>
            <p:nvPr userDrawn="1"/>
          </p:nvSpPr>
          <p:spPr bwMode="auto">
            <a:xfrm>
              <a:off x="2460576" y="1452985"/>
              <a:ext cx="87313" cy="192088"/>
            </a:xfrm>
            <a:custGeom>
              <a:avLst/>
              <a:gdLst>
                <a:gd name="T0" fmla="*/ 23 w 23"/>
                <a:gd name="T1" fmla="*/ 51 h 51"/>
                <a:gd name="T2" fmla="*/ 0 w 23"/>
                <a:gd name="T3" fmla="*/ 51 h 51"/>
                <a:gd name="T4" fmla="*/ 0 w 23"/>
                <a:gd name="T5" fmla="*/ 49 h 51"/>
                <a:gd name="T6" fmla="*/ 2 w 23"/>
                <a:gd name="T7" fmla="*/ 49 h 51"/>
                <a:gd name="T8" fmla="*/ 5 w 23"/>
                <a:gd name="T9" fmla="*/ 48 h 51"/>
                <a:gd name="T10" fmla="*/ 7 w 23"/>
                <a:gd name="T11" fmla="*/ 47 h 51"/>
                <a:gd name="T12" fmla="*/ 7 w 23"/>
                <a:gd name="T13" fmla="*/ 45 h 51"/>
                <a:gd name="T14" fmla="*/ 7 w 23"/>
                <a:gd name="T15" fmla="*/ 8 h 51"/>
                <a:gd name="T16" fmla="*/ 7 w 23"/>
                <a:gd name="T17" fmla="*/ 6 h 51"/>
                <a:gd name="T18" fmla="*/ 5 w 23"/>
                <a:gd name="T19" fmla="*/ 4 h 51"/>
                <a:gd name="T20" fmla="*/ 2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7 w 23"/>
                <a:gd name="T33" fmla="*/ 4 h 51"/>
                <a:gd name="T34" fmla="*/ 15 w 23"/>
                <a:gd name="T35" fmla="*/ 5 h 51"/>
                <a:gd name="T36" fmla="*/ 15 w 23"/>
                <a:gd name="T37" fmla="*/ 7 h 51"/>
                <a:gd name="T38" fmla="*/ 15 w 23"/>
                <a:gd name="T39" fmla="*/ 44 h 51"/>
                <a:gd name="T40" fmla="*/ 15 w 23"/>
                <a:gd name="T41" fmla="*/ 46 h 51"/>
                <a:gd name="T42" fmla="*/ 17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0" y="49"/>
                    <a:pt x="1" y="49"/>
                    <a:pt x="2" y="49"/>
                  </a:cubicBezTo>
                  <a:cubicBezTo>
                    <a:pt x="4" y="49"/>
                    <a:pt x="4" y="48"/>
                    <a:pt x="5" y="48"/>
                  </a:cubicBezTo>
                  <a:cubicBezTo>
                    <a:pt x="6" y="48"/>
                    <a:pt x="6" y="47"/>
                    <a:pt x="7" y="47"/>
                  </a:cubicBezTo>
                  <a:cubicBezTo>
                    <a:pt x="7" y="46"/>
                    <a:pt x="7" y="46"/>
                    <a:pt x="7" y="45"/>
                  </a:cubicBezTo>
                  <a:cubicBezTo>
                    <a:pt x="7" y="8"/>
                    <a:pt x="7" y="8"/>
                    <a:pt x="7" y="8"/>
                  </a:cubicBezTo>
                  <a:cubicBezTo>
                    <a:pt x="7" y="7"/>
                    <a:pt x="7" y="6"/>
                    <a:pt x="7" y="6"/>
                  </a:cubicBezTo>
                  <a:cubicBezTo>
                    <a:pt x="7" y="5"/>
                    <a:pt x="6" y="5"/>
                    <a:pt x="5" y="4"/>
                  </a:cubicBezTo>
                  <a:cubicBezTo>
                    <a:pt x="4" y="4"/>
                    <a:pt x="3" y="4"/>
                    <a:pt x="2" y="3"/>
                  </a:cubicBezTo>
                  <a:cubicBezTo>
                    <a:pt x="1" y="3"/>
                    <a:pt x="0"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8" y="4"/>
                    <a:pt x="17" y="4"/>
                  </a:cubicBezTo>
                  <a:cubicBezTo>
                    <a:pt x="16" y="4"/>
                    <a:pt x="16" y="5"/>
                    <a:pt x="15" y="5"/>
                  </a:cubicBezTo>
                  <a:cubicBezTo>
                    <a:pt x="15" y="6"/>
                    <a:pt x="15" y="7"/>
                    <a:pt x="15" y="7"/>
                  </a:cubicBezTo>
                  <a:cubicBezTo>
                    <a:pt x="15" y="44"/>
                    <a:pt x="15" y="44"/>
                    <a:pt x="15" y="44"/>
                  </a:cubicBezTo>
                  <a:cubicBezTo>
                    <a:pt x="15" y="45"/>
                    <a:pt x="15" y="46"/>
                    <a:pt x="15" y="46"/>
                  </a:cubicBezTo>
                  <a:cubicBezTo>
                    <a:pt x="16" y="47"/>
                    <a:pt x="16" y="47"/>
                    <a:pt x="17" y="48"/>
                  </a:cubicBezTo>
                  <a:cubicBezTo>
                    <a:pt x="18" y="48"/>
                    <a:pt x="18"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7" name="Freeform 32"/>
            <p:cNvSpPr/>
            <p:nvPr userDrawn="1"/>
          </p:nvSpPr>
          <p:spPr bwMode="auto">
            <a:xfrm>
              <a:off x="2554239" y="1452985"/>
              <a:ext cx="207963" cy="196850"/>
            </a:xfrm>
            <a:custGeom>
              <a:avLst/>
              <a:gdLst>
                <a:gd name="T0" fmla="*/ 55 w 55"/>
                <a:gd name="T1" fmla="*/ 3 h 52"/>
                <a:gd name="T2" fmla="*/ 51 w 55"/>
                <a:gd name="T3" fmla="*/ 4 h 52"/>
                <a:gd name="T4" fmla="*/ 48 w 55"/>
                <a:gd name="T5" fmla="*/ 5 h 52"/>
                <a:gd name="T6" fmla="*/ 47 w 55"/>
                <a:gd name="T7" fmla="*/ 8 h 52"/>
                <a:gd name="T8" fmla="*/ 46 w 55"/>
                <a:gd name="T9" fmla="*/ 15 h 52"/>
                <a:gd name="T10" fmla="*/ 46 w 55"/>
                <a:gd name="T11" fmla="*/ 52 h 52"/>
                <a:gd name="T12" fmla="*/ 43 w 55"/>
                <a:gd name="T13" fmla="*/ 52 h 52"/>
                <a:gd name="T14" fmla="*/ 12 w 55"/>
                <a:gd name="T15" fmla="*/ 10 h 52"/>
                <a:gd name="T16" fmla="*/ 12 w 55"/>
                <a:gd name="T17" fmla="*/ 37 h 52"/>
                <a:gd name="T18" fmla="*/ 13 w 55"/>
                <a:gd name="T19" fmla="*/ 43 h 52"/>
                <a:gd name="T20" fmla="*/ 14 w 55"/>
                <a:gd name="T21" fmla="*/ 47 h 52"/>
                <a:gd name="T22" fmla="*/ 18 w 55"/>
                <a:gd name="T23" fmla="*/ 48 h 52"/>
                <a:gd name="T24" fmla="*/ 21 w 55"/>
                <a:gd name="T25" fmla="*/ 49 h 52"/>
                <a:gd name="T26" fmla="*/ 21 w 55"/>
                <a:gd name="T27" fmla="*/ 51 h 52"/>
                <a:gd name="T28" fmla="*/ 0 w 55"/>
                <a:gd name="T29" fmla="*/ 51 h 52"/>
                <a:gd name="T30" fmla="*/ 0 w 55"/>
                <a:gd name="T31" fmla="*/ 49 h 52"/>
                <a:gd name="T32" fmla="*/ 4 w 55"/>
                <a:gd name="T33" fmla="*/ 48 h 52"/>
                <a:gd name="T34" fmla="*/ 7 w 55"/>
                <a:gd name="T35" fmla="*/ 47 h 52"/>
                <a:gd name="T36" fmla="*/ 8 w 55"/>
                <a:gd name="T37" fmla="*/ 44 h 52"/>
                <a:gd name="T38" fmla="*/ 9 w 55"/>
                <a:gd name="T39" fmla="*/ 37 h 52"/>
                <a:gd name="T40" fmla="*/ 9 w 55"/>
                <a:gd name="T41" fmla="*/ 12 h 52"/>
                <a:gd name="T42" fmla="*/ 8 w 55"/>
                <a:gd name="T43" fmla="*/ 9 h 52"/>
                <a:gd name="T44" fmla="*/ 7 w 55"/>
                <a:gd name="T45" fmla="*/ 6 h 52"/>
                <a:gd name="T46" fmla="*/ 3 w 55"/>
                <a:gd name="T47" fmla="*/ 4 h 52"/>
                <a:gd name="T48" fmla="*/ 0 w 55"/>
                <a:gd name="T49" fmla="*/ 3 h 52"/>
                <a:gd name="T50" fmla="*/ 0 w 55"/>
                <a:gd name="T51" fmla="*/ 0 h 52"/>
                <a:gd name="T52" fmla="*/ 14 w 55"/>
                <a:gd name="T53" fmla="*/ 0 h 52"/>
                <a:gd name="T54" fmla="*/ 43 w 55"/>
                <a:gd name="T55" fmla="*/ 39 h 52"/>
                <a:gd name="T56" fmla="*/ 43 w 55"/>
                <a:gd name="T57" fmla="*/ 15 h 52"/>
                <a:gd name="T58" fmla="*/ 42 w 55"/>
                <a:gd name="T59" fmla="*/ 8 h 52"/>
                <a:gd name="T60" fmla="*/ 41 w 55"/>
                <a:gd name="T61" fmla="*/ 5 h 52"/>
                <a:gd name="T62" fmla="*/ 37 w 55"/>
                <a:gd name="T63" fmla="*/ 4 h 52"/>
                <a:gd name="T64" fmla="*/ 34 w 55"/>
                <a:gd name="T65" fmla="*/ 3 h 52"/>
                <a:gd name="T66" fmla="*/ 34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4" y="3"/>
                    <a:pt x="53" y="3"/>
                    <a:pt x="51" y="4"/>
                  </a:cubicBezTo>
                  <a:cubicBezTo>
                    <a:pt x="50" y="4"/>
                    <a:pt x="49" y="4"/>
                    <a:pt x="48" y="5"/>
                  </a:cubicBezTo>
                  <a:cubicBezTo>
                    <a:pt x="48" y="5"/>
                    <a:pt x="47" y="6"/>
                    <a:pt x="47" y="8"/>
                  </a:cubicBezTo>
                  <a:cubicBezTo>
                    <a:pt x="46" y="10"/>
                    <a:pt x="46" y="12"/>
                    <a:pt x="46" y="15"/>
                  </a:cubicBezTo>
                  <a:cubicBezTo>
                    <a:pt x="46" y="52"/>
                    <a:pt x="46" y="52"/>
                    <a:pt x="46" y="52"/>
                  </a:cubicBezTo>
                  <a:cubicBezTo>
                    <a:pt x="43" y="52"/>
                    <a:pt x="43" y="52"/>
                    <a:pt x="43" y="52"/>
                  </a:cubicBezTo>
                  <a:cubicBezTo>
                    <a:pt x="12" y="10"/>
                    <a:pt x="12" y="10"/>
                    <a:pt x="12" y="10"/>
                  </a:cubicBezTo>
                  <a:cubicBezTo>
                    <a:pt x="12" y="37"/>
                    <a:pt x="12" y="37"/>
                    <a:pt x="12" y="37"/>
                  </a:cubicBezTo>
                  <a:cubicBezTo>
                    <a:pt x="12" y="39"/>
                    <a:pt x="12" y="42"/>
                    <a:pt x="13" y="43"/>
                  </a:cubicBezTo>
                  <a:cubicBezTo>
                    <a:pt x="13" y="45"/>
                    <a:pt x="14" y="46"/>
                    <a:pt x="14" y="47"/>
                  </a:cubicBezTo>
                  <a:cubicBezTo>
                    <a:pt x="15" y="47"/>
                    <a:pt x="16" y="48"/>
                    <a:pt x="18" y="48"/>
                  </a:cubicBezTo>
                  <a:cubicBezTo>
                    <a:pt x="20" y="49"/>
                    <a:pt x="21" y="49"/>
                    <a:pt x="21" y="49"/>
                  </a:cubicBezTo>
                  <a:cubicBezTo>
                    <a:pt x="21" y="51"/>
                    <a:pt x="21" y="51"/>
                    <a:pt x="21" y="51"/>
                  </a:cubicBezTo>
                  <a:cubicBezTo>
                    <a:pt x="0" y="51"/>
                    <a:pt x="0" y="51"/>
                    <a:pt x="0" y="51"/>
                  </a:cubicBezTo>
                  <a:cubicBezTo>
                    <a:pt x="0" y="49"/>
                    <a:pt x="0" y="49"/>
                    <a:pt x="0" y="49"/>
                  </a:cubicBezTo>
                  <a:cubicBezTo>
                    <a:pt x="1" y="49"/>
                    <a:pt x="2" y="49"/>
                    <a:pt x="4" y="48"/>
                  </a:cubicBezTo>
                  <a:cubicBezTo>
                    <a:pt x="5" y="48"/>
                    <a:pt x="6" y="47"/>
                    <a:pt x="7" y="47"/>
                  </a:cubicBezTo>
                  <a:cubicBezTo>
                    <a:pt x="7" y="46"/>
                    <a:pt x="8" y="45"/>
                    <a:pt x="8" y="44"/>
                  </a:cubicBezTo>
                  <a:cubicBezTo>
                    <a:pt x="9" y="43"/>
                    <a:pt x="9" y="40"/>
                    <a:pt x="9" y="37"/>
                  </a:cubicBezTo>
                  <a:cubicBezTo>
                    <a:pt x="9" y="12"/>
                    <a:pt x="9" y="12"/>
                    <a:pt x="9" y="12"/>
                  </a:cubicBezTo>
                  <a:cubicBezTo>
                    <a:pt x="9" y="11"/>
                    <a:pt x="9" y="10"/>
                    <a:pt x="8" y="9"/>
                  </a:cubicBezTo>
                  <a:cubicBezTo>
                    <a:pt x="8" y="7"/>
                    <a:pt x="7" y="7"/>
                    <a:pt x="7" y="6"/>
                  </a:cubicBezTo>
                  <a:cubicBezTo>
                    <a:pt x="6" y="5"/>
                    <a:pt x="5" y="5"/>
                    <a:pt x="3" y="4"/>
                  </a:cubicBezTo>
                  <a:cubicBezTo>
                    <a:pt x="2" y="3"/>
                    <a:pt x="0" y="3"/>
                    <a:pt x="0" y="3"/>
                  </a:cubicBezTo>
                  <a:cubicBezTo>
                    <a:pt x="0" y="0"/>
                    <a:pt x="0" y="0"/>
                    <a:pt x="0" y="0"/>
                  </a:cubicBezTo>
                  <a:cubicBezTo>
                    <a:pt x="14" y="0"/>
                    <a:pt x="14" y="0"/>
                    <a:pt x="14" y="0"/>
                  </a:cubicBezTo>
                  <a:cubicBezTo>
                    <a:pt x="43" y="39"/>
                    <a:pt x="43" y="39"/>
                    <a:pt x="43" y="39"/>
                  </a:cubicBezTo>
                  <a:cubicBezTo>
                    <a:pt x="43" y="15"/>
                    <a:pt x="43" y="15"/>
                    <a:pt x="43" y="15"/>
                  </a:cubicBezTo>
                  <a:cubicBezTo>
                    <a:pt x="43" y="12"/>
                    <a:pt x="43" y="10"/>
                    <a:pt x="42" y="8"/>
                  </a:cubicBezTo>
                  <a:cubicBezTo>
                    <a:pt x="42" y="7"/>
                    <a:pt x="41" y="6"/>
                    <a:pt x="41" y="5"/>
                  </a:cubicBezTo>
                  <a:cubicBezTo>
                    <a:pt x="40" y="5"/>
                    <a:pt x="39" y="4"/>
                    <a:pt x="37" y="4"/>
                  </a:cubicBezTo>
                  <a:cubicBezTo>
                    <a:pt x="36" y="3"/>
                    <a:pt x="35" y="3"/>
                    <a:pt x="34" y="3"/>
                  </a:cubicBezTo>
                  <a:cubicBezTo>
                    <a:pt x="34" y="0"/>
                    <a:pt x="34" y="0"/>
                    <a:pt x="34"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Freeform 33"/>
            <p:cNvSpPr/>
            <p:nvPr userDrawn="1"/>
          </p:nvSpPr>
          <p:spPr bwMode="auto">
            <a:xfrm>
              <a:off x="2773314" y="1449810"/>
              <a:ext cx="187325" cy="203200"/>
            </a:xfrm>
            <a:custGeom>
              <a:avLst/>
              <a:gdLst>
                <a:gd name="T0" fmla="*/ 50 w 50"/>
                <a:gd name="T1" fmla="*/ 32 h 54"/>
                <a:gd name="T2" fmla="*/ 48 w 50"/>
                <a:gd name="T3" fmla="*/ 32 h 54"/>
                <a:gd name="T4" fmla="*/ 45 w 50"/>
                <a:gd name="T5" fmla="*/ 33 h 54"/>
                <a:gd name="T6" fmla="*/ 44 w 50"/>
                <a:gd name="T7" fmla="*/ 35 h 54"/>
                <a:gd name="T8" fmla="*/ 43 w 50"/>
                <a:gd name="T9" fmla="*/ 37 h 54"/>
                <a:gd name="T10" fmla="*/ 43 w 50"/>
                <a:gd name="T11" fmla="*/ 41 h 54"/>
                <a:gd name="T12" fmla="*/ 43 w 50"/>
                <a:gd name="T13" fmla="*/ 47 h 54"/>
                <a:gd name="T14" fmla="*/ 43 w 50"/>
                <a:gd name="T15" fmla="*/ 49 h 54"/>
                <a:gd name="T16" fmla="*/ 34 w 50"/>
                <a:gd name="T17" fmla="*/ 52 h 54"/>
                <a:gd name="T18" fmla="*/ 25 w 50"/>
                <a:gd name="T19" fmla="*/ 54 h 54"/>
                <a:gd name="T20" fmla="*/ 15 w 50"/>
                <a:gd name="T21" fmla="*/ 52 h 54"/>
                <a:gd name="T22" fmla="*/ 7 w 50"/>
                <a:gd name="T23" fmla="*/ 47 h 54"/>
                <a:gd name="T24" fmla="*/ 2 w 50"/>
                <a:gd name="T25" fmla="*/ 38 h 54"/>
                <a:gd name="T26" fmla="*/ 0 w 50"/>
                <a:gd name="T27" fmla="*/ 27 h 54"/>
                <a:gd name="T28" fmla="*/ 2 w 50"/>
                <a:gd name="T29" fmla="*/ 17 h 54"/>
                <a:gd name="T30" fmla="*/ 7 w 50"/>
                <a:gd name="T31" fmla="*/ 8 h 54"/>
                <a:gd name="T32" fmla="*/ 15 w 50"/>
                <a:gd name="T33" fmla="*/ 2 h 54"/>
                <a:gd name="T34" fmla="*/ 25 w 50"/>
                <a:gd name="T35" fmla="*/ 0 h 54"/>
                <a:gd name="T36" fmla="*/ 33 w 50"/>
                <a:gd name="T37" fmla="*/ 1 h 54"/>
                <a:gd name="T38" fmla="*/ 39 w 50"/>
                <a:gd name="T39" fmla="*/ 4 h 54"/>
                <a:gd name="T40" fmla="*/ 40 w 50"/>
                <a:gd name="T41" fmla="*/ 1 h 54"/>
                <a:gd name="T42" fmla="*/ 43 w 50"/>
                <a:gd name="T43" fmla="*/ 1 h 54"/>
                <a:gd name="T44" fmla="*/ 43 w 50"/>
                <a:gd name="T45" fmla="*/ 19 h 54"/>
                <a:gd name="T46" fmla="*/ 40 w 50"/>
                <a:gd name="T47" fmla="*/ 19 h 54"/>
                <a:gd name="T48" fmla="*/ 38 w 50"/>
                <a:gd name="T49" fmla="*/ 13 h 54"/>
                <a:gd name="T50" fmla="*/ 36 w 50"/>
                <a:gd name="T51" fmla="*/ 8 h 54"/>
                <a:gd name="T52" fmla="*/ 31 w 50"/>
                <a:gd name="T53" fmla="*/ 5 h 54"/>
                <a:gd name="T54" fmla="*/ 25 w 50"/>
                <a:gd name="T55" fmla="*/ 3 h 54"/>
                <a:gd name="T56" fmla="*/ 18 w 50"/>
                <a:gd name="T57" fmla="*/ 5 h 54"/>
                <a:gd name="T58" fmla="*/ 13 w 50"/>
                <a:gd name="T59" fmla="*/ 10 h 54"/>
                <a:gd name="T60" fmla="*/ 10 w 50"/>
                <a:gd name="T61" fmla="*/ 17 h 54"/>
                <a:gd name="T62" fmla="*/ 9 w 50"/>
                <a:gd name="T63" fmla="*/ 27 h 54"/>
                <a:gd name="T64" fmla="*/ 10 w 50"/>
                <a:gd name="T65" fmla="*/ 36 h 54"/>
                <a:gd name="T66" fmla="*/ 13 w 50"/>
                <a:gd name="T67" fmla="*/ 44 h 54"/>
                <a:gd name="T68" fmla="*/ 19 w 50"/>
                <a:gd name="T69" fmla="*/ 49 h 54"/>
                <a:gd name="T70" fmla="*/ 26 w 50"/>
                <a:gd name="T71" fmla="*/ 50 h 54"/>
                <a:gd name="T72" fmla="*/ 32 w 50"/>
                <a:gd name="T73" fmla="*/ 49 h 54"/>
                <a:gd name="T74" fmla="*/ 36 w 50"/>
                <a:gd name="T75" fmla="*/ 47 h 54"/>
                <a:gd name="T76" fmla="*/ 36 w 50"/>
                <a:gd name="T77" fmla="*/ 44 h 54"/>
                <a:gd name="T78" fmla="*/ 36 w 50"/>
                <a:gd name="T79" fmla="*/ 40 h 54"/>
                <a:gd name="T80" fmla="*/ 36 w 50"/>
                <a:gd name="T81" fmla="*/ 38 h 54"/>
                <a:gd name="T82" fmla="*/ 36 w 50"/>
                <a:gd name="T83" fmla="*/ 35 h 54"/>
                <a:gd name="T84" fmla="*/ 34 w 50"/>
                <a:gd name="T85" fmla="*/ 33 h 54"/>
                <a:gd name="T86" fmla="*/ 31 w 50"/>
                <a:gd name="T87" fmla="*/ 32 h 54"/>
                <a:gd name="T88" fmla="*/ 28 w 50"/>
                <a:gd name="T89" fmla="*/ 32 h 54"/>
                <a:gd name="T90" fmla="*/ 28 w 50"/>
                <a:gd name="T91" fmla="*/ 29 h 54"/>
                <a:gd name="T92" fmla="*/ 50 w 50"/>
                <a:gd name="T93" fmla="*/ 29 h 54"/>
                <a:gd name="T94" fmla="*/ 50 w 50"/>
                <a:gd name="T95" fmla="*/ 3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4">
                  <a:moveTo>
                    <a:pt x="50" y="32"/>
                  </a:moveTo>
                  <a:cubicBezTo>
                    <a:pt x="49" y="32"/>
                    <a:pt x="49" y="32"/>
                    <a:pt x="48" y="32"/>
                  </a:cubicBezTo>
                  <a:cubicBezTo>
                    <a:pt x="47" y="32"/>
                    <a:pt x="46" y="33"/>
                    <a:pt x="45" y="33"/>
                  </a:cubicBezTo>
                  <a:cubicBezTo>
                    <a:pt x="44" y="33"/>
                    <a:pt x="44" y="34"/>
                    <a:pt x="44" y="35"/>
                  </a:cubicBezTo>
                  <a:cubicBezTo>
                    <a:pt x="43" y="35"/>
                    <a:pt x="43" y="36"/>
                    <a:pt x="43" y="37"/>
                  </a:cubicBezTo>
                  <a:cubicBezTo>
                    <a:pt x="43" y="41"/>
                    <a:pt x="43" y="41"/>
                    <a:pt x="43" y="41"/>
                  </a:cubicBezTo>
                  <a:cubicBezTo>
                    <a:pt x="43" y="44"/>
                    <a:pt x="43" y="46"/>
                    <a:pt x="43" y="47"/>
                  </a:cubicBezTo>
                  <a:cubicBezTo>
                    <a:pt x="43" y="48"/>
                    <a:pt x="43" y="48"/>
                    <a:pt x="43" y="49"/>
                  </a:cubicBezTo>
                  <a:cubicBezTo>
                    <a:pt x="40" y="51"/>
                    <a:pt x="37" y="52"/>
                    <a:pt x="34" y="52"/>
                  </a:cubicBezTo>
                  <a:cubicBezTo>
                    <a:pt x="31" y="53"/>
                    <a:pt x="28" y="54"/>
                    <a:pt x="25" y="54"/>
                  </a:cubicBezTo>
                  <a:cubicBezTo>
                    <a:pt x="21" y="54"/>
                    <a:pt x="18" y="53"/>
                    <a:pt x="15" y="52"/>
                  </a:cubicBezTo>
                  <a:cubicBezTo>
                    <a:pt x="12" y="51"/>
                    <a:pt x="10" y="49"/>
                    <a:pt x="7" y="47"/>
                  </a:cubicBezTo>
                  <a:cubicBezTo>
                    <a:pt x="5" y="44"/>
                    <a:pt x="3" y="41"/>
                    <a:pt x="2" y="38"/>
                  </a:cubicBezTo>
                  <a:cubicBezTo>
                    <a:pt x="1" y="35"/>
                    <a:pt x="0" y="31"/>
                    <a:pt x="0" y="27"/>
                  </a:cubicBezTo>
                  <a:cubicBezTo>
                    <a:pt x="0" y="23"/>
                    <a:pt x="1" y="20"/>
                    <a:pt x="2" y="17"/>
                  </a:cubicBezTo>
                  <a:cubicBezTo>
                    <a:pt x="3" y="13"/>
                    <a:pt x="5" y="10"/>
                    <a:pt x="7" y="8"/>
                  </a:cubicBezTo>
                  <a:cubicBezTo>
                    <a:pt x="10" y="5"/>
                    <a:pt x="12" y="4"/>
                    <a:pt x="15" y="2"/>
                  </a:cubicBezTo>
                  <a:cubicBezTo>
                    <a:pt x="19" y="1"/>
                    <a:pt x="22" y="0"/>
                    <a:pt x="25" y="0"/>
                  </a:cubicBezTo>
                  <a:cubicBezTo>
                    <a:pt x="28" y="0"/>
                    <a:pt x="31" y="1"/>
                    <a:pt x="33" y="1"/>
                  </a:cubicBezTo>
                  <a:cubicBezTo>
                    <a:pt x="35" y="2"/>
                    <a:pt x="37" y="3"/>
                    <a:pt x="39" y="4"/>
                  </a:cubicBezTo>
                  <a:cubicBezTo>
                    <a:pt x="40" y="1"/>
                    <a:pt x="40" y="1"/>
                    <a:pt x="40" y="1"/>
                  </a:cubicBezTo>
                  <a:cubicBezTo>
                    <a:pt x="43" y="1"/>
                    <a:pt x="43" y="1"/>
                    <a:pt x="43" y="1"/>
                  </a:cubicBezTo>
                  <a:cubicBezTo>
                    <a:pt x="43" y="19"/>
                    <a:pt x="43" y="19"/>
                    <a:pt x="43" y="19"/>
                  </a:cubicBezTo>
                  <a:cubicBezTo>
                    <a:pt x="40" y="19"/>
                    <a:pt x="40" y="19"/>
                    <a:pt x="40" y="19"/>
                  </a:cubicBezTo>
                  <a:cubicBezTo>
                    <a:pt x="40" y="17"/>
                    <a:pt x="39" y="15"/>
                    <a:pt x="38" y="13"/>
                  </a:cubicBezTo>
                  <a:cubicBezTo>
                    <a:pt x="38" y="12"/>
                    <a:pt x="37" y="10"/>
                    <a:pt x="36" y="8"/>
                  </a:cubicBezTo>
                  <a:cubicBezTo>
                    <a:pt x="34" y="7"/>
                    <a:pt x="33" y="6"/>
                    <a:pt x="31" y="5"/>
                  </a:cubicBezTo>
                  <a:cubicBezTo>
                    <a:pt x="30" y="4"/>
                    <a:pt x="28" y="3"/>
                    <a:pt x="25" y="3"/>
                  </a:cubicBezTo>
                  <a:cubicBezTo>
                    <a:pt x="23" y="3"/>
                    <a:pt x="20" y="4"/>
                    <a:pt x="18" y="5"/>
                  </a:cubicBezTo>
                  <a:cubicBezTo>
                    <a:pt x="16" y="6"/>
                    <a:pt x="15" y="7"/>
                    <a:pt x="13" y="10"/>
                  </a:cubicBezTo>
                  <a:cubicBezTo>
                    <a:pt x="12" y="12"/>
                    <a:pt x="11" y="14"/>
                    <a:pt x="10" y="17"/>
                  </a:cubicBezTo>
                  <a:cubicBezTo>
                    <a:pt x="9" y="20"/>
                    <a:pt x="9" y="23"/>
                    <a:pt x="9" y="27"/>
                  </a:cubicBezTo>
                  <a:cubicBezTo>
                    <a:pt x="9" y="30"/>
                    <a:pt x="9" y="33"/>
                    <a:pt x="10" y="36"/>
                  </a:cubicBezTo>
                  <a:cubicBezTo>
                    <a:pt x="11" y="39"/>
                    <a:pt x="12" y="41"/>
                    <a:pt x="13" y="44"/>
                  </a:cubicBezTo>
                  <a:cubicBezTo>
                    <a:pt x="15" y="46"/>
                    <a:pt x="17" y="47"/>
                    <a:pt x="19" y="49"/>
                  </a:cubicBezTo>
                  <a:cubicBezTo>
                    <a:pt x="21" y="50"/>
                    <a:pt x="24" y="50"/>
                    <a:pt x="26" y="50"/>
                  </a:cubicBezTo>
                  <a:cubicBezTo>
                    <a:pt x="28" y="50"/>
                    <a:pt x="30" y="50"/>
                    <a:pt x="32" y="49"/>
                  </a:cubicBezTo>
                  <a:cubicBezTo>
                    <a:pt x="34" y="49"/>
                    <a:pt x="35" y="48"/>
                    <a:pt x="36" y="47"/>
                  </a:cubicBezTo>
                  <a:cubicBezTo>
                    <a:pt x="36" y="46"/>
                    <a:pt x="36" y="45"/>
                    <a:pt x="36" y="44"/>
                  </a:cubicBezTo>
                  <a:cubicBezTo>
                    <a:pt x="36" y="42"/>
                    <a:pt x="36" y="41"/>
                    <a:pt x="36" y="40"/>
                  </a:cubicBezTo>
                  <a:cubicBezTo>
                    <a:pt x="36" y="38"/>
                    <a:pt x="36" y="38"/>
                    <a:pt x="36" y="38"/>
                  </a:cubicBezTo>
                  <a:cubicBezTo>
                    <a:pt x="36" y="37"/>
                    <a:pt x="36" y="36"/>
                    <a:pt x="36" y="35"/>
                  </a:cubicBezTo>
                  <a:cubicBezTo>
                    <a:pt x="35" y="34"/>
                    <a:pt x="35" y="34"/>
                    <a:pt x="34" y="33"/>
                  </a:cubicBezTo>
                  <a:cubicBezTo>
                    <a:pt x="33" y="33"/>
                    <a:pt x="32" y="33"/>
                    <a:pt x="31" y="32"/>
                  </a:cubicBezTo>
                  <a:cubicBezTo>
                    <a:pt x="29" y="32"/>
                    <a:pt x="28" y="32"/>
                    <a:pt x="28" y="32"/>
                  </a:cubicBezTo>
                  <a:cubicBezTo>
                    <a:pt x="28" y="29"/>
                    <a:pt x="28" y="29"/>
                    <a:pt x="28" y="29"/>
                  </a:cubicBezTo>
                  <a:cubicBezTo>
                    <a:pt x="50" y="29"/>
                    <a:pt x="50" y="29"/>
                    <a:pt x="50" y="29"/>
                  </a:cubicBezTo>
                  <a:lnTo>
                    <a:pt x="50" y="3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9" name="Freeform 34"/>
            <p:cNvSpPr/>
            <p:nvPr userDrawn="1"/>
          </p:nvSpPr>
          <p:spPr bwMode="auto">
            <a:xfrm>
              <a:off x="3040014" y="1452985"/>
              <a:ext cx="195263" cy="200025"/>
            </a:xfrm>
            <a:custGeom>
              <a:avLst/>
              <a:gdLst>
                <a:gd name="T0" fmla="*/ 52 w 52"/>
                <a:gd name="T1" fmla="*/ 3 h 53"/>
                <a:gd name="T2" fmla="*/ 49 w 52"/>
                <a:gd name="T3" fmla="*/ 3 h 53"/>
                <a:gd name="T4" fmla="*/ 46 w 52"/>
                <a:gd name="T5" fmla="*/ 5 h 53"/>
                <a:gd name="T6" fmla="*/ 44 w 52"/>
                <a:gd name="T7" fmla="*/ 8 h 53"/>
                <a:gd name="T8" fmla="*/ 44 w 52"/>
                <a:gd name="T9" fmla="*/ 14 h 53"/>
                <a:gd name="T10" fmla="*/ 44 w 52"/>
                <a:gd name="T11" fmla="*/ 36 h 53"/>
                <a:gd name="T12" fmla="*/ 42 w 52"/>
                <a:gd name="T13" fmla="*/ 44 h 53"/>
                <a:gd name="T14" fmla="*/ 37 w 52"/>
                <a:gd name="T15" fmla="*/ 49 h 53"/>
                <a:gd name="T16" fmla="*/ 31 w 52"/>
                <a:gd name="T17" fmla="*/ 52 h 53"/>
                <a:gd name="T18" fmla="*/ 25 w 52"/>
                <a:gd name="T19" fmla="*/ 53 h 53"/>
                <a:gd name="T20" fmla="*/ 17 w 52"/>
                <a:gd name="T21" fmla="*/ 51 h 53"/>
                <a:gd name="T22" fmla="*/ 11 w 52"/>
                <a:gd name="T23" fmla="*/ 48 h 53"/>
                <a:gd name="T24" fmla="*/ 8 w 52"/>
                <a:gd name="T25" fmla="*/ 43 h 53"/>
                <a:gd name="T26" fmla="*/ 6 w 52"/>
                <a:gd name="T27" fmla="*/ 38 h 53"/>
                <a:gd name="T28" fmla="*/ 6 w 52"/>
                <a:gd name="T29" fmla="*/ 8 h 53"/>
                <a:gd name="T30" fmla="*/ 6 w 52"/>
                <a:gd name="T31" fmla="*/ 6 h 53"/>
                <a:gd name="T32" fmla="*/ 4 w 52"/>
                <a:gd name="T33" fmla="*/ 4 h 53"/>
                <a:gd name="T34" fmla="*/ 2 w 52"/>
                <a:gd name="T35" fmla="*/ 3 h 53"/>
                <a:gd name="T36" fmla="*/ 0 w 52"/>
                <a:gd name="T37" fmla="*/ 3 h 53"/>
                <a:gd name="T38" fmla="*/ 0 w 52"/>
                <a:gd name="T39" fmla="*/ 0 h 53"/>
                <a:gd name="T40" fmla="*/ 21 w 52"/>
                <a:gd name="T41" fmla="*/ 0 h 53"/>
                <a:gd name="T42" fmla="*/ 21 w 52"/>
                <a:gd name="T43" fmla="*/ 3 h 53"/>
                <a:gd name="T44" fmla="*/ 18 w 52"/>
                <a:gd name="T45" fmla="*/ 3 h 53"/>
                <a:gd name="T46" fmla="*/ 16 w 52"/>
                <a:gd name="T47" fmla="*/ 4 h 53"/>
                <a:gd name="T48" fmla="*/ 14 w 52"/>
                <a:gd name="T49" fmla="*/ 5 h 53"/>
                <a:gd name="T50" fmla="*/ 14 w 52"/>
                <a:gd name="T51" fmla="*/ 8 h 53"/>
                <a:gd name="T52" fmla="*/ 14 w 52"/>
                <a:gd name="T53" fmla="*/ 36 h 53"/>
                <a:gd name="T54" fmla="*/ 15 w 52"/>
                <a:gd name="T55" fmla="*/ 40 h 53"/>
                <a:gd name="T56" fmla="*/ 16 w 52"/>
                <a:gd name="T57" fmla="*/ 44 h 53"/>
                <a:gd name="T58" fmla="*/ 20 w 52"/>
                <a:gd name="T59" fmla="*/ 47 h 53"/>
                <a:gd name="T60" fmla="*/ 27 w 52"/>
                <a:gd name="T61" fmla="*/ 49 h 53"/>
                <a:gd name="T62" fmla="*/ 33 w 52"/>
                <a:gd name="T63" fmla="*/ 47 h 53"/>
                <a:gd name="T64" fmla="*/ 38 w 52"/>
                <a:gd name="T65" fmla="*/ 44 h 53"/>
                <a:gd name="T66" fmla="*/ 40 w 52"/>
                <a:gd name="T67" fmla="*/ 40 h 53"/>
                <a:gd name="T68" fmla="*/ 40 w 52"/>
                <a:gd name="T69" fmla="*/ 36 h 53"/>
                <a:gd name="T70" fmla="*/ 40 w 52"/>
                <a:gd name="T71" fmla="*/ 15 h 53"/>
                <a:gd name="T72" fmla="*/ 40 w 52"/>
                <a:gd name="T73" fmla="*/ 8 h 53"/>
                <a:gd name="T74" fmla="*/ 38 w 52"/>
                <a:gd name="T75" fmla="*/ 5 h 53"/>
                <a:gd name="T76" fmla="*/ 35 w 52"/>
                <a:gd name="T77" fmla="*/ 4 h 53"/>
                <a:gd name="T78" fmla="*/ 31 w 52"/>
                <a:gd name="T79" fmla="*/ 3 h 53"/>
                <a:gd name="T80" fmla="*/ 31 w 52"/>
                <a:gd name="T81" fmla="*/ 0 h 53"/>
                <a:gd name="T82" fmla="*/ 52 w 52"/>
                <a:gd name="T83" fmla="*/ 0 h 53"/>
                <a:gd name="T84" fmla="*/ 52 w 52"/>
                <a:gd name="T8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53">
                  <a:moveTo>
                    <a:pt x="52" y="3"/>
                  </a:moveTo>
                  <a:cubicBezTo>
                    <a:pt x="51" y="3"/>
                    <a:pt x="50" y="3"/>
                    <a:pt x="49" y="3"/>
                  </a:cubicBezTo>
                  <a:cubicBezTo>
                    <a:pt x="48" y="4"/>
                    <a:pt x="47" y="4"/>
                    <a:pt x="46" y="5"/>
                  </a:cubicBezTo>
                  <a:cubicBezTo>
                    <a:pt x="45" y="5"/>
                    <a:pt x="45" y="6"/>
                    <a:pt x="44" y="8"/>
                  </a:cubicBezTo>
                  <a:cubicBezTo>
                    <a:pt x="44" y="10"/>
                    <a:pt x="44" y="12"/>
                    <a:pt x="44" y="14"/>
                  </a:cubicBezTo>
                  <a:cubicBezTo>
                    <a:pt x="44" y="36"/>
                    <a:pt x="44" y="36"/>
                    <a:pt x="44" y="36"/>
                  </a:cubicBezTo>
                  <a:cubicBezTo>
                    <a:pt x="44" y="39"/>
                    <a:pt x="43" y="42"/>
                    <a:pt x="42" y="44"/>
                  </a:cubicBezTo>
                  <a:cubicBezTo>
                    <a:pt x="41" y="46"/>
                    <a:pt x="39" y="48"/>
                    <a:pt x="37" y="49"/>
                  </a:cubicBezTo>
                  <a:cubicBezTo>
                    <a:pt x="36" y="50"/>
                    <a:pt x="34" y="51"/>
                    <a:pt x="31" y="52"/>
                  </a:cubicBezTo>
                  <a:cubicBezTo>
                    <a:pt x="29" y="52"/>
                    <a:pt x="27" y="53"/>
                    <a:pt x="25" y="53"/>
                  </a:cubicBezTo>
                  <a:cubicBezTo>
                    <a:pt x="22" y="53"/>
                    <a:pt x="20" y="52"/>
                    <a:pt x="17" y="51"/>
                  </a:cubicBezTo>
                  <a:cubicBezTo>
                    <a:pt x="15" y="51"/>
                    <a:pt x="13" y="49"/>
                    <a:pt x="11" y="48"/>
                  </a:cubicBezTo>
                  <a:cubicBezTo>
                    <a:pt x="10" y="47"/>
                    <a:pt x="8" y="45"/>
                    <a:pt x="8" y="43"/>
                  </a:cubicBezTo>
                  <a:cubicBezTo>
                    <a:pt x="7" y="42"/>
                    <a:pt x="6" y="40"/>
                    <a:pt x="6" y="38"/>
                  </a:cubicBezTo>
                  <a:cubicBezTo>
                    <a:pt x="6" y="8"/>
                    <a:pt x="6" y="8"/>
                    <a:pt x="6" y="8"/>
                  </a:cubicBezTo>
                  <a:cubicBezTo>
                    <a:pt x="6" y="7"/>
                    <a:pt x="6" y="6"/>
                    <a:pt x="6" y="6"/>
                  </a:cubicBezTo>
                  <a:cubicBezTo>
                    <a:pt x="6" y="5"/>
                    <a:pt x="5" y="5"/>
                    <a:pt x="4" y="4"/>
                  </a:cubicBezTo>
                  <a:cubicBezTo>
                    <a:pt x="4" y="4"/>
                    <a:pt x="3" y="4"/>
                    <a:pt x="2" y="3"/>
                  </a:cubicBezTo>
                  <a:cubicBezTo>
                    <a:pt x="1" y="3"/>
                    <a:pt x="0" y="3"/>
                    <a:pt x="0" y="3"/>
                  </a:cubicBezTo>
                  <a:cubicBezTo>
                    <a:pt x="0" y="0"/>
                    <a:pt x="0" y="0"/>
                    <a:pt x="0" y="0"/>
                  </a:cubicBezTo>
                  <a:cubicBezTo>
                    <a:pt x="21" y="0"/>
                    <a:pt x="21" y="0"/>
                    <a:pt x="21" y="0"/>
                  </a:cubicBezTo>
                  <a:cubicBezTo>
                    <a:pt x="21" y="3"/>
                    <a:pt x="21" y="3"/>
                    <a:pt x="21" y="3"/>
                  </a:cubicBezTo>
                  <a:cubicBezTo>
                    <a:pt x="20" y="3"/>
                    <a:pt x="19" y="3"/>
                    <a:pt x="18" y="3"/>
                  </a:cubicBezTo>
                  <a:cubicBezTo>
                    <a:pt x="17" y="4"/>
                    <a:pt x="17" y="4"/>
                    <a:pt x="16" y="4"/>
                  </a:cubicBezTo>
                  <a:cubicBezTo>
                    <a:pt x="15" y="4"/>
                    <a:pt x="15" y="5"/>
                    <a:pt x="14" y="5"/>
                  </a:cubicBezTo>
                  <a:cubicBezTo>
                    <a:pt x="14" y="6"/>
                    <a:pt x="14" y="7"/>
                    <a:pt x="14" y="8"/>
                  </a:cubicBezTo>
                  <a:cubicBezTo>
                    <a:pt x="14" y="36"/>
                    <a:pt x="14" y="36"/>
                    <a:pt x="14" y="36"/>
                  </a:cubicBezTo>
                  <a:cubicBezTo>
                    <a:pt x="14" y="37"/>
                    <a:pt x="14" y="38"/>
                    <a:pt x="15" y="40"/>
                  </a:cubicBezTo>
                  <a:cubicBezTo>
                    <a:pt x="15" y="41"/>
                    <a:pt x="15" y="43"/>
                    <a:pt x="16" y="44"/>
                  </a:cubicBezTo>
                  <a:cubicBezTo>
                    <a:pt x="17" y="45"/>
                    <a:pt x="19" y="46"/>
                    <a:pt x="20" y="47"/>
                  </a:cubicBezTo>
                  <a:cubicBezTo>
                    <a:pt x="22" y="48"/>
                    <a:pt x="24" y="49"/>
                    <a:pt x="27" y="49"/>
                  </a:cubicBezTo>
                  <a:cubicBezTo>
                    <a:pt x="29" y="49"/>
                    <a:pt x="32" y="48"/>
                    <a:pt x="33" y="47"/>
                  </a:cubicBezTo>
                  <a:cubicBezTo>
                    <a:pt x="35" y="46"/>
                    <a:pt x="37" y="45"/>
                    <a:pt x="38" y="44"/>
                  </a:cubicBezTo>
                  <a:cubicBezTo>
                    <a:pt x="39" y="43"/>
                    <a:pt x="39" y="41"/>
                    <a:pt x="40" y="40"/>
                  </a:cubicBezTo>
                  <a:cubicBezTo>
                    <a:pt x="40" y="39"/>
                    <a:pt x="40" y="37"/>
                    <a:pt x="40" y="36"/>
                  </a:cubicBezTo>
                  <a:cubicBezTo>
                    <a:pt x="40" y="15"/>
                    <a:pt x="40" y="15"/>
                    <a:pt x="40" y="15"/>
                  </a:cubicBezTo>
                  <a:cubicBezTo>
                    <a:pt x="40" y="12"/>
                    <a:pt x="40" y="10"/>
                    <a:pt x="40" y="8"/>
                  </a:cubicBezTo>
                  <a:cubicBezTo>
                    <a:pt x="39" y="7"/>
                    <a:pt x="39" y="6"/>
                    <a:pt x="38" y="5"/>
                  </a:cubicBezTo>
                  <a:cubicBezTo>
                    <a:pt x="37" y="4"/>
                    <a:pt x="36" y="4"/>
                    <a:pt x="35" y="4"/>
                  </a:cubicBezTo>
                  <a:cubicBezTo>
                    <a:pt x="33" y="3"/>
                    <a:pt x="32" y="3"/>
                    <a:pt x="31" y="3"/>
                  </a:cubicBezTo>
                  <a:cubicBezTo>
                    <a:pt x="31" y="0"/>
                    <a:pt x="31" y="0"/>
                    <a:pt x="31"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0" name="Freeform 35"/>
            <p:cNvSpPr/>
            <p:nvPr userDrawn="1"/>
          </p:nvSpPr>
          <p:spPr bwMode="auto">
            <a:xfrm>
              <a:off x="3243214" y="1452985"/>
              <a:ext cx="206375" cy="196850"/>
            </a:xfrm>
            <a:custGeom>
              <a:avLst/>
              <a:gdLst>
                <a:gd name="T0" fmla="*/ 55 w 55"/>
                <a:gd name="T1" fmla="*/ 3 h 52"/>
                <a:gd name="T2" fmla="*/ 52 w 55"/>
                <a:gd name="T3" fmla="*/ 4 h 52"/>
                <a:gd name="T4" fmla="*/ 49 w 55"/>
                <a:gd name="T5" fmla="*/ 5 h 52"/>
                <a:gd name="T6" fmla="*/ 48 w 55"/>
                <a:gd name="T7" fmla="*/ 8 h 52"/>
                <a:gd name="T8" fmla="*/ 47 w 55"/>
                <a:gd name="T9" fmla="*/ 15 h 52"/>
                <a:gd name="T10" fmla="*/ 47 w 55"/>
                <a:gd name="T11" fmla="*/ 52 h 52"/>
                <a:gd name="T12" fmla="*/ 44 w 55"/>
                <a:gd name="T13" fmla="*/ 52 h 52"/>
                <a:gd name="T14" fmla="*/ 13 w 55"/>
                <a:gd name="T15" fmla="*/ 10 h 52"/>
                <a:gd name="T16" fmla="*/ 13 w 55"/>
                <a:gd name="T17" fmla="*/ 37 h 52"/>
                <a:gd name="T18" fmla="*/ 14 w 55"/>
                <a:gd name="T19" fmla="*/ 43 h 52"/>
                <a:gd name="T20" fmla="*/ 15 w 55"/>
                <a:gd name="T21" fmla="*/ 47 h 52"/>
                <a:gd name="T22" fmla="*/ 19 w 55"/>
                <a:gd name="T23" fmla="*/ 48 h 52"/>
                <a:gd name="T24" fmla="*/ 22 w 55"/>
                <a:gd name="T25" fmla="*/ 49 h 52"/>
                <a:gd name="T26" fmla="*/ 22 w 55"/>
                <a:gd name="T27" fmla="*/ 51 h 52"/>
                <a:gd name="T28" fmla="*/ 1 w 55"/>
                <a:gd name="T29" fmla="*/ 51 h 52"/>
                <a:gd name="T30" fmla="*/ 1 w 55"/>
                <a:gd name="T31" fmla="*/ 49 h 52"/>
                <a:gd name="T32" fmla="*/ 5 w 55"/>
                <a:gd name="T33" fmla="*/ 48 h 52"/>
                <a:gd name="T34" fmla="*/ 7 w 55"/>
                <a:gd name="T35" fmla="*/ 47 h 52"/>
                <a:gd name="T36" fmla="*/ 9 w 55"/>
                <a:gd name="T37" fmla="*/ 44 h 52"/>
                <a:gd name="T38" fmla="*/ 10 w 55"/>
                <a:gd name="T39" fmla="*/ 37 h 52"/>
                <a:gd name="T40" fmla="*/ 10 w 55"/>
                <a:gd name="T41" fmla="*/ 12 h 52"/>
                <a:gd name="T42" fmla="*/ 9 w 55"/>
                <a:gd name="T43" fmla="*/ 9 h 52"/>
                <a:gd name="T44" fmla="*/ 8 w 55"/>
                <a:gd name="T45" fmla="*/ 6 h 52"/>
                <a:gd name="T46" fmla="*/ 4 w 55"/>
                <a:gd name="T47" fmla="*/ 4 h 52"/>
                <a:gd name="T48" fmla="*/ 0 w 55"/>
                <a:gd name="T49" fmla="*/ 3 h 52"/>
                <a:gd name="T50" fmla="*/ 0 w 55"/>
                <a:gd name="T51" fmla="*/ 0 h 52"/>
                <a:gd name="T52" fmla="*/ 15 w 55"/>
                <a:gd name="T53" fmla="*/ 0 h 52"/>
                <a:gd name="T54" fmla="*/ 44 w 55"/>
                <a:gd name="T55" fmla="*/ 39 h 52"/>
                <a:gd name="T56" fmla="*/ 44 w 55"/>
                <a:gd name="T57" fmla="*/ 15 h 52"/>
                <a:gd name="T58" fmla="*/ 43 w 55"/>
                <a:gd name="T59" fmla="*/ 8 h 52"/>
                <a:gd name="T60" fmla="*/ 41 w 55"/>
                <a:gd name="T61" fmla="*/ 5 h 52"/>
                <a:gd name="T62" fmla="*/ 38 w 55"/>
                <a:gd name="T63" fmla="*/ 4 h 52"/>
                <a:gd name="T64" fmla="*/ 35 w 55"/>
                <a:gd name="T65" fmla="*/ 3 h 52"/>
                <a:gd name="T66" fmla="*/ 35 w 55"/>
                <a:gd name="T67" fmla="*/ 0 h 52"/>
                <a:gd name="T68" fmla="*/ 55 w 55"/>
                <a:gd name="T69" fmla="*/ 0 h 52"/>
                <a:gd name="T70" fmla="*/ 55 w 55"/>
                <a:gd name="T71"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 h="52">
                  <a:moveTo>
                    <a:pt x="55" y="3"/>
                  </a:moveTo>
                  <a:cubicBezTo>
                    <a:pt x="55" y="3"/>
                    <a:pt x="54" y="3"/>
                    <a:pt x="52" y="4"/>
                  </a:cubicBezTo>
                  <a:cubicBezTo>
                    <a:pt x="51" y="4"/>
                    <a:pt x="50" y="4"/>
                    <a:pt x="49" y="5"/>
                  </a:cubicBezTo>
                  <a:cubicBezTo>
                    <a:pt x="48" y="5"/>
                    <a:pt x="48" y="6"/>
                    <a:pt x="48" y="8"/>
                  </a:cubicBezTo>
                  <a:cubicBezTo>
                    <a:pt x="47" y="10"/>
                    <a:pt x="47" y="12"/>
                    <a:pt x="47" y="15"/>
                  </a:cubicBezTo>
                  <a:cubicBezTo>
                    <a:pt x="47" y="52"/>
                    <a:pt x="47" y="52"/>
                    <a:pt x="47" y="52"/>
                  </a:cubicBezTo>
                  <a:cubicBezTo>
                    <a:pt x="44" y="52"/>
                    <a:pt x="44" y="52"/>
                    <a:pt x="44" y="52"/>
                  </a:cubicBezTo>
                  <a:cubicBezTo>
                    <a:pt x="13" y="10"/>
                    <a:pt x="13" y="10"/>
                    <a:pt x="13" y="10"/>
                  </a:cubicBezTo>
                  <a:cubicBezTo>
                    <a:pt x="13" y="37"/>
                    <a:pt x="13" y="37"/>
                    <a:pt x="13" y="37"/>
                  </a:cubicBezTo>
                  <a:cubicBezTo>
                    <a:pt x="13" y="39"/>
                    <a:pt x="13" y="42"/>
                    <a:pt x="14" y="43"/>
                  </a:cubicBezTo>
                  <a:cubicBezTo>
                    <a:pt x="14" y="45"/>
                    <a:pt x="15" y="46"/>
                    <a:pt x="15" y="47"/>
                  </a:cubicBezTo>
                  <a:cubicBezTo>
                    <a:pt x="16" y="47"/>
                    <a:pt x="17" y="48"/>
                    <a:pt x="19" y="48"/>
                  </a:cubicBezTo>
                  <a:cubicBezTo>
                    <a:pt x="20" y="49"/>
                    <a:pt x="22" y="49"/>
                    <a:pt x="22" y="49"/>
                  </a:cubicBezTo>
                  <a:cubicBezTo>
                    <a:pt x="22" y="51"/>
                    <a:pt x="22" y="51"/>
                    <a:pt x="22" y="51"/>
                  </a:cubicBezTo>
                  <a:cubicBezTo>
                    <a:pt x="1" y="51"/>
                    <a:pt x="1" y="51"/>
                    <a:pt x="1" y="51"/>
                  </a:cubicBezTo>
                  <a:cubicBezTo>
                    <a:pt x="1" y="49"/>
                    <a:pt x="1" y="49"/>
                    <a:pt x="1" y="49"/>
                  </a:cubicBezTo>
                  <a:cubicBezTo>
                    <a:pt x="2" y="49"/>
                    <a:pt x="3" y="49"/>
                    <a:pt x="5" y="48"/>
                  </a:cubicBezTo>
                  <a:cubicBezTo>
                    <a:pt x="6" y="48"/>
                    <a:pt x="7" y="47"/>
                    <a:pt x="7" y="47"/>
                  </a:cubicBezTo>
                  <a:cubicBezTo>
                    <a:pt x="8" y="46"/>
                    <a:pt x="9" y="45"/>
                    <a:pt x="9" y="44"/>
                  </a:cubicBezTo>
                  <a:cubicBezTo>
                    <a:pt x="9" y="43"/>
                    <a:pt x="10" y="40"/>
                    <a:pt x="10" y="37"/>
                  </a:cubicBezTo>
                  <a:cubicBezTo>
                    <a:pt x="10" y="12"/>
                    <a:pt x="10" y="12"/>
                    <a:pt x="10" y="12"/>
                  </a:cubicBezTo>
                  <a:cubicBezTo>
                    <a:pt x="10" y="11"/>
                    <a:pt x="9" y="10"/>
                    <a:pt x="9" y="9"/>
                  </a:cubicBezTo>
                  <a:cubicBezTo>
                    <a:pt x="9" y="7"/>
                    <a:pt x="8" y="7"/>
                    <a:pt x="8" y="6"/>
                  </a:cubicBezTo>
                  <a:cubicBezTo>
                    <a:pt x="7" y="5"/>
                    <a:pt x="6" y="5"/>
                    <a:pt x="4" y="4"/>
                  </a:cubicBezTo>
                  <a:cubicBezTo>
                    <a:pt x="3" y="3"/>
                    <a:pt x="1" y="3"/>
                    <a:pt x="0" y="3"/>
                  </a:cubicBezTo>
                  <a:cubicBezTo>
                    <a:pt x="0" y="0"/>
                    <a:pt x="0" y="0"/>
                    <a:pt x="0" y="0"/>
                  </a:cubicBezTo>
                  <a:cubicBezTo>
                    <a:pt x="15" y="0"/>
                    <a:pt x="15" y="0"/>
                    <a:pt x="15" y="0"/>
                  </a:cubicBezTo>
                  <a:cubicBezTo>
                    <a:pt x="44" y="39"/>
                    <a:pt x="44" y="39"/>
                    <a:pt x="44" y="39"/>
                  </a:cubicBezTo>
                  <a:cubicBezTo>
                    <a:pt x="44" y="15"/>
                    <a:pt x="44" y="15"/>
                    <a:pt x="44" y="15"/>
                  </a:cubicBezTo>
                  <a:cubicBezTo>
                    <a:pt x="44" y="12"/>
                    <a:pt x="43" y="10"/>
                    <a:pt x="43" y="8"/>
                  </a:cubicBezTo>
                  <a:cubicBezTo>
                    <a:pt x="43" y="7"/>
                    <a:pt x="42" y="6"/>
                    <a:pt x="41" y="5"/>
                  </a:cubicBezTo>
                  <a:cubicBezTo>
                    <a:pt x="41" y="5"/>
                    <a:pt x="40" y="4"/>
                    <a:pt x="38" y="4"/>
                  </a:cubicBezTo>
                  <a:cubicBezTo>
                    <a:pt x="37" y="3"/>
                    <a:pt x="36" y="3"/>
                    <a:pt x="35" y="3"/>
                  </a:cubicBezTo>
                  <a:cubicBezTo>
                    <a:pt x="35" y="0"/>
                    <a:pt x="35" y="0"/>
                    <a:pt x="35" y="0"/>
                  </a:cubicBezTo>
                  <a:cubicBezTo>
                    <a:pt x="55" y="0"/>
                    <a:pt x="55" y="0"/>
                    <a:pt x="55" y="0"/>
                  </a:cubicBezTo>
                  <a:lnTo>
                    <a:pt x="55"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Freeform 36"/>
            <p:cNvSpPr/>
            <p:nvPr userDrawn="1"/>
          </p:nvSpPr>
          <p:spPr bwMode="auto">
            <a:xfrm>
              <a:off x="3457526"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8 w 23"/>
                <a:gd name="T11" fmla="*/ 47 h 51"/>
                <a:gd name="T12" fmla="*/ 8 w 23"/>
                <a:gd name="T13" fmla="*/ 45 h 51"/>
                <a:gd name="T14" fmla="*/ 8 w 23"/>
                <a:gd name="T15" fmla="*/ 8 h 51"/>
                <a:gd name="T16" fmla="*/ 8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1 w 23"/>
                <a:gd name="T31" fmla="*/ 3 h 51"/>
                <a:gd name="T32" fmla="*/ 18 w 23"/>
                <a:gd name="T33" fmla="*/ 4 h 51"/>
                <a:gd name="T34" fmla="*/ 16 w 23"/>
                <a:gd name="T35" fmla="*/ 5 h 51"/>
                <a:gd name="T36" fmla="*/ 16 w 23"/>
                <a:gd name="T37" fmla="*/ 7 h 51"/>
                <a:gd name="T38" fmla="*/ 16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7" y="48"/>
                    <a:pt x="7" y="47"/>
                    <a:pt x="8" y="47"/>
                  </a:cubicBezTo>
                  <a:cubicBezTo>
                    <a:pt x="8" y="46"/>
                    <a:pt x="8" y="46"/>
                    <a:pt x="8" y="45"/>
                  </a:cubicBezTo>
                  <a:cubicBezTo>
                    <a:pt x="8" y="8"/>
                    <a:pt x="8" y="8"/>
                    <a:pt x="8" y="8"/>
                  </a:cubicBezTo>
                  <a:cubicBezTo>
                    <a:pt x="8" y="7"/>
                    <a:pt x="8" y="6"/>
                    <a:pt x="8"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3" y="3"/>
                    <a:pt x="22" y="3"/>
                    <a:pt x="21" y="3"/>
                  </a:cubicBezTo>
                  <a:cubicBezTo>
                    <a:pt x="20" y="3"/>
                    <a:pt x="19" y="4"/>
                    <a:pt x="18" y="4"/>
                  </a:cubicBezTo>
                  <a:cubicBezTo>
                    <a:pt x="17" y="4"/>
                    <a:pt x="16" y="5"/>
                    <a:pt x="16" y="5"/>
                  </a:cubicBezTo>
                  <a:cubicBezTo>
                    <a:pt x="16" y="6"/>
                    <a:pt x="16" y="7"/>
                    <a:pt x="16" y="7"/>
                  </a:cubicBezTo>
                  <a:cubicBezTo>
                    <a:pt x="16" y="44"/>
                    <a:pt x="16" y="44"/>
                    <a:pt x="16" y="44"/>
                  </a:cubicBezTo>
                  <a:cubicBezTo>
                    <a:pt x="16" y="45"/>
                    <a:pt x="16" y="46"/>
                    <a:pt x="16" y="46"/>
                  </a:cubicBezTo>
                  <a:cubicBezTo>
                    <a:pt x="17" y="47"/>
                    <a:pt x="17" y="47"/>
                    <a:pt x="18" y="48"/>
                  </a:cubicBezTo>
                  <a:cubicBezTo>
                    <a:pt x="19" y="48"/>
                    <a:pt x="19" y="48"/>
                    <a:pt x="20" y="48"/>
                  </a:cubicBezTo>
                  <a:cubicBezTo>
                    <a:pt x="22" y="49"/>
                    <a:pt x="23"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2" name="Freeform 37"/>
            <p:cNvSpPr/>
            <p:nvPr userDrawn="1"/>
          </p:nvSpPr>
          <p:spPr bwMode="auto">
            <a:xfrm>
              <a:off x="3551189" y="1452985"/>
              <a:ext cx="195263" cy="196850"/>
            </a:xfrm>
            <a:custGeom>
              <a:avLst/>
              <a:gdLst>
                <a:gd name="T0" fmla="*/ 52 w 52"/>
                <a:gd name="T1" fmla="*/ 3 h 52"/>
                <a:gd name="T2" fmla="*/ 50 w 52"/>
                <a:gd name="T3" fmla="*/ 3 h 52"/>
                <a:gd name="T4" fmla="*/ 48 w 52"/>
                <a:gd name="T5" fmla="*/ 4 h 52"/>
                <a:gd name="T6" fmla="*/ 46 w 52"/>
                <a:gd name="T7" fmla="*/ 6 h 52"/>
                <a:gd name="T8" fmla="*/ 44 w 52"/>
                <a:gd name="T9" fmla="*/ 9 h 52"/>
                <a:gd name="T10" fmla="*/ 37 w 52"/>
                <a:gd name="T11" fmla="*/ 27 h 52"/>
                <a:gd name="T12" fmla="*/ 27 w 52"/>
                <a:gd name="T13" fmla="*/ 52 h 52"/>
                <a:gd name="T14" fmla="*/ 24 w 52"/>
                <a:gd name="T15" fmla="*/ 52 h 52"/>
                <a:gd name="T16" fmla="*/ 14 w 52"/>
                <a:gd name="T17" fmla="*/ 25 h 52"/>
                <a:gd name="T18" fmla="*/ 8 w 52"/>
                <a:gd name="T19" fmla="*/ 8 h 52"/>
                <a:gd name="T20" fmla="*/ 7 w 52"/>
                <a:gd name="T21" fmla="*/ 6 h 52"/>
                <a:gd name="T22" fmla="*/ 5 w 52"/>
                <a:gd name="T23" fmla="*/ 4 h 52"/>
                <a:gd name="T24" fmla="*/ 2 w 52"/>
                <a:gd name="T25" fmla="*/ 3 h 52"/>
                <a:gd name="T26" fmla="*/ 0 w 52"/>
                <a:gd name="T27" fmla="*/ 3 h 52"/>
                <a:gd name="T28" fmla="*/ 0 w 52"/>
                <a:gd name="T29" fmla="*/ 0 h 52"/>
                <a:gd name="T30" fmla="*/ 21 w 52"/>
                <a:gd name="T31" fmla="*/ 0 h 52"/>
                <a:gd name="T32" fmla="*/ 21 w 52"/>
                <a:gd name="T33" fmla="*/ 3 h 52"/>
                <a:gd name="T34" fmla="*/ 17 w 52"/>
                <a:gd name="T35" fmla="*/ 4 h 52"/>
                <a:gd name="T36" fmla="*/ 15 w 52"/>
                <a:gd name="T37" fmla="*/ 5 h 52"/>
                <a:gd name="T38" fmla="*/ 15 w 52"/>
                <a:gd name="T39" fmla="*/ 6 h 52"/>
                <a:gd name="T40" fmla="*/ 15 w 52"/>
                <a:gd name="T41" fmla="*/ 7 h 52"/>
                <a:gd name="T42" fmla="*/ 20 w 52"/>
                <a:gd name="T43" fmla="*/ 18 h 52"/>
                <a:gd name="T44" fmla="*/ 28 w 52"/>
                <a:gd name="T45" fmla="*/ 41 h 52"/>
                <a:gd name="T46" fmla="*/ 34 w 52"/>
                <a:gd name="T47" fmla="*/ 25 h 52"/>
                <a:gd name="T48" fmla="*/ 39 w 52"/>
                <a:gd name="T49" fmla="*/ 13 h 52"/>
                <a:gd name="T50" fmla="*/ 41 w 52"/>
                <a:gd name="T51" fmla="*/ 8 h 52"/>
                <a:gd name="T52" fmla="*/ 41 w 52"/>
                <a:gd name="T53" fmla="*/ 6 h 52"/>
                <a:gd name="T54" fmla="*/ 40 w 52"/>
                <a:gd name="T55" fmla="*/ 5 h 52"/>
                <a:gd name="T56" fmla="*/ 38 w 52"/>
                <a:gd name="T57" fmla="*/ 4 h 52"/>
                <a:gd name="T58" fmla="*/ 36 w 52"/>
                <a:gd name="T59" fmla="*/ 3 h 52"/>
                <a:gd name="T60" fmla="*/ 33 w 52"/>
                <a:gd name="T61" fmla="*/ 3 h 52"/>
                <a:gd name="T62" fmla="*/ 33 w 52"/>
                <a:gd name="T63" fmla="*/ 0 h 52"/>
                <a:gd name="T64" fmla="*/ 52 w 52"/>
                <a:gd name="T65" fmla="*/ 0 h 52"/>
                <a:gd name="T66" fmla="*/ 52 w 52"/>
                <a:gd name="T67" fmla="*/ 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52">
                  <a:moveTo>
                    <a:pt x="52" y="3"/>
                  </a:moveTo>
                  <a:cubicBezTo>
                    <a:pt x="52" y="3"/>
                    <a:pt x="51" y="3"/>
                    <a:pt x="50" y="3"/>
                  </a:cubicBezTo>
                  <a:cubicBezTo>
                    <a:pt x="49" y="4"/>
                    <a:pt x="48" y="4"/>
                    <a:pt x="48" y="4"/>
                  </a:cubicBezTo>
                  <a:cubicBezTo>
                    <a:pt x="47" y="5"/>
                    <a:pt x="46" y="6"/>
                    <a:pt x="46" y="6"/>
                  </a:cubicBezTo>
                  <a:cubicBezTo>
                    <a:pt x="45" y="7"/>
                    <a:pt x="45" y="8"/>
                    <a:pt x="44" y="9"/>
                  </a:cubicBezTo>
                  <a:cubicBezTo>
                    <a:pt x="43" y="13"/>
                    <a:pt x="40" y="19"/>
                    <a:pt x="37" y="27"/>
                  </a:cubicBezTo>
                  <a:cubicBezTo>
                    <a:pt x="34" y="35"/>
                    <a:pt x="31" y="43"/>
                    <a:pt x="27" y="52"/>
                  </a:cubicBezTo>
                  <a:cubicBezTo>
                    <a:pt x="24" y="52"/>
                    <a:pt x="24" y="52"/>
                    <a:pt x="24" y="52"/>
                  </a:cubicBezTo>
                  <a:cubicBezTo>
                    <a:pt x="21" y="43"/>
                    <a:pt x="17" y="34"/>
                    <a:pt x="14" y="25"/>
                  </a:cubicBezTo>
                  <a:cubicBezTo>
                    <a:pt x="11" y="17"/>
                    <a:pt x="9" y="11"/>
                    <a:pt x="8" y="8"/>
                  </a:cubicBezTo>
                  <a:cubicBezTo>
                    <a:pt x="7" y="7"/>
                    <a:pt x="7" y="6"/>
                    <a:pt x="7" y="6"/>
                  </a:cubicBezTo>
                  <a:cubicBezTo>
                    <a:pt x="6" y="5"/>
                    <a:pt x="5" y="5"/>
                    <a:pt x="5" y="4"/>
                  </a:cubicBezTo>
                  <a:cubicBezTo>
                    <a:pt x="4" y="4"/>
                    <a:pt x="3" y="4"/>
                    <a:pt x="2" y="3"/>
                  </a:cubicBezTo>
                  <a:cubicBezTo>
                    <a:pt x="2" y="3"/>
                    <a:pt x="1" y="3"/>
                    <a:pt x="0" y="3"/>
                  </a:cubicBezTo>
                  <a:cubicBezTo>
                    <a:pt x="0" y="0"/>
                    <a:pt x="0" y="0"/>
                    <a:pt x="0" y="0"/>
                  </a:cubicBezTo>
                  <a:cubicBezTo>
                    <a:pt x="21" y="0"/>
                    <a:pt x="21" y="0"/>
                    <a:pt x="21" y="0"/>
                  </a:cubicBezTo>
                  <a:cubicBezTo>
                    <a:pt x="21" y="3"/>
                    <a:pt x="21" y="3"/>
                    <a:pt x="21" y="3"/>
                  </a:cubicBezTo>
                  <a:cubicBezTo>
                    <a:pt x="20" y="3"/>
                    <a:pt x="18" y="3"/>
                    <a:pt x="17" y="4"/>
                  </a:cubicBezTo>
                  <a:cubicBezTo>
                    <a:pt x="16" y="4"/>
                    <a:pt x="15" y="4"/>
                    <a:pt x="15" y="5"/>
                  </a:cubicBezTo>
                  <a:cubicBezTo>
                    <a:pt x="15" y="5"/>
                    <a:pt x="15" y="6"/>
                    <a:pt x="15" y="6"/>
                  </a:cubicBezTo>
                  <a:cubicBezTo>
                    <a:pt x="15" y="6"/>
                    <a:pt x="15" y="7"/>
                    <a:pt x="15" y="7"/>
                  </a:cubicBezTo>
                  <a:cubicBezTo>
                    <a:pt x="16" y="9"/>
                    <a:pt x="18" y="13"/>
                    <a:pt x="20" y="18"/>
                  </a:cubicBezTo>
                  <a:cubicBezTo>
                    <a:pt x="22" y="24"/>
                    <a:pt x="24" y="31"/>
                    <a:pt x="28" y="41"/>
                  </a:cubicBezTo>
                  <a:cubicBezTo>
                    <a:pt x="30" y="36"/>
                    <a:pt x="32" y="31"/>
                    <a:pt x="34" y="25"/>
                  </a:cubicBezTo>
                  <a:cubicBezTo>
                    <a:pt x="37" y="19"/>
                    <a:pt x="38" y="15"/>
                    <a:pt x="39" y="13"/>
                  </a:cubicBezTo>
                  <a:cubicBezTo>
                    <a:pt x="40" y="11"/>
                    <a:pt x="40" y="9"/>
                    <a:pt x="41" y="8"/>
                  </a:cubicBezTo>
                  <a:cubicBezTo>
                    <a:pt x="41" y="7"/>
                    <a:pt x="41" y="7"/>
                    <a:pt x="41" y="6"/>
                  </a:cubicBezTo>
                  <a:cubicBezTo>
                    <a:pt x="41" y="6"/>
                    <a:pt x="40" y="5"/>
                    <a:pt x="40" y="5"/>
                  </a:cubicBezTo>
                  <a:cubicBezTo>
                    <a:pt x="40" y="4"/>
                    <a:pt x="39" y="4"/>
                    <a:pt x="38" y="4"/>
                  </a:cubicBezTo>
                  <a:cubicBezTo>
                    <a:pt x="37" y="4"/>
                    <a:pt x="36" y="3"/>
                    <a:pt x="36" y="3"/>
                  </a:cubicBezTo>
                  <a:cubicBezTo>
                    <a:pt x="35" y="3"/>
                    <a:pt x="34" y="3"/>
                    <a:pt x="33" y="3"/>
                  </a:cubicBezTo>
                  <a:cubicBezTo>
                    <a:pt x="33" y="0"/>
                    <a:pt x="33" y="0"/>
                    <a:pt x="33" y="0"/>
                  </a:cubicBezTo>
                  <a:cubicBezTo>
                    <a:pt x="52" y="0"/>
                    <a:pt x="52" y="0"/>
                    <a:pt x="52" y="0"/>
                  </a:cubicBezTo>
                  <a:lnTo>
                    <a:pt x="52"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3" name="Freeform 38"/>
            <p:cNvSpPr/>
            <p:nvPr userDrawn="1"/>
          </p:nvSpPr>
          <p:spPr bwMode="auto">
            <a:xfrm>
              <a:off x="3754389" y="1452985"/>
              <a:ext cx="161925" cy="192088"/>
            </a:xfrm>
            <a:custGeom>
              <a:avLst/>
              <a:gdLst>
                <a:gd name="T0" fmla="*/ 43 w 43"/>
                <a:gd name="T1" fmla="*/ 36 h 51"/>
                <a:gd name="T2" fmla="*/ 42 w 43"/>
                <a:gd name="T3" fmla="*/ 51 h 51"/>
                <a:gd name="T4" fmla="*/ 0 w 43"/>
                <a:gd name="T5" fmla="*/ 51 h 51"/>
                <a:gd name="T6" fmla="*/ 0 w 43"/>
                <a:gd name="T7" fmla="*/ 49 h 51"/>
                <a:gd name="T8" fmla="*/ 3 w 43"/>
                <a:gd name="T9" fmla="*/ 49 h 51"/>
                <a:gd name="T10" fmla="*/ 5 w 43"/>
                <a:gd name="T11" fmla="*/ 48 h 51"/>
                <a:gd name="T12" fmla="*/ 6 w 43"/>
                <a:gd name="T13" fmla="*/ 47 h 51"/>
                <a:gd name="T14" fmla="*/ 7 w 43"/>
                <a:gd name="T15" fmla="*/ 44 h 51"/>
                <a:gd name="T16" fmla="*/ 7 w 43"/>
                <a:gd name="T17" fmla="*/ 8 h 51"/>
                <a:gd name="T18" fmla="*/ 7 w 43"/>
                <a:gd name="T19" fmla="*/ 6 h 51"/>
                <a:gd name="T20" fmla="*/ 5 w 43"/>
                <a:gd name="T21" fmla="*/ 4 h 51"/>
                <a:gd name="T22" fmla="*/ 2 w 43"/>
                <a:gd name="T23" fmla="*/ 3 h 51"/>
                <a:gd name="T24" fmla="*/ 0 w 43"/>
                <a:gd name="T25" fmla="*/ 3 h 51"/>
                <a:gd name="T26" fmla="*/ 0 w 43"/>
                <a:gd name="T27" fmla="*/ 0 h 51"/>
                <a:gd name="T28" fmla="*/ 39 w 43"/>
                <a:gd name="T29" fmla="*/ 0 h 51"/>
                <a:gd name="T30" fmla="*/ 39 w 43"/>
                <a:gd name="T31" fmla="*/ 13 h 51"/>
                <a:gd name="T32" fmla="*/ 36 w 43"/>
                <a:gd name="T33" fmla="*/ 13 h 51"/>
                <a:gd name="T34" fmla="*/ 33 w 43"/>
                <a:gd name="T35" fmla="*/ 7 h 51"/>
                <a:gd name="T36" fmla="*/ 29 w 43"/>
                <a:gd name="T37" fmla="*/ 4 h 51"/>
                <a:gd name="T38" fmla="*/ 26 w 43"/>
                <a:gd name="T39" fmla="*/ 4 h 51"/>
                <a:gd name="T40" fmla="*/ 23 w 43"/>
                <a:gd name="T41" fmla="*/ 3 h 51"/>
                <a:gd name="T42" fmla="*/ 15 w 43"/>
                <a:gd name="T43" fmla="*/ 3 h 51"/>
                <a:gd name="T44" fmla="*/ 15 w 43"/>
                <a:gd name="T45" fmla="*/ 24 h 51"/>
                <a:gd name="T46" fmla="*/ 20 w 43"/>
                <a:gd name="T47" fmla="*/ 24 h 51"/>
                <a:gd name="T48" fmla="*/ 24 w 43"/>
                <a:gd name="T49" fmla="*/ 23 h 51"/>
                <a:gd name="T50" fmla="*/ 27 w 43"/>
                <a:gd name="T51" fmla="*/ 21 h 51"/>
                <a:gd name="T52" fmla="*/ 28 w 43"/>
                <a:gd name="T53" fmla="*/ 19 h 51"/>
                <a:gd name="T54" fmla="*/ 29 w 43"/>
                <a:gd name="T55" fmla="*/ 15 h 51"/>
                <a:gd name="T56" fmla="*/ 31 w 43"/>
                <a:gd name="T57" fmla="*/ 15 h 51"/>
                <a:gd name="T58" fmla="*/ 31 w 43"/>
                <a:gd name="T59" fmla="*/ 35 h 51"/>
                <a:gd name="T60" fmla="*/ 29 w 43"/>
                <a:gd name="T61" fmla="*/ 35 h 51"/>
                <a:gd name="T62" fmla="*/ 28 w 43"/>
                <a:gd name="T63" fmla="*/ 32 h 51"/>
                <a:gd name="T64" fmla="*/ 27 w 43"/>
                <a:gd name="T65" fmla="*/ 29 h 51"/>
                <a:gd name="T66" fmla="*/ 24 w 43"/>
                <a:gd name="T67" fmla="*/ 27 h 51"/>
                <a:gd name="T68" fmla="*/ 20 w 43"/>
                <a:gd name="T69" fmla="*/ 27 h 51"/>
                <a:gd name="T70" fmla="*/ 15 w 43"/>
                <a:gd name="T71" fmla="*/ 27 h 51"/>
                <a:gd name="T72" fmla="*/ 15 w 43"/>
                <a:gd name="T73" fmla="*/ 42 h 51"/>
                <a:gd name="T74" fmla="*/ 15 w 43"/>
                <a:gd name="T75" fmla="*/ 45 h 51"/>
                <a:gd name="T76" fmla="*/ 16 w 43"/>
                <a:gd name="T77" fmla="*/ 47 h 51"/>
                <a:gd name="T78" fmla="*/ 19 w 43"/>
                <a:gd name="T79" fmla="*/ 48 h 51"/>
                <a:gd name="T80" fmla="*/ 23 w 43"/>
                <a:gd name="T81" fmla="*/ 48 h 51"/>
                <a:gd name="T82" fmla="*/ 26 w 43"/>
                <a:gd name="T83" fmla="*/ 48 h 51"/>
                <a:gd name="T84" fmla="*/ 30 w 43"/>
                <a:gd name="T85" fmla="*/ 48 h 51"/>
                <a:gd name="T86" fmla="*/ 32 w 43"/>
                <a:gd name="T87" fmla="*/ 48 h 51"/>
                <a:gd name="T88" fmla="*/ 34 w 43"/>
                <a:gd name="T89" fmla="*/ 47 h 51"/>
                <a:gd name="T90" fmla="*/ 38 w 43"/>
                <a:gd name="T91" fmla="*/ 42 h 51"/>
                <a:gd name="T92" fmla="*/ 40 w 43"/>
                <a:gd name="T93" fmla="*/ 36 h 51"/>
                <a:gd name="T94" fmla="*/ 43 w 43"/>
                <a:gd name="T95" fmla="*/ 3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51">
                  <a:moveTo>
                    <a:pt x="43" y="36"/>
                  </a:moveTo>
                  <a:cubicBezTo>
                    <a:pt x="42" y="51"/>
                    <a:pt x="42" y="51"/>
                    <a:pt x="42" y="51"/>
                  </a:cubicBezTo>
                  <a:cubicBezTo>
                    <a:pt x="0" y="51"/>
                    <a:pt x="0" y="51"/>
                    <a:pt x="0" y="51"/>
                  </a:cubicBezTo>
                  <a:cubicBezTo>
                    <a:pt x="0" y="49"/>
                    <a:pt x="0" y="49"/>
                    <a:pt x="0" y="49"/>
                  </a:cubicBezTo>
                  <a:cubicBezTo>
                    <a:pt x="0" y="49"/>
                    <a:pt x="1" y="49"/>
                    <a:pt x="3" y="49"/>
                  </a:cubicBezTo>
                  <a:cubicBezTo>
                    <a:pt x="4" y="48"/>
                    <a:pt x="5" y="48"/>
                    <a:pt x="5" y="48"/>
                  </a:cubicBezTo>
                  <a:cubicBezTo>
                    <a:pt x="6" y="48"/>
                    <a:pt x="6" y="47"/>
                    <a:pt x="6" y="47"/>
                  </a:cubicBezTo>
                  <a:cubicBezTo>
                    <a:pt x="7" y="46"/>
                    <a:pt x="7" y="45"/>
                    <a:pt x="7" y="44"/>
                  </a:cubicBezTo>
                  <a:cubicBezTo>
                    <a:pt x="7" y="8"/>
                    <a:pt x="7" y="8"/>
                    <a:pt x="7" y="8"/>
                  </a:cubicBezTo>
                  <a:cubicBezTo>
                    <a:pt x="7" y="7"/>
                    <a:pt x="7" y="6"/>
                    <a:pt x="7" y="6"/>
                  </a:cubicBezTo>
                  <a:cubicBezTo>
                    <a:pt x="6" y="5"/>
                    <a:pt x="6" y="5"/>
                    <a:pt x="5" y="4"/>
                  </a:cubicBezTo>
                  <a:cubicBezTo>
                    <a:pt x="4" y="4"/>
                    <a:pt x="3" y="4"/>
                    <a:pt x="2" y="3"/>
                  </a:cubicBezTo>
                  <a:cubicBezTo>
                    <a:pt x="1" y="3"/>
                    <a:pt x="0" y="3"/>
                    <a:pt x="0" y="3"/>
                  </a:cubicBezTo>
                  <a:cubicBezTo>
                    <a:pt x="0" y="0"/>
                    <a:pt x="0" y="0"/>
                    <a:pt x="0" y="0"/>
                  </a:cubicBezTo>
                  <a:cubicBezTo>
                    <a:pt x="39" y="0"/>
                    <a:pt x="39" y="0"/>
                    <a:pt x="39" y="0"/>
                  </a:cubicBezTo>
                  <a:cubicBezTo>
                    <a:pt x="39" y="13"/>
                    <a:pt x="39" y="13"/>
                    <a:pt x="39" y="13"/>
                  </a:cubicBezTo>
                  <a:cubicBezTo>
                    <a:pt x="36" y="13"/>
                    <a:pt x="36" y="13"/>
                    <a:pt x="36" y="13"/>
                  </a:cubicBezTo>
                  <a:cubicBezTo>
                    <a:pt x="36" y="11"/>
                    <a:pt x="35" y="9"/>
                    <a:pt x="33" y="7"/>
                  </a:cubicBezTo>
                  <a:cubicBezTo>
                    <a:pt x="32" y="5"/>
                    <a:pt x="30" y="4"/>
                    <a:pt x="29" y="4"/>
                  </a:cubicBezTo>
                  <a:cubicBezTo>
                    <a:pt x="28" y="4"/>
                    <a:pt x="27" y="4"/>
                    <a:pt x="26" y="4"/>
                  </a:cubicBezTo>
                  <a:cubicBezTo>
                    <a:pt x="25" y="3"/>
                    <a:pt x="24" y="3"/>
                    <a:pt x="23" y="3"/>
                  </a:cubicBezTo>
                  <a:cubicBezTo>
                    <a:pt x="15" y="3"/>
                    <a:pt x="15" y="3"/>
                    <a:pt x="15" y="3"/>
                  </a:cubicBezTo>
                  <a:cubicBezTo>
                    <a:pt x="15" y="24"/>
                    <a:pt x="15" y="24"/>
                    <a:pt x="15" y="24"/>
                  </a:cubicBezTo>
                  <a:cubicBezTo>
                    <a:pt x="20" y="24"/>
                    <a:pt x="20" y="24"/>
                    <a:pt x="20" y="24"/>
                  </a:cubicBezTo>
                  <a:cubicBezTo>
                    <a:pt x="22" y="24"/>
                    <a:pt x="23" y="23"/>
                    <a:pt x="24" y="23"/>
                  </a:cubicBezTo>
                  <a:cubicBezTo>
                    <a:pt x="25" y="23"/>
                    <a:pt x="26" y="22"/>
                    <a:pt x="27" y="21"/>
                  </a:cubicBezTo>
                  <a:cubicBezTo>
                    <a:pt x="27" y="21"/>
                    <a:pt x="28" y="20"/>
                    <a:pt x="28" y="19"/>
                  </a:cubicBezTo>
                  <a:cubicBezTo>
                    <a:pt x="28" y="17"/>
                    <a:pt x="28" y="16"/>
                    <a:pt x="29" y="15"/>
                  </a:cubicBezTo>
                  <a:cubicBezTo>
                    <a:pt x="31" y="15"/>
                    <a:pt x="31" y="15"/>
                    <a:pt x="31" y="15"/>
                  </a:cubicBezTo>
                  <a:cubicBezTo>
                    <a:pt x="31" y="35"/>
                    <a:pt x="31" y="35"/>
                    <a:pt x="31" y="35"/>
                  </a:cubicBezTo>
                  <a:cubicBezTo>
                    <a:pt x="29" y="35"/>
                    <a:pt x="29" y="35"/>
                    <a:pt x="29" y="35"/>
                  </a:cubicBezTo>
                  <a:cubicBezTo>
                    <a:pt x="29" y="34"/>
                    <a:pt x="28" y="33"/>
                    <a:pt x="28" y="32"/>
                  </a:cubicBezTo>
                  <a:cubicBezTo>
                    <a:pt x="27" y="30"/>
                    <a:pt x="27" y="29"/>
                    <a:pt x="27" y="29"/>
                  </a:cubicBezTo>
                  <a:cubicBezTo>
                    <a:pt x="26" y="28"/>
                    <a:pt x="25" y="27"/>
                    <a:pt x="24" y="27"/>
                  </a:cubicBezTo>
                  <a:cubicBezTo>
                    <a:pt x="23" y="27"/>
                    <a:pt x="22" y="27"/>
                    <a:pt x="20" y="27"/>
                  </a:cubicBezTo>
                  <a:cubicBezTo>
                    <a:pt x="15" y="27"/>
                    <a:pt x="15" y="27"/>
                    <a:pt x="15" y="27"/>
                  </a:cubicBezTo>
                  <a:cubicBezTo>
                    <a:pt x="15" y="42"/>
                    <a:pt x="15" y="42"/>
                    <a:pt x="15" y="42"/>
                  </a:cubicBezTo>
                  <a:cubicBezTo>
                    <a:pt x="15" y="43"/>
                    <a:pt x="15" y="44"/>
                    <a:pt x="15" y="45"/>
                  </a:cubicBezTo>
                  <a:cubicBezTo>
                    <a:pt x="15" y="46"/>
                    <a:pt x="16" y="47"/>
                    <a:pt x="16" y="47"/>
                  </a:cubicBezTo>
                  <a:cubicBezTo>
                    <a:pt x="17" y="48"/>
                    <a:pt x="18" y="48"/>
                    <a:pt x="19" y="48"/>
                  </a:cubicBezTo>
                  <a:cubicBezTo>
                    <a:pt x="20" y="48"/>
                    <a:pt x="21" y="48"/>
                    <a:pt x="23" y="48"/>
                  </a:cubicBezTo>
                  <a:cubicBezTo>
                    <a:pt x="24" y="48"/>
                    <a:pt x="25" y="48"/>
                    <a:pt x="26" y="48"/>
                  </a:cubicBezTo>
                  <a:cubicBezTo>
                    <a:pt x="28" y="48"/>
                    <a:pt x="29" y="48"/>
                    <a:pt x="30" y="48"/>
                  </a:cubicBezTo>
                  <a:cubicBezTo>
                    <a:pt x="31" y="48"/>
                    <a:pt x="31" y="48"/>
                    <a:pt x="32" y="48"/>
                  </a:cubicBezTo>
                  <a:cubicBezTo>
                    <a:pt x="33" y="48"/>
                    <a:pt x="34" y="47"/>
                    <a:pt x="34" y="47"/>
                  </a:cubicBezTo>
                  <a:cubicBezTo>
                    <a:pt x="36" y="46"/>
                    <a:pt x="37" y="44"/>
                    <a:pt x="38" y="42"/>
                  </a:cubicBezTo>
                  <a:cubicBezTo>
                    <a:pt x="39" y="39"/>
                    <a:pt x="40" y="38"/>
                    <a:pt x="40" y="36"/>
                  </a:cubicBezTo>
                  <a:lnTo>
                    <a:pt x="43" y="36"/>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4" name="Freeform 39"/>
            <p:cNvSpPr>
              <a:spLocks noEditPoints="1"/>
            </p:cNvSpPr>
            <p:nvPr userDrawn="1"/>
          </p:nvSpPr>
          <p:spPr bwMode="auto">
            <a:xfrm>
              <a:off x="3935364" y="1452985"/>
              <a:ext cx="187325" cy="192088"/>
            </a:xfrm>
            <a:custGeom>
              <a:avLst/>
              <a:gdLst>
                <a:gd name="T0" fmla="*/ 50 w 50"/>
                <a:gd name="T1" fmla="*/ 51 h 51"/>
                <a:gd name="T2" fmla="*/ 36 w 50"/>
                <a:gd name="T3" fmla="*/ 51 h 51"/>
                <a:gd name="T4" fmla="*/ 28 w 50"/>
                <a:gd name="T5" fmla="*/ 39 h 51"/>
                <a:gd name="T6" fmla="*/ 20 w 50"/>
                <a:gd name="T7" fmla="*/ 28 h 51"/>
                <a:gd name="T8" fmla="*/ 15 w 50"/>
                <a:gd name="T9" fmla="*/ 28 h 51"/>
                <a:gd name="T10" fmla="*/ 15 w 50"/>
                <a:gd name="T11" fmla="*/ 44 h 51"/>
                <a:gd name="T12" fmla="*/ 15 w 50"/>
                <a:gd name="T13" fmla="*/ 47 h 51"/>
                <a:gd name="T14" fmla="*/ 17 w 50"/>
                <a:gd name="T15" fmla="*/ 48 h 51"/>
                <a:gd name="T16" fmla="*/ 19 w 50"/>
                <a:gd name="T17" fmla="*/ 49 h 51"/>
                <a:gd name="T18" fmla="*/ 22 w 50"/>
                <a:gd name="T19" fmla="*/ 49 h 51"/>
                <a:gd name="T20" fmla="*/ 22 w 50"/>
                <a:gd name="T21" fmla="*/ 51 h 51"/>
                <a:gd name="T22" fmla="*/ 0 w 50"/>
                <a:gd name="T23" fmla="*/ 51 h 51"/>
                <a:gd name="T24" fmla="*/ 0 w 50"/>
                <a:gd name="T25" fmla="*/ 49 h 51"/>
                <a:gd name="T26" fmla="*/ 3 w 50"/>
                <a:gd name="T27" fmla="*/ 49 h 51"/>
                <a:gd name="T28" fmla="*/ 5 w 50"/>
                <a:gd name="T29" fmla="*/ 48 h 51"/>
                <a:gd name="T30" fmla="*/ 6 w 50"/>
                <a:gd name="T31" fmla="*/ 47 h 51"/>
                <a:gd name="T32" fmla="*/ 7 w 50"/>
                <a:gd name="T33" fmla="*/ 44 h 51"/>
                <a:gd name="T34" fmla="*/ 7 w 50"/>
                <a:gd name="T35" fmla="*/ 8 h 51"/>
                <a:gd name="T36" fmla="*/ 7 w 50"/>
                <a:gd name="T37" fmla="*/ 5 h 51"/>
                <a:gd name="T38" fmla="*/ 5 w 50"/>
                <a:gd name="T39" fmla="*/ 4 h 51"/>
                <a:gd name="T40" fmla="*/ 3 w 50"/>
                <a:gd name="T41" fmla="*/ 3 h 51"/>
                <a:gd name="T42" fmla="*/ 0 w 50"/>
                <a:gd name="T43" fmla="*/ 3 h 51"/>
                <a:gd name="T44" fmla="*/ 0 w 50"/>
                <a:gd name="T45" fmla="*/ 0 h 51"/>
                <a:gd name="T46" fmla="*/ 24 w 50"/>
                <a:gd name="T47" fmla="*/ 0 h 51"/>
                <a:gd name="T48" fmla="*/ 30 w 50"/>
                <a:gd name="T49" fmla="*/ 1 h 51"/>
                <a:gd name="T50" fmla="*/ 35 w 50"/>
                <a:gd name="T51" fmla="*/ 3 h 51"/>
                <a:gd name="T52" fmla="*/ 38 w 50"/>
                <a:gd name="T53" fmla="*/ 7 h 51"/>
                <a:gd name="T54" fmla="*/ 40 w 50"/>
                <a:gd name="T55" fmla="*/ 13 h 51"/>
                <a:gd name="T56" fmla="*/ 39 w 50"/>
                <a:gd name="T57" fmla="*/ 18 h 51"/>
                <a:gd name="T58" fmla="*/ 36 w 50"/>
                <a:gd name="T59" fmla="*/ 22 h 51"/>
                <a:gd name="T60" fmla="*/ 32 w 50"/>
                <a:gd name="T61" fmla="*/ 24 h 51"/>
                <a:gd name="T62" fmla="*/ 27 w 50"/>
                <a:gd name="T63" fmla="*/ 26 h 51"/>
                <a:gd name="T64" fmla="*/ 34 w 50"/>
                <a:gd name="T65" fmla="*/ 35 h 51"/>
                <a:gd name="T66" fmla="*/ 40 w 50"/>
                <a:gd name="T67" fmla="*/ 43 h 51"/>
                <a:gd name="T68" fmla="*/ 43 w 50"/>
                <a:gd name="T69" fmla="*/ 46 h 51"/>
                <a:gd name="T70" fmla="*/ 45 w 50"/>
                <a:gd name="T71" fmla="*/ 48 h 51"/>
                <a:gd name="T72" fmla="*/ 47 w 50"/>
                <a:gd name="T73" fmla="*/ 49 h 51"/>
                <a:gd name="T74" fmla="*/ 50 w 50"/>
                <a:gd name="T75" fmla="*/ 49 h 51"/>
                <a:gd name="T76" fmla="*/ 50 w 50"/>
                <a:gd name="T77" fmla="*/ 51 h 51"/>
                <a:gd name="T78" fmla="*/ 31 w 50"/>
                <a:gd name="T79" fmla="*/ 13 h 51"/>
                <a:gd name="T80" fmla="*/ 28 w 50"/>
                <a:gd name="T81" fmla="*/ 6 h 51"/>
                <a:gd name="T82" fmla="*/ 21 w 50"/>
                <a:gd name="T83" fmla="*/ 3 h 51"/>
                <a:gd name="T84" fmla="*/ 15 w 50"/>
                <a:gd name="T85" fmla="*/ 3 h 51"/>
                <a:gd name="T86" fmla="*/ 15 w 50"/>
                <a:gd name="T87" fmla="*/ 25 h 51"/>
                <a:gd name="T88" fmla="*/ 19 w 50"/>
                <a:gd name="T89" fmla="*/ 25 h 51"/>
                <a:gd name="T90" fmla="*/ 28 w 50"/>
                <a:gd name="T91" fmla="*/ 22 h 51"/>
                <a:gd name="T92" fmla="*/ 31 w 50"/>
                <a:gd name="T93"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51">
                  <a:moveTo>
                    <a:pt x="50" y="51"/>
                  </a:moveTo>
                  <a:cubicBezTo>
                    <a:pt x="36" y="51"/>
                    <a:pt x="36" y="51"/>
                    <a:pt x="36" y="51"/>
                  </a:cubicBezTo>
                  <a:cubicBezTo>
                    <a:pt x="33" y="47"/>
                    <a:pt x="30" y="43"/>
                    <a:pt x="28" y="39"/>
                  </a:cubicBezTo>
                  <a:cubicBezTo>
                    <a:pt x="25" y="36"/>
                    <a:pt x="23" y="32"/>
                    <a:pt x="20" y="28"/>
                  </a:cubicBezTo>
                  <a:cubicBezTo>
                    <a:pt x="15" y="28"/>
                    <a:pt x="15" y="28"/>
                    <a:pt x="15" y="28"/>
                  </a:cubicBezTo>
                  <a:cubicBezTo>
                    <a:pt x="15" y="44"/>
                    <a:pt x="15" y="44"/>
                    <a:pt x="15" y="44"/>
                  </a:cubicBezTo>
                  <a:cubicBezTo>
                    <a:pt x="15" y="45"/>
                    <a:pt x="15" y="46"/>
                    <a:pt x="15" y="47"/>
                  </a:cubicBezTo>
                  <a:cubicBezTo>
                    <a:pt x="15" y="47"/>
                    <a:pt x="16" y="48"/>
                    <a:pt x="17" y="48"/>
                  </a:cubicBezTo>
                  <a:cubicBezTo>
                    <a:pt x="17" y="48"/>
                    <a:pt x="18" y="48"/>
                    <a:pt x="19" y="49"/>
                  </a:cubicBezTo>
                  <a:cubicBezTo>
                    <a:pt x="20" y="49"/>
                    <a:pt x="21" y="49"/>
                    <a:pt x="22" y="49"/>
                  </a:cubicBezTo>
                  <a:cubicBezTo>
                    <a:pt x="22" y="51"/>
                    <a:pt x="22" y="51"/>
                    <a:pt x="22" y="51"/>
                  </a:cubicBezTo>
                  <a:cubicBezTo>
                    <a:pt x="0" y="51"/>
                    <a:pt x="0" y="51"/>
                    <a:pt x="0" y="51"/>
                  </a:cubicBezTo>
                  <a:cubicBezTo>
                    <a:pt x="0" y="49"/>
                    <a:pt x="0" y="49"/>
                    <a:pt x="0" y="49"/>
                  </a:cubicBezTo>
                  <a:cubicBezTo>
                    <a:pt x="1" y="49"/>
                    <a:pt x="2" y="49"/>
                    <a:pt x="3" y="49"/>
                  </a:cubicBezTo>
                  <a:cubicBezTo>
                    <a:pt x="4" y="48"/>
                    <a:pt x="4" y="48"/>
                    <a:pt x="5" y="48"/>
                  </a:cubicBezTo>
                  <a:cubicBezTo>
                    <a:pt x="6" y="48"/>
                    <a:pt x="6" y="47"/>
                    <a:pt x="6" y="47"/>
                  </a:cubicBezTo>
                  <a:cubicBezTo>
                    <a:pt x="7" y="46"/>
                    <a:pt x="7" y="45"/>
                    <a:pt x="7" y="44"/>
                  </a:cubicBezTo>
                  <a:cubicBezTo>
                    <a:pt x="7" y="8"/>
                    <a:pt x="7" y="8"/>
                    <a:pt x="7" y="8"/>
                  </a:cubicBezTo>
                  <a:cubicBezTo>
                    <a:pt x="7" y="7"/>
                    <a:pt x="7" y="6"/>
                    <a:pt x="7" y="5"/>
                  </a:cubicBezTo>
                  <a:cubicBezTo>
                    <a:pt x="6" y="5"/>
                    <a:pt x="6" y="4"/>
                    <a:pt x="5" y="4"/>
                  </a:cubicBezTo>
                  <a:cubicBezTo>
                    <a:pt x="4" y="4"/>
                    <a:pt x="4" y="4"/>
                    <a:pt x="3" y="3"/>
                  </a:cubicBezTo>
                  <a:cubicBezTo>
                    <a:pt x="2" y="3"/>
                    <a:pt x="1" y="3"/>
                    <a:pt x="0" y="3"/>
                  </a:cubicBezTo>
                  <a:cubicBezTo>
                    <a:pt x="0" y="0"/>
                    <a:pt x="0" y="0"/>
                    <a:pt x="0" y="0"/>
                  </a:cubicBezTo>
                  <a:cubicBezTo>
                    <a:pt x="24" y="0"/>
                    <a:pt x="24" y="0"/>
                    <a:pt x="24" y="0"/>
                  </a:cubicBezTo>
                  <a:cubicBezTo>
                    <a:pt x="26" y="0"/>
                    <a:pt x="28" y="1"/>
                    <a:pt x="30" y="1"/>
                  </a:cubicBezTo>
                  <a:cubicBezTo>
                    <a:pt x="32" y="2"/>
                    <a:pt x="33" y="2"/>
                    <a:pt x="35" y="3"/>
                  </a:cubicBezTo>
                  <a:cubicBezTo>
                    <a:pt x="36" y="4"/>
                    <a:pt x="38" y="6"/>
                    <a:pt x="38" y="7"/>
                  </a:cubicBezTo>
                  <a:cubicBezTo>
                    <a:pt x="39" y="9"/>
                    <a:pt x="40" y="10"/>
                    <a:pt x="40" y="13"/>
                  </a:cubicBezTo>
                  <a:cubicBezTo>
                    <a:pt x="40" y="15"/>
                    <a:pt x="39" y="16"/>
                    <a:pt x="39" y="18"/>
                  </a:cubicBezTo>
                  <a:cubicBezTo>
                    <a:pt x="38" y="19"/>
                    <a:pt x="37" y="21"/>
                    <a:pt x="36" y="22"/>
                  </a:cubicBezTo>
                  <a:cubicBezTo>
                    <a:pt x="35" y="23"/>
                    <a:pt x="34" y="24"/>
                    <a:pt x="32" y="24"/>
                  </a:cubicBezTo>
                  <a:cubicBezTo>
                    <a:pt x="31" y="25"/>
                    <a:pt x="29" y="26"/>
                    <a:pt x="27" y="26"/>
                  </a:cubicBezTo>
                  <a:cubicBezTo>
                    <a:pt x="30" y="30"/>
                    <a:pt x="32" y="32"/>
                    <a:pt x="34" y="35"/>
                  </a:cubicBezTo>
                  <a:cubicBezTo>
                    <a:pt x="35" y="37"/>
                    <a:pt x="37" y="40"/>
                    <a:pt x="40" y="43"/>
                  </a:cubicBezTo>
                  <a:cubicBezTo>
                    <a:pt x="41" y="44"/>
                    <a:pt x="42" y="46"/>
                    <a:pt x="43" y="46"/>
                  </a:cubicBezTo>
                  <a:cubicBezTo>
                    <a:pt x="43" y="47"/>
                    <a:pt x="44" y="47"/>
                    <a:pt x="45" y="48"/>
                  </a:cubicBezTo>
                  <a:cubicBezTo>
                    <a:pt x="46" y="48"/>
                    <a:pt x="47" y="48"/>
                    <a:pt x="47" y="49"/>
                  </a:cubicBezTo>
                  <a:cubicBezTo>
                    <a:pt x="48" y="49"/>
                    <a:pt x="49" y="49"/>
                    <a:pt x="50" y="49"/>
                  </a:cubicBezTo>
                  <a:lnTo>
                    <a:pt x="50" y="51"/>
                  </a:lnTo>
                  <a:close/>
                  <a:moveTo>
                    <a:pt x="31" y="13"/>
                  </a:moveTo>
                  <a:cubicBezTo>
                    <a:pt x="31" y="10"/>
                    <a:pt x="30" y="8"/>
                    <a:pt x="28" y="6"/>
                  </a:cubicBezTo>
                  <a:cubicBezTo>
                    <a:pt x="26" y="4"/>
                    <a:pt x="24" y="3"/>
                    <a:pt x="21" y="3"/>
                  </a:cubicBezTo>
                  <a:cubicBezTo>
                    <a:pt x="15" y="3"/>
                    <a:pt x="15" y="3"/>
                    <a:pt x="15" y="3"/>
                  </a:cubicBezTo>
                  <a:cubicBezTo>
                    <a:pt x="15" y="25"/>
                    <a:pt x="15" y="25"/>
                    <a:pt x="15" y="25"/>
                  </a:cubicBezTo>
                  <a:cubicBezTo>
                    <a:pt x="19" y="25"/>
                    <a:pt x="19" y="25"/>
                    <a:pt x="19" y="25"/>
                  </a:cubicBezTo>
                  <a:cubicBezTo>
                    <a:pt x="23" y="25"/>
                    <a:pt x="25" y="24"/>
                    <a:pt x="28" y="22"/>
                  </a:cubicBezTo>
                  <a:cubicBezTo>
                    <a:pt x="30" y="20"/>
                    <a:pt x="31" y="17"/>
                    <a:pt x="31" y="1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5" name="Freeform 40"/>
            <p:cNvSpPr/>
            <p:nvPr userDrawn="1"/>
          </p:nvSpPr>
          <p:spPr bwMode="auto">
            <a:xfrm>
              <a:off x="4130626" y="1449810"/>
              <a:ext cx="131763" cy="203200"/>
            </a:xfrm>
            <a:custGeom>
              <a:avLst/>
              <a:gdLst>
                <a:gd name="T0" fmla="*/ 31 w 35"/>
                <a:gd name="T1" fmla="*/ 29 h 54"/>
                <a:gd name="T2" fmla="*/ 34 w 35"/>
                <a:gd name="T3" fmla="*/ 33 h 54"/>
                <a:gd name="T4" fmla="*/ 35 w 35"/>
                <a:gd name="T5" fmla="*/ 38 h 54"/>
                <a:gd name="T6" fmla="*/ 30 w 35"/>
                <a:gd name="T7" fmla="*/ 49 h 54"/>
                <a:gd name="T8" fmla="*/ 17 w 35"/>
                <a:gd name="T9" fmla="*/ 54 h 54"/>
                <a:gd name="T10" fmla="*/ 10 w 35"/>
                <a:gd name="T11" fmla="*/ 52 h 54"/>
                <a:gd name="T12" fmla="*/ 5 w 35"/>
                <a:gd name="T13" fmla="*/ 50 h 54"/>
                <a:gd name="T14" fmla="*/ 3 w 35"/>
                <a:gd name="T15" fmla="*/ 52 h 54"/>
                <a:gd name="T16" fmla="*/ 0 w 35"/>
                <a:gd name="T17" fmla="*/ 52 h 54"/>
                <a:gd name="T18" fmla="*/ 0 w 35"/>
                <a:gd name="T19" fmla="*/ 35 h 54"/>
                <a:gd name="T20" fmla="*/ 2 w 35"/>
                <a:gd name="T21" fmla="*/ 35 h 54"/>
                <a:gd name="T22" fmla="*/ 5 w 35"/>
                <a:gd name="T23" fmla="*/ 41 h 54"/>
                <a:gd name="T24" fmla="*/ 8 w 35"/>
                <a:gd name="T25" fmla="*/ 46 h 54"/>
                <a:gd name="T26" fmla="*/ 12 w 35"/>
                <a:gd name="T27" fmla="*/ 49 h 54"/>
                <a:gd name="T28" fmla="*/ 18 w 35"/>
                <a:gd name="T29" fmla="*/ 50 h 54"/>
                <a:gd name="T30" fmla="*/ 22 w 35"/>
                <a:gd name="T31" fmla="*/ 50 h 54"/>
                <a:gd name="T32" fmla="*/ 25 w 35"/>
                <a:gd name="T33" fmla="*/ 48 h 54"/>
                <a:gd name="T34" fmla="*/ 27 w 35"/>
                <a:gd name="T35" fmla="*/ 45 h 54"/>
                <a:gd name="T36" fmla="*/ 28 w 35"/>
                <a:gd name="T37" fmla="*/ 41 h 54"/>
                <a:gd name="T38" fmla="*/ 26 w 35"/>
                <a:gd name="T39" fmla="*/ 36 h 54"/>
                <a:gd name="T40" fmla="*/ 21 w 35"/>
                <a:gd name="T41" fmla="*/ 32 h 54"/>
                <a:gd name="T42" fmla="*/ 15 w 35"/>
                <a:gd name="T43" fmla="*/ 30 h 54"/>
                <a:gd name="T44" fmla="*/ 10 w 35"/>
                <a:gd name="T45" fmla="*/ 28 h 54"/>
                <a:gd name="T46" fmla="*/ 3 w 35"/>
                <a:gd name="T47" fmla="*/ 22 h 54"/>
                <a:gd name="T48" fmla="*/ 1 w 35"/>
                <a:gd name="T49" fmla="*/ 14 h 54"/>
                <a:gd name="T50" fmla="*/ 2 w 35"/>
                <a:gd name="T51" fmla="*/ 9 h 54"/>
                <a:gd name="T52" fmla="*/ 6 w 35"/>
                <a:gd name="T53" fmla="*/ 4 h 54"/>
                <a:gd name="T54" fmla="*/ 11 w 35"/>
                <a:gd name="T55" fmla="*/ 1 h 54"/>
                <a:gd name="T56" fmla="*/ 16 w 35"/>
                <a:gd name="T57" fmla="*/ 0 h 54"/>
                <a:gd name="T58" fmla="*/ 23 w 35"/>
                <a:gd name="T59" fmla="*/ 1 h 54"/>
                <a:gd name="T60" fmla="*/ 28 w 35"/>
                <a:gd name="T61" fmla="*/ 4 h 54"/>
                <a:gd name="T62" fmla="*/ 29 w 35"/>
                <a:gd name="T63" fmla="*/ 1 h 54"/>
                <a:gd name="T64" fmla="*/ 32 w 35"/>
                <a:gd name="T65" fmla="*/ 1 h 54"/>
                <a:gd name="T66" fmla="*/ 32 w 35"/>
                <a:gd name="T67" fmla="*/ 18 h 54"/>
                <a:gd name="T68" fmla="*/ 30 w 35"/>
                <a:gd name="T69" fmla="*/ 18 h 54"/>
                <a:gd name="T70" fmla="*/ 28 w 35"/>
                <a:gd name="T71" fmla="*/ 13 h 54"/>
                <a:gd name="T72" fmla="*/ 25 w 35"/>
                <a:gd name="T73" fmla="*/ 8 h 54"/>
                <a:gd name="T74" fmla="*/ 21 w 35"/>
                <a:gd name="T75" fmla="*/ 5 h 54"/>
                <a:gd name="T76" fmla="*/ 16 w 35"/>
                <a:gd name="T77" fmla="*/ 3 h 54"/>
                <a:gd name="T78" fmla="*/ 10 w 35"/>
                <a:gd name="T79" fmla="*/ 6 h 54"/>
                <a:gd name="T80" fmla="*/ 8 w 35"/>
                <a:gd name="T81" fmla="*/ 11 h 54"/>
                <a:gd name="T82" fmla="*/ 9 w 35"/>
                <a:gd name="T83" fmla="*/ 17 h 54"/>
                <a:gd name="T84" fmla="*/ 14 w 35"/>
                <a:gd name="T85" fmla="*/ 20 h 54"/>
                <a:gd name="T86" fmla="*/ 19 w 35"/>
                <a:gd name="T87" fmla="*/ 22 h 54"/>
                <a:gd name="T88" fmla="*/ 24 w 35"/>
                <a:gd name="T89" fmla="*/ 24 h 54"/>
                <a:gd name="T90" fmla="*/ 28 w 35"/>
                <a:gd name="T91" fmla="*/ 26 h 54"/>
                <a:gd name="T92" fmla="*/ 31 w 35"/>
                <a:gd name="T93"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54">
                  <a:moveTo>
                    <a:pt x="31" y="29"/>
                  </a:moveTo>
                  <a:cubicBezTo>
                    <a:pt x="32" y="30"/>
                    <a:pt x="33" y="32"/>
                    <a:pt x="34" y="33"/>
                  </a:cubicBezTo>
                  <a:cubicBezTo>
                    <a:pt x="34" y="34"/>
                    <a:pt x="35" y="36"/>
                    <a:pt x="35" y="38"/>
                  </a:cubicBezTo>
                  <a:cubicBezTo>
                    <a:pt x="35" y="43"/>
                    <a:pt x="33" y="46"/>
                    <a:pt x="30" y="49"/>
                  </a:cubicBezTo>
                  <a:cubicBezTo>
                    <a:pt x="26" y="52"/>
                    <a:pt x="22" y="54"/>
                    <a:pt x="17" y="54"/>
                  </a:cubicBezTo>
                  <a:cubicBezTo>
                    <a:pt x="15" y="54"/>
                    <a:pt x="13" y="53"/>
                    <a:pt x="10" y="52"/>
                  </a:cubicBezTo>
                  <a:cubicBezTo>
                    <a:pt x="8" y="52"/>
                    <a:pt x="6" y="51"/>
                    <a:pt x="5" y="50"/>
                  </a:cubicBezTo>
                  <a:cubicBezTo>
                    <a:pt x="3" y="52"/>
                    <a:pt x="3" y="52"/>
                    <a:pt x="3" y="52"/>
                  </a:cubicBezTo>
                  <a:cubicBezTo>
                    <a:pt x="0" y="52"/>
                    <a:pt x="0" y="52"/>
                    <a:pt x="0" y="52"/>
                  </a:cubicBezTo>
                  <a:cubicBezTo>
                    <a:pt x="0" y="35"/>
                    <a:pt x="0" y="35"/>
                    <a:pt x="0" y="35"/>
                  </a:cubicBezTo>
                  <a:cubicBezTo>
                    <a:pt x="2" y="35"/>
                    <a:pt x="2" y="35"/>
                    <a:pt x="2" y="35"/>
                  </a:cubicBezTo>
                  <a:cubicBezTo>
                    <a:pt x="3" y="37"/>
                    <a:pt x="4" y="39"/>
                    <a:pt x="5" y="41"/>
                  </a:cubicBezTo>
                  <a:cubicBezTo>
                    <a:pt x="5" y="43"/>
                    <a:pt x="6" y="44"/>
                    <a:pt x="8" y="46"/>
                  </a:cubicBezTo>
                  <a:cubicBezTo>
                    <a:pt x="9" y="47"/>
                    <a:pt x="10" y="48"/>
                    <a:pt x="12" y="49"/>
                  </a:cubicBezTo>
                  <a:cubicBezTo>
                    <a:pt x="14" y="50"/>
                    <a:pt x="16" y="50"/>
                    <a:pt x="18" y="50"/>
                  </a:cubicBezTo>
                  <a:cubicBezTo>
                    <a:pt x="20" y="50"/>
                    <a:pt x="21" y="50"/>
                    <a:pt x="22" y="50"/>
                  </a:cubicBezTo>
                  <a:cubicBezTo>
                    <a:pt x="23" y="49"/>
                    <a:pt x="24" y="49"/>
                    <a:pt x="25" y="48"/>
                  </a:cubicBezTo>
                  <a:cubicBezTo>
                    <a:pt x="26" y="47"/>
                    <a:pt x="27" y="46"/>
                    <a:pt x="27" y="45"/>
                  </a:cubicBezTo>
                  <a:cubicBezTo>
                    <a:pt x="27" y="44"/>
                    <a:pt x="28" y="43"/>
                    <a:pt x="28" y="41"/>
                  </a:cubicBezTo>
                  <a:cubicBezTo>
                    <a:pt x="28" y="39"/>
                    <a:pt x="27" y="37"/>
                    <a:pt x="26" y="36"/>
                  </a:cubicBezTo>
                  <a:cubicBezTo>
                    <a:pt x="25" y="34"/>
                    <a:pt x="23" y="33"/>
                    <a:pt x="21" y="32"/>
                  </a:cubicBezTo>
                  <a:cubicBezTo>
                    <a:pt x="19" y="31"/>
                    <a:pt x="17" y="30"/>
                    <a:pt x="15" y="30"/>
                  </a:cubicBezTo>
                  <a:cubicBezTo>
                    <a:pt x="13" y="29"/>
                    <a:pt x="12" y="28"/>
                    <a:pt x="10" y="28"/>
                  </a:cubicBezTo>
                  <a:cubicBezTo>
                    <a:pt x="7" y="26"/>
                    <a:pt x="5" y="25"/>
                    <a:pt x="3" y="22"/>
                  </a:cubicBezTo>
                  <a:cubicBezTo>
                    <a:pt x="2" y="20"/>
                    <a:pt x="1" y="18"/>
                    <a:pt x="1" y="14"/>
                  </a:cubicBezTo>
                  <a:cubicBezTo>
                    <a:pt x="1" y="12"/>
                    <a:pt x="1" y="10"/>
                    <a:pt x="2" y="9"/>
                  </a:cubicBezTo>
                  <a:cubicBezTo>
                    <a:pt x="3" y="7"/>
                    <a:pt x="4" y="6"/>
                    <a:pt x="6" y="4"/>
                  </a:cubicBezTo>
                  <a:cubicBezTo>
                    <a:pt x="7" y="3"/>
                    <a:pt x="9" y="2"/>
                    <a:pt x="11" y="1"/>
                  </a:cubicBezTo>
                  <a:cubicBezTo>
                    <a:pt x="12" y="1"/>
                    <a:pt x="14" y="0"/>
                    <a:pt x="16" y="0"/>
                  </a:cubicBezTo>
                  <a:cubicBezTo>
                    <a:pt x="19" y="0"/>
                    <a:pt x="21" y="1"/>
                    <a:pt x="23" y="1"/>
                  </a:cubicBezTo>
                  <a:cubicBezTo>
                    <a:pt x="25" y="2"/>
                    <a:pt x="26" y="3"/>
                    <a:pt x="28" y="4"/>
                  </a:cubicBezTo>
                  <a:cubicBezTo>
                    <a:pt x="29" y="1"/>
                    <a:pt x="29" y="1"/>
                    <a:pt x="29" y="1"/>
                  </a:cubicBezTo>
                  <a:cubicBezTo>
                    <a:pt x="32" y="1"/>
                    <a:pt x="32" y="1"/>
                    <a:pt x="32" y="1"/>
                  </a:cubicBezTo>
                  <a:cubicBezTo>
                    <a:pt x="32" y="18"/>
                    <a:pt x="32" y="18"/>
                    <a:pt x="32" y="18"/>
                  </a:cubicBezTo>
                  <a:cubicBezTo>
                    <a:pt x="30" y="18"/>
                    <a:pt x="30" y="18"/>
                    <a:pt x="30" y="18"/>
                  </a:cubicBezTo>
                  <a:cubicBezTo>
                    <a:pt x="29" y="16"/>
                    <a:pt x="28" y="15"/>
                    <a:pt x="28" y="13"/>
                  </a:cubicBezTo>
                  <a:cubicBezTo>
                    <a:pt x="27" y="11"/>
                    <a:pt x="26" y="9"/>
                    <a:pt x="25" y="8"/>
                  </a:cubicBezTo>
                  <a:cubicBezTo>
                    <a:pt x="24" y="7"/>
                    <a:pt x="23" y="6"/>
                    <a:pt x="21" y="5"/>
                  </a:cubicBezTo>
                  <a:cubicBezTo>
                    <a:pt x="20" y="4"/>
                    <a:pt x="18" y="3"/>
                    <a:pt x="16" y="3"/>
                  </a:cubicBezTo>
                  <a:cubicBezTo>
                    <a:pt x="14" y="3"/>
                    <a:pt x="12" y="4"/>
                    <a:pt x="10" y="6"/>
                  </a:cubicBezTo>
                  <a:cubicBezTo>
                    <a:pt x="9" y="7"/>
                    <a:pt x="8" y="9"/>
                    <a:pt x="8" y="11"/>
                  </a:cubicBezTo>
                  <a:cubicBezTo>
                    <a:pt x="8" y="13"/>
                    <a:pt x="8" y="15"/>
                    <a:pt x="9" y="17"/>
                  </a:cubicBezTo>
                  <a:cubicBezTo>
                    <a:pt x="10" y="18"/>
                    <a:pt x="12" y="19"/>
                    <a:pt x="14" y="20"/>
                  </a:cubicBezTo>
                  <a:cubicBezTo>
                    <a:pt x="16" y="21"/>
                    <a:pt x="17" y="22"/>
                    <a:pt x="19" y="22"/>
                  </a:cubicBezTo>
                  <a:cubicBezTo>
                    <a:pt x="21" y="23"/>
                    <a:pt x="22" y="24"/>
                    <a:pt x="24" y="24"/>
                  </a:cubicBezTo>
                  <a:cubicBezTo>
                    <a:pt x="25" y="25"/>
                    <a:pt x="27" y="26"/>
                    <a:pt x="28" y="26"/>
                  </a:cubicBezTo>
                  <a:cubicBezTo>
                    <a:pt x="29" y="27"/>
                    <a:pt x="30" y="28"/>
                    <a:pt x="31"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6" name="Freeform 41"/>
            <p:cNvSpPr/>
            <p:nvPr userDrawn="1"/>
          </p:nvSpPr>
          <p:spPr bwMode="auto">
            <a:xfrm>
              <a:off x="4281439" y="1452985"/>
              <a:ext cx="85725" cy="192088"/>
            </a:xfrm>
            <a:custGeom>
              <a:avLst/>
              <a:gdLst>
                <a:gd name="T0" fmla="*/ 23 w 23"/>
                <a:gd name="T1" fmla="*/ 51 h 51"/>
                <a:gd name="T2" fmla="*/ 0 w 23"/>
                <a:gd name="T3" fmla="*/ 51 h 51"/>
                <a:gd name="T4" fmla="*/ 0 w 23"/>
                <a:gd name="T5" fmla="*/ 49 h 51"/>
                <a:gd name="T6" fmla="*/ 3 w 23"/>
                <a:gd name="T7" fmla="*/ 49 h 51"/>
                <a:gd name="T8" fmla="*/ 6 w 23"/>
                <a:gd name="T9" fmla="*/ 48 h 51"/>
                <a:gd name="T10" fmla="*/ 7 w 23"/>
                <a:gd name="T11" fmla="*/ 47 h 51"/>
                <a:gd name="T12" fmla="*/ 8 w 23"/>
                <a:gd name="T13" fmla="*/ 45 h 51"/>
                <a:gd name="T14" fmla="*/ 8 w 23"/>
                <a:gd name="T15" fmla="*/ 8 h 51"/>
                <a:gd name="T16" fmla="*/ 7 w 23"/>
                <a:gd name="T17" fmla="*/ 6 h 51"/>
                <a:gd name="T18" fmla="*/ 6 w 23"/>
                <a:gd name="T19" fmla="*/ 4 h 51"/>
                <a:gd name="T20" fmla="*/ 3 w 23"/>
                <a:gd name="T21" fmla="*/ 3 h 51"/>
                <a:gd name="T22" fmla="*/ 0 w 23"/>
                <a:gd name="T23" fmla="*/ 3 h 51"/>
                <a:gd name="T24" fmla="*/ 0 w 23"/>
                <a:gd name="T25" fmla="*/ 0 h 51"/>
                <a:gd name="T26" fmla="*/ 23 w 23"/>
                <a:gd name="T27" fmla="*/ 0 h 51"/>
                <a:gd name="T28" fmla="*/ 23 w 23"/>
                <a:gd name="T29" fmla="*/ 3 h 51"/>
                <a:gd name="T30" fmla="*/ 20 w 23"/>
                <a:gd name="T31" fmla="*/ 3 h 51"/>
                <a:gd name="T32" fmla="*/ 18 w 23"/>
                <a:gd name="T33" fmla="*/ 4 h 51"/>
                <a:gd name="T34" fmla="*/ 16 w 23"/>
                <a:gd name="T35" fmla="*/ 5 h 51"/>
                <a:gd name="T36" fmla="*/ 15 w 23"/>
                <a:gd name="T37" fmla="*/ 7 h 51"/>
                <a:gd name="T38" fmla="*/ 15 w 23"/>
                <a:gd name="T39" fmla="*/ 44 h 51"/>
                <a:gd name="T40" fmla="*/ 16 w 23"/>
                <a:gd name="T41" fmla="*/ 46 h 51"/>
                <a:gd name="T42" fmla="*/ 18 w 23"/>
                <a:gd name="T43" fmla="*/ 48 h 51"/>
                <a:gd name="T44" fmla="*/ 20 w 23"/>
                <a:gd name="T45" fmla="*/ 48 h 51"/>
                <a:gd name="T46" fmla="*/ 23 w 23"/>
                <a:gd name="T47" fmla="*/ 49 h 51"/>
                <a:gd name="T48" fmla="*/ 23 w 23"/>
                <a:gd name="T4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 h="51">
                  <a:moveTo>
                    <a:pt x="23" y="51"/>
                  </a:moveTo>
                  <a:cubicBezTo>
                    <a:pt x="0" y="51"/>
                    <a:pt x="0" y="51"/>
                    <a:pt x="0" y="51"/>
                  </a:cubicBezTo>
                  <a:cubicBezTo>
                    <a:pt x="0" y="49"/>
                    <a:pt x="0" y="49"/>
                    <a:pt x="0" y="49"/>
                  </a:cubicBezTo>
                  <a:cubicBezTo>
                    <a:pt x="1" y="49"/>
                    <a:pt x="2" y="49"/>
                    <a:pt x="3" y="49"/>
                  </a:cubicBezTo>
                  <a:cubicBezTo>
                    <a:pt x="4" y="49"/>
                    <a:pt x="5" y="48"/>
                    <a:pt x="6" y="48"/>
                  </a:cubicBezTo>
                  <a:cubicBezTo>
                    <a:pt x="6" y="48"/>
                    <a:pt x="7" y="47"/>
                    <a:pt x="7" y="47"/>
                  </a:cubicBezTo>
                  <a:cubicBezTo>
                    <a:pt x="8" y="46"/>
                    <a:pt x="8" y="46"/>
                    <a:pt x="8" y="45"/>
                  </a:cubicBezTo>
                  <a:cubicBezTo>
                    <a:pt x="8" y="8"/>
                    <a:pt x="8" y="8"/>
                    <a:pt x="8" y="8"/>
                  </a:cubicBezTo>
                  <a:cubicBezTo>
                    <a:pt x="8" y="7"/>
                    <a:pt x="8" y="6"/>
                    <a:pt x="7" y="6"/>
                  </a:cubicBezTo>
                  <a:cubicBezTo>
                    <a:pt x="7" y="5"/>
                    <a:pt x="7" y="5"/>
                    <a:pt x="6" y="4"/>
                  </a:cubicBezTo>
                  <a:cubicBezTo>
                    <a:pt x="5" y="4"/>
                    <a:pt x="4" y="4"/>
                    <a:pt x="3" y="3"/>
                  </a:cubicBezTo>
                  <a:cubicBezTo>
                    <a:pt x="2" y="3"/>
                    <a:pt x="1" y="3"/>
                    <a:pt x="0" y="3"/>
                  </a:cubicBezTo>
                  <a:cubicBezTo>
                    <a:pt x="0" y="0"/>
                    <a:pt x="0" y="0"/>
                    <a:pt x="0" y="0"/>
                  </a:cubicBezTo>
                  <a:cubicBezTo>
                    <a:pt x="23" y="0"/>
                    <a:pt x="23" y="0"/>
                    <a:pt x="23" y="0"/>
                  </a:cubicBezTo>
                  <a:cubicBezTo>
                    <a:pt x="23" y="3"/>
                    <a:pt x="23" y="3"/>
                    <a:pt x="23" y="3"/>
                  </a:cubicBezTo>
                  <a:cubicBezTo>
                    <a:pt x="22" y="3"/>
                    <a:pt x="21" y="3"/>
                    <a:pt x="20" y="3"/>
                  </a:cubicBezTo>
                  <a:cubicBezTo>
                    <a:pt x="19" y="3"/>
                    <a:pt x="19" y="4"/>
                    <a:pt x="18" y="4"/>
                  </a:cubicBezTo>
                  <a:cubicBezTo>
                    <a:pt x="17" y="4"/>
                    <a:pt x="16" y="5"/>
                    <a:pt x="16" y="5"/>
                  </a:cubicBezTo>
                  <a:cubicBezTo>
                    <a:pt x="16" y="6"/>
                    <a:pt x="15" y="7"/>
                    <a:pt x="15" y="7"/>
                  </a:cubicBezTo>
                  <a:cubicBezTo>
                    <a:pt x="15" y="44"/>
                    <a:pt x="15" y="44"/>
                    <a:pt x="15" y="44"/>
                  </a:cubicBezTo>
                  <a:cubicBezTo>
                    <a:pt x="15" y="45"/>
                    <a:pt x="16" y="46"/>
                    <a:pt x="16" y="46"/>
                  </a:cubicBezTo>
                  <a:cubicBezTo>
                    <a:pt x="16" y="47"/>
                    <a:pt x="17" y="47"/>
                    <a:pt x="18" y="48"/>
                  </a:cubicBezTo>
                  <a:cubicBezTo>
                    <a:pt x="18" y="48"/>
                    <a:pt x="19" y="48"/>
                    <a:pt x="20" y="48"/>
                  </a:cubicBezTo>
                  <a:cubicBezTo>
                    <a:pt x="21" y="49"/>
                    <a:pt x="22" y="49"/>
                    <a:pt x="23" y="49"/>
                  </a:cubicBezTo>
                  <a:lnTo>
                    <a:pt x="23" y="51"/>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7" name="Freeform 42"/>
            <p:cNvSpPr/>
            <p:nvPr userDrawn="1"/>
          </p:nvSpPr>
          <p:spPr bwMode="auto">
            <a:xfrm>
              <a:off x="4383039" y="1452985"/>
              <a:ext cx="165100" cy="192088"/>
            </a:xfrm>
            <a:custGeom>
              <a:avLst/>
              <a:gdLst>
                <a:gd name="T0" fmla="*/ 44 w 44"/>
                <a:gd name="T1" fmla="*/ 14 h 51"/>
                <a:gd name="T2" fmla="*/ 42 w 44"/>
                <a:gd name="T3" fmla="*/ 14 h 51"/>
                <a:gd name="T4" fmla="*/ 40 w 44"/>
                <a:gd name="T5" fmla="*/ 11 h 51"/>
                <a:gd name="T6" fmla="*/ 38 w 44"/>
                <a:gd name="T7" fmla="*/ 8 h 51"/>
                <a:gd name="T8" fmla="*/ 36 w 44"/>
                <a:gd name="T9" fmla="*/ 5 h 51"/>
                <a:gd name="T10" fmla="*/ 34 w 44"/>
                <a:gd name="T11" fmla="*/ 4 h 51"/>
                <a:gd name="T12" fmla="*/ 31 w 44"/>
                <a:gd name="T13" fmla="*/ 3 h 51"/>
                <a:gd name="T14" fmla="*/ 28 w 44"/>
                <a:gd name="T15" fmla="*/ 3 h 51"/>
                <a:gd name="T16" fmla="*/ 26 w 44"/>
                <a:gd name="T17" fmla="*/ 3 h 51"/>
                <a:gd name="T18" fmla="*/ 26 w 44"/>
                <a:gd name="T19" fmla="*/ 44 h 51"/>
                <a:gd name="T20" fmla="*/ 26 w 44"/>
                <a:gd name="T21" fmla="*/ 46 h 51"/>
                <a:gd name="T22" fmla="*/ 28 w 44"/>
                <a:gd name="T23" fmla="*/ 48 h 51"/>
                <a:gd name="T24" fmla="*/ 31 w 44"/>
                <a:gd name="T25" fmla="*/ 48 h 51"/>
                <a:gd name="T26" fmla="*/ 34 w 44"/>
                <a:gd name="T27" fmla="*/ 49 h 51"/>
                <a:gd name="T28" fmla="*/ 34 w 44"/>
                <a:gd name="T29" fmla="*/ 51 h 51"/>
                <a:gd name="T30" fmla="*/ 10 w 44"/>
                <a:gd name="T31" fmla="*/ 51 h 51"/>
                <a:gd name="T32" fmla="*/ 10 w 44"/>
                <a:gd name="T33" fmla="*/ 49 h 51"/>
                <a:gd name="T34" fmla="*/ 13 w 44"/>
                <a:gd name="T35" fmla="*/ 49 h 51"/>
                <a:gd name="T36" fmla="*/ 16 w 44"/>
                <a:gd name="T37" fmla="*/ 48 h 51"/>
                <a:gd name="T38" fmla="*/ 17 w 44"/>
                <a:gd name="T39" fmla="*/ 47 h 51"/>
                <a:gd name="T40" fmla="*/ 18 w 44"/>
                <a:gd name="T41" fmla="*/ 44 h 51"/>
                <a:gd name="T42" fmla="*/ 18 w 44"/>
                <a:gd name="T43" fmla="*/ 3 h 51"/>
                <a:gd name="T44" fmla="*/ 16 w 44"/>
                <a:gd name="T45" fmla="*/ 3 h 51"/>
                <a:gd name="T46" fmla="*/ 13 w 44"/>
                <a:gd name="T47" fmla="*/ 3 h 51"/>
                <a:gd name="T48" fmla="*/ 10 w 44"/>
                <a:gd name="T49" fmla="*/ 4 h 51"/>
                <a:gd name="T50" fmla="*/ 7 w 44"/>
                <a:gd name="T51" fmla="*/ 5 h 51"/>
                <a:gd name="T52" fmla="*/ 5 w 44"/>
                <a:gd name="T53" fmla="*/ 8 h 51"/>
                <a:gd name="T54" fmla="*/ 3 w 44"/>
                <a:gd name="T55" fmla="*/ 11 h 51"/>
                <a:gd name="T56" fmla="*/ 2 w 44"/>
                <a:gd name="T57" fmla="*/ 14 h 51"/>
                <a:gd name="T58" fmla="*/ 0 w 44"/>
                <a:gd name="T59" fmla="*/ 14 h 51"/>
                <a:gd name="T60" fmla="*/ 0 w 44"/>
                <a:gd name="T61" fmla="*/ 0 h 51"/>
                <a:gd name="T62" fmla="*/ 44 w 44"/>
                <a:gd name="T63" fmla="*/ 0 h 51"/>
                <a:gd name="T64" fmla="*/ 44 w 44"/>
                <a:gd name="T65"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51">
                  <a:moveTo>
                    <a:pt x="44" y="14"/>
                  </a:moveTo>
                  <a:cubicBezTo>
                    <a:pt x="42" y="14"/>
                    <a:pt x="42" y="14"/>
                    <a:pt x="42" y="14"/>
                  </a:cubicBezTo>
                  <a:cubicBezTo>
                    <a:pt x="41" y="13"/>
                    <a:pt x="41" y="12"/>
                    <a:pt x="40" y="11"/>
                  </a:cubicBezTo>
                  <a:cubicBezTo>
                    <a:pt x="40" y="10"/>
                    <a:pt x="39" y="9"/>
                    <a:pt x="38" y="8"/>
                  </a:cubicBezTo>
                  <a:cubicBezTo>
                    <a:pt x="38" y="7"/>
                    <a:pt x="37" y="6"/>
                    <a:pt x="36" y="5"/>
                  </a:cubicBezTo>
                  <a:cubicBezTo>
                    <a:pt x="35" y="4"/>
                    <a:pt x="34" y="4"/>
                    <a:pt x="34" y="4"/>
                  </a:cubicBezTo>
                  <a:cubicBezTo>
                    <a:pt x="33" y="3"/>
                    <a:pt x="32" y="3"/>
                    <a:pt x="31" y="3"/>
                  </a:cubicBezTo>
                  <a:cubicBezTo>
                    <a:pt x="30" y="3"/>
                    <a:pt x="29" y="3"/>
                    <a:pt x="28" y="3"/>
                  </a:cubicBezTo>
                  <a:cubicBezTo>
                    <a:pt x="26" y="3"/>
                    <a:pt x="26" y="3"/>
                    <a:pt x="26" y="3"/>
                  </a:cubicBezTo>
                  <a:cubicBezTo>
                    <a:pt x="26" y="44"/>
                    <a:pt x="26" y="44"/>
                    <a:pt x="26" y="44"/>
                  </a:cubicBezTo>
                  <a:cubicBezTo>
                    <a:pt x="26" y="45"/>
                    <a:pt x="26" y="46"/>
                    <a:pt x="26" y="46"/>
                  </a:cubicBezTo>
                  <a:cubicBezTo>
                    <a:pt x="26" y="47"/>
                    <a:pt x="27" y="47"/>
                    <a:pt x="28" y="48"/>
                  </a:cubicBezTo>
                  <a:cubicBezTo>
                    <a:pt x="28" y="48"/>
                    <a:pt x="29" y="48"/>
                    <a:pt x="31" y="48"/>
                  </a:cubicBezTo>
                  <a:cubicBezTo>
                    <a:pt x="32" y="49"/>
                    <a:pt x="33" y="49"/>
                    <a:pt x="34" y="49"/>
                  </a:cubicBezTo>
                  <a:cubicBezTo>
                    <a:pt x="34" y="51"/>
                    <a:pt x="34" y="51"/>
                    <a:pt x="34" y="51"/>
                  </a:cubicBezTo>
                  <a:cubicBezTo>
                    <a:pt x="10" y="51"/>
                    <a:pt x="10" y="51"/>
                    <a:pt x="10" y="51"/>
                  </a:cubicBezTo>
                  <a:cubicBezTo>
                    <a:pt x="10" y="49"/>
                    <a:pt x="10" y="49"/>
                    <a:pt x="10" y="49"/>
                  </a:cubicBezTo>
                  <a:cubicBezTo>
                    <a:pt x="10" y="49"/>
                    <a:pt x="11" y="49"/>
                    <a:pt x="13" y="49"/>
                  </a:cubicBezTo>
                  <a:cubicBezTo>
                    <a:pt x="14" y="48"/>
                    <a:pt x="15" y="48"/>
                    <a:pt x="16" y="48"/>
                  </a:cubicBezTo>
                  <a:cubicBezTo>
                    <a:pt x="16" y="48"/>
                    <a:pt x="17" y="47"/>
                    <a:pt x="17" y="47"/>
                  </a:cubicBezTo>
                  <a:cubicBezTo>
                    <a:pt x="18" y="46"/>
                    <a:pt x="18" y="45"/>
                    <a:pt x="18" y="44"/>
                  </a:cubicBezTo>
                  <a:cubicBezTo>
                    <a:pt x="18" y="3"/>
                    <a:pt x="18" y="3"/>
                    <a:pt x="18" y="3"/>
                  </a:cubicBezTo>
                  <a:cubicBezTo>
                    <a:pt x="16" y="3"/>
                    <a:pt x="16" y="3"/>
                    <a:pt x="16" y="3"/>
                  </a:cubicBezTo>
                  <a:cubicBezTo>
                    <a:pt x="15" y="3"/>
                    <a:pt x="14" y="3"/>
                    <a:pt x="13" y="3"/>
                  </a:cubicBezTo>
                  <a:cubicBezTo>
                    <a:pt x="12" y="3"/>
                    <a:pt x="11" y="3"/>
                    <a:pt x="10" y="4"/>
                  </a:cubicBezTo>
                  <a:cubicBezTo>
                    <a:pt x="9" y="4"/>
                    <a:pt x="8" y="4"/>
                    <a:pt x="7" y="5"/>
                  </a:cubicBezTo>
                  <a:cubicBezTo>
                    <a:pt x="7" y="6"/>
                    <a:pt x="6" y="7"/>
                    <a:pt x="5" y="8"/>
                  </a:cubicBezTo>
                  <a:cubicBezTo>
                    <a:pt x="4" y="9"/>
                    <a:pt x="4" y="10"/>
                    <a:pt x="3" y="11"/>
                  </a:cubicBezTo>
                  <a:cubicBezTo>
                    <a:pt x="3" y="13"/>
                    <a:pt x="2" y="14"/>
                    <a:pt x="2" y="14"/>
                  </a:cubicBezTo>
                  <a:cubicBezTo>
                    <a:pt x="0" y="14"/>
                    <a:pt x="0" y="14"/>
                    <a:pt x="0" y="14"/>
                  </a:cubicBezTo>
                  <a:cubicBezTo>
                    <a:pt x="0" y="0"/>
                    <a:pt x="0" y="0"/>
                    <a:pt x="0" y="0"/>
                  </a:cubicBezTo>
                  <a:cubicBezTo>
                    <a:pt x="44" y="0"/>
                    <a:pt x="44" y="0"/>
                    <a:pt x="44" y="0"/>
                  </a:cubicBezTo>
                  <a:lnTo>
                    <a:pt x="44" y="1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Freeform 43"/>
            <p:cNvSpPr/>
            <p:nvPr userDrawn="1"/>
          </p:nvSpPr>
          <p:spPr bwMode="auto">
            <a:xfrm>
              <a:off x="4559251" y="1452985"/>
              <a:ext cx="184150" cy="192088"/>
            </a:xfrm>
            <a:custGeom>
              <a:avLst/>
              <a:gdLst>
                <a:gd name="T0" fmla="*/ 49 w 49"/>
                <a:gd name="T1" fmla="*/ 3 h 51"/>
                <a:gd name="T2" fmla="*/ 47 w 49"/>
                <a:gd name="T3" fmla="*/ 4 h 51"/>
                <a:gd name="T4" fmla="*/ 45 w 49"/>
                <a:gd name="T5" fmla="*/ 4 h 51"/>
                <a:gd name="T6" fmla="*/ 43 w 49"/>
                <a:gd name="T7" fmla="*/ 6 h 51"/>
                <a:gd name="T8" fmla="*/ 41 w 49"/>
                <a:gd name="T9" fmla="*/ 8 h 51"/>
                <a:gd name="T10" fmla="*/ 36 w 49"/>
                <a:gd name="T11" fmla="*/ 16 h 51"/>
                <a:gd name="T12" fmla="*/ 30 w 49"/>
                <a:gd name="T13" fmla="*/ 26 h 51"/>
                <a:gd name="T14" fmla="*/ 28 w 49"/>
                <a:gd name="T15" fmla="*/ 30 h 51"/>
                <a:gd name="T16" fmla="*/ 28 w 49"/>
                <a:gd name="T17" fmla="*/ 34 h 51"/>
                <a:gd name="T18" fmla="*/ 28 w 49"/>
                <a:gd name="T19" fmla="*/ 44 h 51"/>
                <a:gd name="T20" fmla="*/ 29 w 49"/>
                <a:gd name="T21" fmla="*/ 46 h 51"/>
                <a:gd name="T22" fmla="*/ 30 w 49"/>
                <a:gd name="T23" fmla="*/ 48 h 51"/>
                <a:gd name="T24" fmla="*/ 33 w 49"/>
                <a:gd name="T25" fmla="*/ 48 h 51"/>
                <a:gd name="T26" fmla="*/ 36 w 49"/>
                <a:gd name="T27" fmla="*/ 49 h 51"/>
                <a:gd name="T28" fmla="*/ 36 w 49"/>
                <a:gd name="T29" fmla="*/ 51 h 51"/>
                <a:gd name="T30" fmla="*/ 12 w 49"/>
                <a:gd name="T31" fmla="*/ 51 h 51"/>
                <a:gd name="T32" fmla="*/ 12 w 49"/>
                <a:gd name="T33" fmla="*/ 49 h 51"/>
                <a:gd name="T34" fmla="*/ 15 w 49"/>
                <a:gd name="T35" fmla="*/ 49 h 51"/>
                <a:gd name="T36" fmla="*/ 18 w 49"/>
                <a:gd name="T37" fmla="*/ 48 h 51"/>
                <a:gd name="T38" fmla="*/ 20 w 49"/>
                <a:gd name="T39" fmla="*/ 47 h 51"/>
                <a:gd name="T40" fmla="*/ 20 w 49"/>
                <a:gd name="T41" fmla="*/ 44 h 51"/>
                <a:gd name="T42" fmla="*/ 20 w 49"/>
                <a:gd name="T43" fmla="*/ 32 h 51"/>
                <a:gd name="T44" fmla="*/ 20 w 49"/>
                <a:gd name="T45" fmla="*/ 30 h 51"/>
                <a:gd name="T46" fmla="*/ 18 w 49"/>
                <a:gd name="T47" fmla="*/ 26 h 51"/>
                <a:gd name="T48" fmla="*/ 13 w 49"/>
                <a:gd name="T49" fmla="*/ 17 h 51"/>
                <a:gd name="T50" fmla="*/ 9 w 49"/>
                <a:gd name="T51" fmla="*/ 9 h 51"/>
                <a:gd name="T52" fmla="*/ 7 w 49"/>
                <a:gd name="T53" fmla="*/ 6 h 51"/>
                <a:gd name="T54" fmla="*/ 5 w 49"/>
                <a:gd name="T55" fmla="*/ 4 h 51"/>
                <a:gd name="T56" fmla="*/ 2 w 49"/>
                <a:gd name="T57" fmla="*/ 3 h 51"/>
                <a:gd name="T58" fmla="*/ 0 w 49"/>
                <a:gd name="T59" fmla="*/ 3 h 51"/>
                <a:gd name="T60" fmla="*/ 0 w 49"/>
                <a:gd name="T61" fmla="*/ 0 h 51"/>
                <a:gd name="T62" fmla="*/ 22 w 49"/>
                <a:gd name="T63" fmla="*/ 0 h 51"/>
                <a:gd name="T64" fmla="*/ 22 w 49"/>
                <a:gd name="T65" fmla="*/ 3 h 51"/>
                <a:gd name="T66" fmla="*/ 17 w 49"/>
                <a:gd name="T67" fmla="*/ 4 h 51"/>
                <a:gd name="T68" fmla="*/ 15 w 49"/>
                <a:gd name="T69" fmla="*/ 5 h 51"/>
                <a:gd name="T70" fmla="*/ 16 w 49"/>
                <a:gd name="T71" fmla="*/ 6 h 51"/>
                <a:gd name="T72" fmla="*/ 16 w 49"/>
                <a:gd name="T73" fmla="*/ 7 h 51"/>
                <a:gd name="T74" fmla="*/ 17 w 49"/>
                <a:gd name="T75" fmla="*/ 9 h 51"/>
                <a:gd name="T76" fmla="*/ 18 w 49"/>
                <a:gd name="T77" fmla="*/ 11 h 51"/>
                <a:gd name="T78" fmla="*/ 22 w 49"/>
                <a:gd name="T79" fmla="*/ 18 h 51"/>
                <a:gd name="T80" fmla="*/ 26 w 49"/>
                <a:gd name="T81" fmla="*/ 26 h 51"/>
                <a:gd name="T82" fmla="*/ 35 w 49"/>
                <a:gd name="T83" fmla="*/ 12 h 51"/>
                <a:gd name="T84" fmla="*/ 38 w 49"/>
                <a:gd name="T85" fmla="*/ 6 h 51"/>
                <a:gd name="T86" fmla="*/ 37 w 49"/>
                <a:gd name="T87" fmla="*/ 4 h 51"/>
                <a:gd name="T88" fmla="*/ 36 w 49"/>
                <a:gd name="T89" fmla="*/ 4 h 51"/>
                <a:gd name="T90" fmla="*/ 34 w 49"/>
                <a:gd name="T91" fmla="*/ 3 h 51"/>
                <a:gd name="T92" fmla="*/ 31 w 49"/>
                <a:gd name="T93" fmla="*/ 3 h 51"/>
                <a:gd name="T94" fmla="*/ 31 w 49"/>
                <a:gd name="T95" fmla="*/ 0 h 51"/>
                <a:gd name="T96" fmla="*/ 49 w 49"/>
                <a:gd name="T97" fmla="*/ 0 h 51"/>
                <a:gd name="T98" fmla="*/ 49 w 49"/>
                <a:gd name="T99"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51">
                  <a:moveTo>
                    <a:pt x="49" y="3"/>
                  </a:moveTo>
                  <a:cubicBezTo>
                    <a:pt x="49" y="3"/>
                    <a:pt x="48" y="3"/>
                    <a:pt x="47" y="4"/>
                  </a:cubicBezTo>
                  <a:cubicBezTo>
                    <a:pt x="46" y="4"/>
                    <a:pt x="46" y="4"/>
                    <a:pt x="45" y="4"/>
                  </a:cubicBezTo>
                  <a:cubicBezTo>
                    <a:pt x="44" y="5"/>
                    <a:pt x="44" y="5"/>
                    <a:pt x="43" y="6"/>
                  </a:cubicBezTo>
                  <a:cubicBezTo>
                    <a:pt x="43" y="6"/>
                    <a:pt x="42" y="7"/>
                    <a:pt x="41" y="8"/>
                  </a:cubicBezTo>
                  <a:cubicBezTo>
                    <a:pt x="39" y="11"/>
                    <a:pt x="38" y="13"/>
                    <a:pt x="36" y="16"/>
                  </a:cubicBezTo>
                  <a:cubicBezTo>
                    <a:pt x="35" y="19"/>
                    <a:pt x="33" y="22"/>
                    <a:pt x="30" y="26"/>
                  </a:cubicBezTo>
                  <a:cubicBezTo>
                    <a:pt x="29" y="28"/>
                    <a:pt x="29" y="29"/>
                    <a:pt x="28" y="30"/>
                  </a:cubicBezTo>
                  <a:cubicBezTo>
                    <a:pt x="28" y="31"/>
                    <a:pt x="28" y="32"/>
                    <a:pt x="28" y="34"/>
                  </a:cubicBezTo>
                  <a:cubicBezTo>
                    <a:pt x="28" y="44"/>
                    <a:pt x="28" y="44"/>
                    <a:pt x="28" y="44"/>
                  </a:cubicBezTo>
                  <a:cubicBezTo>
                    <a:pt x="28" y="45"/>
                    <a:pt x="28" y="46"/>
                    <a:pt x="29" y="46"/>
                  </a:cubicBezTo>
                  <a:cubicBezTo>
                    <a:pt x="29" y="47"/>
                    <a:pt x="29" y="47"/>
                    <a:pt x="30" y="48"/>
                  </a:cubicBezTo>
                  <a:cubicBezTo>
                    <a:pt x="31" y="48"/>
                    <a:pt x="32" y="48"/>
                    <a:pt x="33" y="48"/>
                  </a:cubicBezTo>
                  <a:cubicBezTo>
                    <a:pt x="34" y="49"/>
                    <a:pt x="35" y="49"/>
                    <a:pt x="36" y="49"/>
                  </a:cubicBezTo>
                  <a:cubicBezTo>
                    <a:pt x="36" y="51"/>
                    <a:pt x="36" y="51"/>
                    <a:pt x="36" y="51"/>
                  </a:cubicBezTo>
                  <a:cubicBezTo>
                    <a:pt x="12" y="51"/>
                    <a:pt x="12" y="51"/>
                    <a:pt x="12" y="51"/>
                  </a:cubicBezTo>
                  <a:cubicBezTo>
                    <a:pt x="12" y="49"/>
                    <a:pt x="12" y="49"/>
                    <a:pt x="12" y="49"/>
                  </a:cubicBezTo>
                  <a:cubicBezTo>
                    <a:pt x="13" y="49"/>
                    <a:pt x="14" y="49"/>
                    <a:pt x="15" y="49"/>
                  </a:cubicBezTo>
                  <a:cubicBezTo>
                    <a:pt x="17" y="48"/>
                    <a:pt x="18" y="48"/>
                    <a:pt x="18" y="48"/>
                  </a:cubicBezTo>
                  <a:cubicBezTo>
                    <a:pt x="19" y="48"/>
                    <a:pt x="20" y="47"/>
                    <a:pt x="20" y="47"/>
                  </a:cubicBezTo>
                  <a:cubicBezTo>
                    <a:pt x="20" y="46"/>
                    <a:pt x="20" y="45"/>
                    <a:pt x="20" y="44"/>
                  </a:cubicBezTo>
                  <a:cubicBezTo>
                    <a:pt x="20" y="32"/>
                    <a:pt x="20" y="32"/>
                    <a:pt x="20" y="32"/>
                  </a:cubicBezTo>
                  <a:cubicBezTo>
                    <a:pt x="20" y="32"/>
                    <a:pt x="20" y="31"/>
                    <a:pt x="20" y="30"/>
                  </a:cubicBezTo>
                  <a:cubicBezTo>
                    <a:pt x="19" y="29"/>
                    <a:pt x="19" y="28"/>
                    <a:pt x="18" y="26"/>
                  </a:cubicBezTo>
                  <a:cubicBezTo>
                    <a:pt x="17" y="24"/>
                    <a:pt x="15" y="21"/>
                    <a:pt x="13" y="17"/>
                  </a:cubicBezTo>
                  <a:cubicBezTo>
                    <a:pt x="12" y="14"/>
                    <a:pt x="10" y="11"/>
                    <a:pt x="9" y="9"/>
                  </a:cubicBezTo>
                  <a:cubicBezTo>
                    <a:pt x="8" y="8"/>
                    <a:pt x="7" y="7"/>
                    <a:pt x="7" y="6"/>
                  </a:cubicBezTo>
                  <a:cubicBezTo>
                    <a:pt x="6" y="5"/>
                    <a:pt x="5" y="5"/>
                    <a:pt x="5" y="4"/>
                  </a:cubicBezTo>
                  <a:cubicBezTo>
                    <a:pt x="4" y="4"/>
                    <a:pt x="3" y="4"/>
                    <a:pt x="2" y="3"/>
                  </a:cubicBezTo>
                  <a:cubicBezTo>
                    <a:pt x="2" y="3"/>
                    <a:pt x="1" y="3"/>
                    <a:pt x="0" y="3"/>
                  </a:cubicBezTo>
                  <a:cubicBezTo>
                    <a:pt x="0" y="0"/>
                    <a:pt x="0" y="0"/>
                    <a:pt x="0" y="0"/>
                  </a:cubicBezTo>
                  <a:cubicBezTo>
                    <a:pt x="22" y="0"/>
                    <a:pt x="22" y="0"/>
                    <a:pt x="22" y="0"/>
                  </a:cubicBezTo>
                  <a:cubicBezTo>
                    <a:pt x="22" y="3"/>
                    <a:pt x="22" y="3"/>
                    <a:pt x="22" y="3"/>
                  </a:cubicBezTo>
                  <a:cubicBezTo>
                    <a:pt x="20" y="3"/>
                    <a:pt x="18" y="3"/>
                    <a:pt x="17" y="4"/>
                  </a:cubicBezTo>
                  <a:cubicBezTo>
                    <a:pt x="16" y="4"/>
                    <a:pt x="15" y="4"/>
                    <a:pt x="15" y="5"/>
                  </a:cubicBezTo>
                  <a:cubicBezTo>
                    <a:pt x="15" y="5"/>
                    <a:pt x="15" y="5"/>
                    <a:pt x="16" y="6"/>
                  </a:cubicBezTo>
                  <a:cubicBezTo>
                    <a:pt x="16" y="6"/>
                    <a:pt x="16" y="6"/>
                    <a:pt x="16" y="7"/>
                  </a:cubicBezTo>
                  <a:cubicBezTo>
                    <a:pt x="16" y="7"/>
                    <a:pt x="17" y="8"/>
                    <a:pt x="17" y="9"/>
                  </a:cubicBezTo>
                  <a:cubicBezTo>
                    <a:pt x="18" y="10"/>
                    <a:pt x="18" y="11"/>
                    <a:pt x="18" y="11"/>
                  </a:cubicBezTo>
                  <a:cubicBezTo>
                    <a:pt x="20" y="13"/>
                    <a:pt x="21" y="16"/>
                    <a:pt x="22" y="18"/>
                  </a:cubicBezTo>
                  <a:cubicBezTo>
                    <a:pt x="23" y="20"/>
                    <a:pt x="25" y="23"/>
                    <a:pt x="26" y="26"/>
                  </a:cubicBezTo>
                  <a:cubicBezTo>
                    <a:pt x="30" y="20"/>
                    <a:pt x="33" y="15"/>
                    <a:pt x="35" y="12"/>
                  </a:cubicBezTo>
                  <a:cubicBezTo>
                    <a:pt x="37" y="8"/>
                    <a:pt x="38" y="6"/>
                    <a:pt x="38" y="6"/>
                  </a:cubicBezTo>
                  <a:cubicBezTo>
                    <a:pt x="38" y="5"/>
                    <a:pt x="38" y="5"/>
                    <a:pt x="37" y="4"/>
                  </a:cubicBezTo>
                  <a:cubicBezTo>
                    <a:pt x="37" y="4"/>
                    <a:pt x="36" y="4"/>
                    <a:pt x="36" y="4"/>
                  </a:cubicBezTo>
                  <a:cubicBezTo>
                    <a:pt x="35" y="3"/>
                    <a:pt x="34" y="3"/>
                    <a:pt x="34" y="3"/>
                  </a:cubicBezTo>
                  <a:cubicBezTo>
                    <a:pt x="33" y="3"/>
                    <a:pt x="32" y="3"/>
                    <a:pt x="31" y="3"/>
                  </a:cubicBezTo>
                  <a:cubicBezTo>
                    <a:pt x="31" y="0"/>
                    <a:pt x="31" y="0"/>
                    <a:pt x="31" y="0"/>
                  </a:cubicBezTo>
                  <a:cubicBezTo>
                    <a:pt x="49" y="0"/>
                    <a:pt x="49" y="0"/>
                    <a:pt x="49" y="0"/>
                  </a:cubicBezTo>
                  <a:lnTo>
                    <a:pt x="49" y="3"/>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9" name="Freeform 44"/>
            <p:cNvSpPr/>
            <p:nvPr userDrawn="1"/>
          </p:nvSpPr>
          <p:spPr bwMode="auto">
            <a:xfrm>
              <a:off x="2306589" y="714797"/>
              <a:ext cx="327025" cy="461963"/>
            </a:xfrm>
            <a:custGeom>
              <a:avLst/>
              <a:gdLst>
                <a:gd name="T0" fmla="*/ 67 w 87"/>
                <a:gd name="T1" fmla="*/ 93 h 122"/>
                <a:gd name="T2" fmla="*/ 63 w 87"/>
                <a:gd name="T3" fmla="*/ 93 h 122"/>
                <a:gd name="T4" fmla="*/ 50 w 87"/>
                <a:gd name="T5" fmla="*/ 98 h 122"/>
                <a:gd name="T6" fmla="*/ 33 w 87"/>
                <a:gd name="T7" fmla="*/ 98 h 122"/>
                <a:gd name="T8" fmla="*/ 33 w 87"/>
                <a:gd name="T9" fmla="*/ 97 h 122"/>
                <a:gd name="T10" fmla="*/ 44 w 87"/>
                <a:gd name="T11" fmla="*/ 86 h 122"/>
                <a:gd name="T12" fmla="*/ 44 w 87"/>
                <a:gd name="T13" fmla="*/ 73 h 122"/>
                <a:gd name="T14" fmla="*/ 59 w 87"/>
                <a:gd name="T15" fmla="*/ 68 h 122"/>
                <a:gd name="T16" fmla="*/ 71 w 87"/>
                <a:gd name="T17" fmla="*/ 63 h 122"/>
                <a:gd name="T18" fmla="*/ 80 w 87"/>
                <a:gd name="T19" fmla="*/ 51 h 122"/>
                <a:gd name="T20" fmla="*/ 81 w 87"/>
                <a:gd name="T21" fmla="*/ 44 h 122"/>
                <a:gd name="T22" fmla="*/ 81 w 87"/>
                <a:gd name="T23" fmla="*/ 41 h 122"/>
                <a:gd name="T24" fmla="*/ 68 w 87"/>
                <a:gd name="T25" fmla="*/ 36 h 122"/>
                <a:gd name="T26" fmla="*/ 64 w 87"/>
                <a:gd name="T27" fmla="*/ 31 h 122"/>
                <a:gd name="T28" fmla="*/ 63 w 87"/>
                <a:gd name="T29" fmla="*/ 28 h 122"/>
                <a:gd name="T30" fmla="*/ 62 w 87"/>
                <a:gd name="T31" fmla="*/ 27 h 122"/>
                <a:gd name="T32" fmla="*/ 58 w 87"/>
                <a:gd name="T33" fmla="*/ 28 h 122"/>
                <a:gd name="T34" fmla="*/ 57 w 87"/>
                <a:gd name="T35" fmla="*/ 29 h 122"/>
                <a:gd name="T36" fmla="*/ 57 w 87"/>
                <a:gd name="T37" fmla="*/ 30 h 122"/>
                <a:gd name="T38" fmla="*/ 57 w 87"/>
                <a:gd name="T39" fmla="*/ 41 h 122"/>
                <a:gd name="T40" fmla="*/ 49 w 87"/>
                <a:gd name="T41" fmla="*/ 46 h 122"/>
                <a:gd name="T42" fmla="*/ 44 w 87"/>
                <a:gd name="T43" fmla="*/ 52 h 122"/>
                <a:gd name="T44" fmla="*/ 39 w 87"/>
                <a:gd name="T45" fmla="*/ 50 h 122"/>
                <a:gd name="T46" fmla="*/ 22 w 87"/>
                <a:gd name="T47" fmla="*/ 8 h 122"/>
                <a:gd name="T48" fmla="*/ 13 w 87"/>
                <a:gd name="T49" fmla="*/ 0 h 122"/>
                <a:gd name="T50" fmla="*/ 9 w 87"/>
                <a:gd name="T51" fmla="*/ 11 h 122"/>
                <a:gd name="T52" fmla="*/ 9 w 87"/>
                <a:gd name="T53" fmla="*/ 13 h 122"/>
                <a:gd name="T54" fmla="*/ 3 w 87"/>
                <a:gd name="T55" fmla="*/ 38 h 122"/>
                <a:gd name="T56" fmla="*/ 0 w 87"/>
                <a:gd name="T57" fmla="*/ 53 h 122"/>
                <a:gd name="T58" fmla="*/ 7 w 87"/>
                <a:gd name="T59" fmla="*/ 81 h 122"/>
                <a:gd name="T60" fmla="*/ 8 w 87"/>
                <a:gd name="T61" fmla="*/ 91 h 122"/>
                <a:gd name="T62" fmla="*/ 21 w 87"/>
                <a:gd name="T63" fmla="*/ 117 h 122"/>
                <a:gd name="T64" fmla="*/ 41 w 87"/>
                <a:gd name="T65" fmla="*/ 119 h 122"/>
                <a:gd name="T66" fmla="*/ 46 w 87"/>
                <a:gd name="T67" fmla="*/ 115 h 122"/>
                <a:gd name="T68" fmla="*/ 53 w 87"/>
                <a:gd name="T69" fmla="*/ 115 h 122"/>
                <a:gd name="T70" fmla="*/ 72 w 87"/>
                <a:gd name="T71" fmla="*/ 110 h 122"/>
                <a:gd name="T72" fmla="*/ 82 w 87"/>
                <a:gd name="T73" fmla="*/ 104 h 122"/>
                <a:gd name="T74" fmla="*/ 87 w 87"/>
                <a:gd name="T75" fmla="*/ 94 h 122"/>
                <a:gd name="T76" fmla="*/ 86 w 87"/>
                <a:gd name="T77" fmla="*/ 88 h 122"/>
                <a:gd name="T78" fmla="*/ 67 w 87"/>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7" h="122">
                  <a:moveTo>
                    <a:pt x="67" y="93"/>
                  </a:moveTo>
                  <a:cubicBezTo>
                    <a:pt x="66" y="93"/>
                    <a:pt x="64" y="93"/>
                    <a:pt x="63" y="93"/>
                  </a:cubicBezTo>
                  <a:cubicBezTo>
                    <a:pt x="59" y="95"/>
                    <a:pt x="54" y="96"/>
                    <a:pt x="50" y="98"/>
                  </a:cubicBezTo>
                  <a:cubicBezTo>
                    <a:pt x="45" y="99"/>
                    <a:pt x="38" y="102"/>
                    <a:pt x="33" y="98"/>
                  </a:cubicBezTo>
                  <a:cubicBezTo>
                    <a:pt x="33" y="98"/>
                    <a:pt x="33" y="98"/>
                    <a:pt x="33" y="97"/>
                  </a:cubicBezTo>
                  <a:cubicBezTo>
                    <a:pt x="37" y="93"/>
                    <a:pt x="37" y="90"/>
                    <a:pt x="44" y="86"/>
                  </a:cubicBezTo>
                  <a:cubicBezTo>
                    <a:pt x="44" y="82"/>
                    <a:pt x="46" y="76"/>
                    <a:pt x="44" y="73"/>
                  </a:cubicBezTo>
                  <a:cubicBezTo>
                    <a:pt x="44" y="66"/>
                    <a:pt x="53" y="69"/>
                    <a:pt x="59" y="68"/>
                  </a:cubicBezTo>
                  <a:cubicBezTo>
                    <a:pt x="63" y="67"/>
                    <a:pt x="68" y="65"/>
                    <a:pt x="71" y="63"/>
                  </a:cubicBezTo>
                  <a:cubicBezTo>
                    <a:pt x="75" y="61"/>
                    <a:pt x="78" y="56"/>
                    <a:pt x="80" y="51"/>
                  </a:cubicBezTo>
                  <a:cubicBezTo>
                    <a:pt x="81" y="50"/>
                    <a:pt x="80" y="46"/>
                    <a:pt x="81" y="44"/>
                  </a:cubicBezTo>
                  <a:cubicBezTo>
                    <a:pt x="81" y="43"/>
                    <a:pt x="81" y="42"/>
                    <a:pt x="81" y="41"/>
                  </a:cubicBezTo>
                  <a:cubicBezTo>
                    <a:pt x="81" y="40"/>
                    <a:pt x="70" y="37"/>
                    <a:pt x="68" y="36"/>
                  </a:cubicBezTo>
                  <a:cubicBezTo>
                    <a:pt x="67" y="35"/>
                    <a:pt x="64" y="33"/>
                    <a:pt x="64" y="31"/>
                  </a:cubicBezTo>
                  <a:cubicBezTo>
                    <a:pt x="63" y="30"/>
                    <a:pt x="64" y="29"/>
                    <a:pt x="63" y="28"/>
                  </a:cubicBezTo>
                  <a:cubicBezTo>
                    <a:pt x="63" y="27"/>
                    <a:pt x="62" y="27"/>
                    <a:pt x="62" y="27"/>
                  </a:cubicBezTo>
                  <a:cubicBezTo>
                    <a:pt x="59" y="27"/>
                    <a:pt x="59" y="27"/>
                    <a:pt x="58" y="28"/>
                  </a:cubicBezTo>
                  <a:cubicBezTo>
                    <a:pt x="58" y="29"/>
                    <a:pt x="57" y="29"/>
                    <a:pt x="57" y="29"/>
                  </a:cubicBezTo>
                  <a:cubicBezTo>
                    <a:pt x="57" y="30"/>
                    <a:pt x="57" y="30"/>
                    <a:pt x="57" y="30"/>
                  </a:cubicBezTo>
                  <a:cubicBezTo>
                    <a:pt x="57" y="34"/>
                    <a:pt x="57" y="37"/>
                    <a:pt x="57" y="41"/>
                  </a:cubicBezTo>
                  <a:cubicBezTo>
                    <a:pt x="56" y="43"/>
                    <a:pt x="51" y="45"/>
                    <a:pt x="49" y="46"/>
                  </a:cubicBezTo>
                  <a:cubicBezTo>
                    <a:pt x="47" y="48"/>
                    <a:pt x="45" y="50"/>
                    <a:pt x="44" y="52"/>
                  </a:cubicBezTo>
                  <a:cubicBezTo>
                    <a:pt x="41" y="52"/>
                    <a:pt x="41" y="51"/>
                    <a:pt x="39" y="50"/>
                  </a:cubicBezTo>
                  <a:cubicBezTo>
                    <a:pt x="36" y="32"/>
                    <a:pt x="34" y="17"/>
                    <a:pt x="22" y="8"/>
                  </a:cubicBezTo>
                  <a:cubicBezTo>
                    <a:pt x="19" y="6"/>
                    <a:pt x="17" y="2"/>
                    <a:pt x="13" y="0"/>
                  </a:cubicBezTo>
                  <a:cubicBezTo>
                    <a:pt x="12" y="4"/>
                    <a:pt x="10" y="7"/>
                    <a:pt x="9" y="11"/>
                  </a:cubicBezTo>
                  <a:cubicBezTo>
                    <a:pt x="9" y="12"/>
                    <a:pt x="9" y="13"/>
                    <a:pt x="9" y="13"/>
                  </a:cubicBezTo>
                  <a:cubicBezTo>
                    <a:pt x="7" y="21"/>
                    <a:pt x="5" y="30"/>
                    <a:pt x="3" y="38"/>
                  </a:cubicBezTo>
                  <a:cubicBezTo>
                    <a:pt x="3" y="40"/>
                    <a:pt x="0" y="51"/>
                    <a:pt x="0" y="53"/>
                  </a:cubicBezTo>
                  <a:cubicBezTo>
                    <a:pt x="2" y="62"/>
                    <a:pt x="5" y="73"/>
                    <a:pt x="7" y="81"/>
                  </a:cubicBezTo>
                  <a:cubicBezTo>
                    <a:pt x="8" y="85"/>
                    <a:pt x="7" y="88"/>
                    <a:pt x="8" y="91"/>
                  </a:cubicBezTo>
                  <a:cubicBezTo>
                    <a:pt x="10" y="98"/>
                    <a:pt x="16" y="114"/>
                    <a:pt x="21" y="117"/>
                  </a:cubicBezTo>
                  <a:cubicBezTo>
                    <a:pt x="26" y="120"/>
                    <a:pt x="34" y="122"/>
                    <a:pt x="41" y="119"/>
                  </a:cubicBezTo>
                  <a:cubicBezTo>
                    <a:pt x="43" y="118"/>
                    <a:pt x="45" y="115"/>
                    <a:pt x="46" y="115"/>
                  </a:cubicBezTo>
                  <a:cubicBezTo>
                    <a:pt x="49" y="115"/>
                    <a:pt x="51" y="115"/>
                    <a:pt x="53" y="115"/>
                  </a:cubicBezTo>
                  <a:cubicBezTo>
                    <a:pt x="59" y="113"/>
                    <a:pt x="66" y="111"/>
                    <a:pt x="72" y="110"/>
                  </a:cubicBezTo>
                  <a:cubicBezTo>
                    <a:pt x="74" y="109"/>
                    <a:pt x="80" y="106"/>
                    <a:pt x="82" y="104"/>
                  </a:cubicBezTo>
                  <a:cubicBezTo>
                    <a:pt x="84" y="102"/>
                    <a:pt x="84" y="97"/>
                    <a:pt x="87" y="94"/>
                  </a:cubicBezTo>
                  <a:cubicBezTo>
                    <a:pt x="87" y="91"/>
                    <a:pt x="87" y="90"/>
                    <a:pt x="86" y="88"/>
                  </a:cubicBezTo>
                  <a:cubicBezTo>
                    <a:pt x="78" y="88"/>
                    <a:pt x="73" y="91"/>
                    <a:pt x="67" y="9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Freeform 45"/>
            <p:cNvSpPr>
              <a:spLocks noEditPoints="1"/>
            </p:cNvSpPr>
            <p:nvPr userDrawn="1"/>
          </p:nvSpPr>
          <p:spPr bwMode="auto">
            <a:xfrm>
              <a:off x="1919239" y="627485"/>
              <a:ext cx="282575" cy="644525"/>
            </a:xfrm>
            <a:custGeom>
              <a:avLst/>
              <a:gdLst>
                <a:gd name="T0" fmla="*/ 74 w 75"/>
                <a:gd name="T1" fmla="*/ 59 h 170"/>
                <a:gd name="T2" fmla="*/ 73 w 75"/>
                <a:gd name="T3" fmla="*/ 42 h 170"/>
                <a:gd name="T4" fmla="*/ 72 w 75"/>
                <a:gd name="T5" fmla="*/ 30 h 170"/>
                <a:gd name="T6" fmla="*/ 42 w 75"/>
                <a:gd name="T7" fmla="*/ 7 h 170"/>
                <a:gd name="T8" fmla="*/ 33 w 75"/>
                <a:gd name="T9" fmla="*/ 1 h 170"/>
                <a:gd name="T10" fmla="*/ 30 w 75"/>
                <a:gd name="T11" fmla="*/ 4 h 170"/>
                <a:gd name="T12" fmla="*/ 37 w 75"/>
                <a:gd name="T13" fmla="*/ 16 h 170"/>
                <a:gd name="T14" fmla="*/ 42 w 75"/>
                <a:gd name="T15" fmla="*/ 23 h 170"/>
                <a:gd name="T16" fmla="*/ 51 w 75"/>
                <a:gd name="T17" fmla="*/ 35 h 170"/>
                <a:gd name="T18" fmla="*/ 52 w 75"/>
                <a:gd name="T19" fmla="*/ 71 h 170"/>
                <a:gd name="T20" fmla="*/ 52 w 75"/>
                <a:gd name="T21" fmla="*/ 80 h 170"/>
                <a:gd name="T22" fmla="*/ 51 w 75"/>
                <a:gd name="T23" fmla="*/ 90 h 170"/>
                <a:gd name="T24" fmla="*/ 44 w 75"/>
                <a:gd name="T25" fmla="*/ 86 h 170"/>
                <a:gd name="T26" fmla="*/ 39 w 75"/>
                <a:gd name="T27" fmla="*/ 85 h 170"/>
                <a:gd name="T28" fmla="*/ 33 w 75"/>
                <a:gd name="T29" fmla="*/ 81 h 170"/>
                <a:gd name="T30" fmla="*/ 26 w 75"/>
                <a:gd name="T31" fmla="*/ 80 h 170"/>
                <a:gd name="T32" fmla="*/ 17 w 75"/>
                <a:gd name="T33" fmla="*/ 77 h 170"/>
                <a:gd name="T34" fmla="*/ 14 w 75"/>
                <a:gd name="T35" fmla="*/ 79 h 170"/>
                <a:gd name="T36" fmla="*/ 19 w 75"/>
                <a:gd name="T37" fmla="*/ 88 h 170"/>
                <a:gd name="T38" fmla="*/ 19 w 75"/>
                <a:gd name="T39" fmla="*/ 91 h 170"/>
                <a:gd name="T40" fmla="*/ 21 w 75"/>
                <a:gd name="T41" fmla="*/ 101 h 170"/>
                <a:gd name="T42" fmla="*/ 18 w 75"/>
                <a:gd name="T43" fmla="*/ 112 h 170"/>
                <a:gd name="T44" fmla="*/ 2 w 75"/>
                <a:gd name="T45" fmla="*/ 143 h 170"/>
                <a:gd name="T46" fmla="*/ 1 w 75"/>
                <a:gd name="T47" fmla="*/ 144 h 170"/>
                <a:gd name="T48" fmla="*/ 1 w 75"/>
                <a:gd name="T49" fmla="*/ 146 h 170"/>
                <a:gd name="T50" fmla="*/ 6 w 75"/>
                <a:gd name="T51" fmla="*/ 169 h 170"/>
                <a:gd name="T52" fmla="*/ 7 w 75"/>
                <a:gd name="T53" fmla="*/ 170 h 170"/>
                <a:gd name="T54" fmla="*/ 15 w 75"/>
                <a:gd name="T55" fmla="*/ 170 h 170"/>
                <a:gd name="T56" fmla="*/ 24 w 75"/>
                <a:gd name="T57" fmla="*/ 161 h 170"/>
                <a:gd name="T58" fmla="*/ 36 w 75"/>
                <a:gd name="T59" fmla="*/ 153 h 170"/>
                <a:gd name="T60" fmla="*/ 38 w 75"/>
                <a:gd name="T61" fmla="*/ 151 h 170"/>
                <a:gd name="T62" fmla="*/ 50 w 75"/>
                <a:gd name="T63" fmla="*/ 141 h 170"/>
                <a:gd name="T64" fmla="*/ 51 w 75"/>
                <a:gd name="T65" fmla="*/ 141 h 170"/>
                <a:gd name="T66" fmla="*/ 51 w 75"/>
                <a:gd name="T67" fmla="*/ 147 h 170"/>
                <a:gd name="T68" fmla="*/ 53 w 75"/>
                <a:gd name="T69" fmla="*/ 165 h 170"/>
                <a:gd name="T70" fmla="*/ 58 w 75"/>
                <a:gd name="T71" fmla="*/ 164 h 170"/>
                <a:gd name="T72" fmla="*/ 65 w 75"/>
                <a:gd name="T73" fmla="*/ 154 h 170"/>
                <a:gd name="T74" fmla="*/ 72 w 75"/>
                <a:gd name="T75" fmla="*/ 124 h 170"/>
                <a:gd name="T76" fmla="*/ 72 w 75"/>
                <a:gd name="T77" fmla="*/ 113 h 170"/>
                <a:gd name="T78" fmla="*/ 74 w 75"/>
                <a:gd name="T79" fmla="*/ 80 h 170"/>
                <a:gd name="T80" fmla="*/ 75 w 75"/>
                <a:gd name="T81" fmla="*/ 66 h 170"/>
                <a:gd name="T82" fmla="*/ 74 w 75"/>
                <a:gd name="T83" fmla="*/ 59 h 170"/>
                <a:gd name="T84" fmla="*/ 51 w 75"/>
                <a:gd name="T85" fmla="*/ 122 h 170"/>
                <a:gd name="T86" fmla="*/ 51 w 75"/>
                <a:gd name="T87" fmla="*/ 128 h 170"/>
                <a:gd name="T88" fmla="*/ 44 w 75"/>
                <a:gd name="T89" fmla="*/ 132 h 170"/>
                <a:gd name="T90" fmla="*/ 40 w 75"/>
                <a:gd name="T91" fmla="*/ 136 h 170"/>
                <a:gd name="T92" fmla="*/ 31 w 75"/>
                <a:gd name="T93" fmla="*/ 139 h 170"/>
                <a:gd name="T94" fmla="*/ 24 w 75"/>
                <a:gd name="T95" fmla="*/ 144 h 170"/>
                <a:gd name="T96" fmla="*/ 13 w 75"/>
                <a:gd name="T97" fmla="*/ 146 h 170"/>
                <a:gd name="T98" fmla="*/ 12 w 75"/>
                <a:gd name="T99" fmla="*/ 145 h 170"/>
                <a:gd name="T100" fmla="*/ 17 w 75"/>
                <a:gd name="T101" fmla="*/ 135 h 170"/>
                <a:gd name="T102" fmla="*/ 30 w 75"/>
                <a:gd name="T103" fmla="*/ 118 h 170"/>
                <a:gd name="T104" fmla="*/ 31 w 75"/>
                <a:gd name="T105" fmla="*/ 115 h 170"/>
                <a:gd name="T106" fmla="*/ 36 w 75"/>
                <a:gd name="T107" fmla="*/ 108 h 170"/>
                <a:gd name="T108" fmla="*/ 49 w 75"/>
                <a:gd name="T109" fmla="*/ 99 h 170"/>
                <a:gd name="T110" fmla="*/ 51 w 75"/>
                <a:gd name="T111" fmla="*/ 99 h 170"/>
                <a:gd name="T112" fmla="*/ 51 w 75"/>
                <a:gd name="T113" fmla="*/ 114 h 170"/>
                <a:gd name="T114" fmla="*/ 51 w 75"/>
                <a:gd name="T115" fmla="*/ 12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170">
                  <a:moveTo>
                    <a:pt x="74" y="59"/>
                  </a:moveTo>
                  <a:cubicBezTo>
                    <a:pt x="74" y="53"/>
                    <a:pt x="74" y="46"/>
                    <a:pt x="73" y="42"/>
                  </a:cubicBezTo>
                  <a:cubicBezTo>
                    <a:pt x="72" y="38"/>
                    <a:pt x="74" y="33"/>
                    <a:pt x="72" y="30"/>
                  </a:cubicBezTo>
                  <a:cubicBezTo>
                    <a:pt x="68" y="20"/>
                    <a:pt x="51" y="12"/>
                    <a:pt x="42" y="7"/>
                  </a:cubicBezTo>
                  <a:cubicBezTo>
                    <a:pt x="38" y="5"/>
                    <a:pt x="38" y="2"/>
                    <a:pt x="33" y="1"/>
                  </a:cubicBezTo>
                  <a:cubicBezTo>
                    <a:pt x="32" y="0"/>
                    <a:pt x="30" y="3"/>
                    <a:pt x="30" y="4"/>
                  </a:cubicBezTo>
                  <a:cubicBezTo>
                    <a:pt x="29" y="10"/>
                    <a:pt x="34" y="12"/>
                    <a:pt x="37" y="16"/>
                  </a:cubicBezTo>
                  <a:cubicBezTo>
                    <a:pt x="39" y="18"/>
                    <a:pt x="40" y="21"/>
                    <a:pt x="42" y="23"/>
                  </a:cubicBezTo>
                  <a:cubicBezTo>
                    <a:pt x="45" y="27"/>
                    <a:pt x="49" y="30"/>
                    <a:pt x="51" y="35"/>
                  </a:cubicBezTo>
                  <a:cubicBezTo>
                    <a:pt x="54" y="43"/>
                    <a:pt x="54" y="63"/>
                    <a:pt x="52" y="71"/>
                  </a:cubicBezTo>
                  <a:cubicBezTo>
                    <a:pt x="52" y="74"/>
                    <a:pt x="52" y="77"/>
                    <a:pt x="52" y="80"/>
                  </a:cubicBezTo>
                  <a:cubicBezTo>
                    <a:pt x="52" y="84"/>
                    <a:pt x="51" y="87"/>
                    <a:pt x="51" y="90"/>
                  </a:cubicBezTo>
                  <a:cubicBezTo>
                    <a:pt x="49" y="89"/>
                    <a:pt x="47" y="87"/>
                    <a:pt x="44" y="86"/>
                  </a:cubicBezTo>
                  <a:cubicBezTo>
                    <a:pt x="43" y="86"/>
                    <a:pt x="41" y="85"/>
                    <a:pt x="39" y="85"/>
                  </a:cubicBezTo>
                  <a:cubicBezTo>
                    <a:pt x="37" y="84"/>
                    <a:pt x="36" y="82"/>
                    <a:pt x="33" y="81"/>
                  </a:cubicBezTo>
                  <a:cubicBezTo>
                    <a:pt x="31" y="80"/>
                    <a:pt x="28" y="81"/>
                    <a:pt x="26" y="80"/>
                  </a:cubicBezTo>
                  <a:cubicBezTo>
                    <a:pt x="23" y="79"/>
                    <a:pt x="22" y="77"/>
                    <a:pt x="17" y="77"/>
                  </a:cubicBezTo>
                  <a:cubicBezTo>
                    <a:pt x="16" y="77"/>
                    <a:pt x="14" y="78"/>
                    <a:pt x="14" y="79"/>
                  </a:cubicBezTo>
                  <a:cubicBezTo>
                    <a:pt x="15" y="83"/>
                    <a:pt x="18" y="84"/>
                    <a:pt x="19" y="88"/>
                  </a:cubicBezTo>
                  <a:cubicBezTo>
                    <a:pt x="19" y="89"/>
                    <a:pt x="19" y="90"/>
                    <a:pt x="19" y="91"/>
                  </a:cubicBezTo>
                  <a:cubicBezTo>
                    <a:pt x="20" y="94"/>
                    <a:pt x="21" y="98"/>
                    <a:pt x="21" y="101"/>
                  </a:cubicBezTo>
                  <a:cubicBezTo>
                    <a:pt x="22" y="106"/>
                    <a:pt x="19" y="109"/>
                    <a:pt x="18" y="112"/>
                  </a:cubicBezTo>
                  <a:cubicBezTo>
                    <a:pt x="14" y="124"/>
                    <a:pt x="12" y="137"/>
                    <a:pt x="2" y="143"/>
                  </a:cubicBezTo>
                  <a:cubicBezTo>
                    <a:pt x="2" y="144"/>
                    <a:pt x="2" y="144"/>
                    <a:pt x="1" y="144"/>
                  </a:cubicBezTo>
                  <a:cubicBezTo>
                    <a:pt x="1" y="145"/>
                    <a:pt x="1" y="146"/>
                    <a:pt x="1" y="146"/>
                  </a:cubicBezTo>
                  <a:cubicBezTo>
                    <a:pt x="1" y="153"/>
                    <a:pt x="0" y="167"/>
                    <a:pt x="6" y="169"/>
                  </a:cubicBezTo>
                  <a:cubicBezTo>
                    <a:pt x="7" y="170"/>
                    <a:pt x="7" y="170"/>
                    <a:pt x="7" y="170"/>
                  </a:cubicBezTo>
                  <a:cubicBezTo>
                    <a:pt x="8" y="170"/>
                    <a:pt x="14" y="170"/>
                    <a:pt x="15" y="170"/>
                  </a:cubicBezTo>
                  <a:cubicBezTo>
                    <a:pt x="17" y="169"/>
                    <a:pt x="21" y="162"/>
                    <a:pt x="24" y="161"/>
                  </a:cubicBezTo>
                  <a:cubicBezTo>
                    <a:pt x="28" y="158"/>
                    <a:pt x="32" y="156"/>
                    <a:pt x="36" y="153"/>
                  </a:cubicBezTo>
                  <a:cubicBezTo>
                    <a:pt x="37" y="152"/>
                    <a:pt x="38" y="151"/>
                    <a:pt x="38" y="151"/>
                  </a:cubicBezTo>
                  <a:cubicBezTo>
                    <a:pt x="42" y="148"/>
                    <a:pt x="46" y="144"/>
                    <a:pt x="50" y="141"/>
                  </a:cubicBezTo>
                  <a:cubicBezTo>
                    <a:pt x="50" y="141"/>
                    <a:pt x="51" y="141"/>
                    <a:pt x="51" y="141"/>
                  </a:cubicBezTo>
                  <a:cubicBezTo>
                    <a:pt x="51" y="142"/>
                    <a:pt x="52" y="146"/>
                    <a:pt x="51" y="147"/>
                  </a:cubicBezTo>
                  <a:cubicBezTo>
                    <a:pt x="51" y="155"/>
                    <a:pt x="50" y="160"/>
                    <a:pt x="53" y="165"/>
                  </a:cubicBezTo>
                  <a:cubicBezTo>
                    <a:pt x="55" y="165"/>
                    <a:pt x="57" y="165"/>
                    <a:pt x="58" y="164"/>
                  </a:cubicBezTo>
                  <a:cubicBezTo>
                    <a:pt x="62" y="163"/>
                    <a:pt x="63" y="157"/>
                    <a:pt x="65" y="154"/>
                  </a:cubicBezTo>
                  <a:cubicBezTo>
                    <a:pt x="69" y="145"/>
                    <a:pt x="70" y="134"/>
                    <a:pt x="72" y="124"/>
                  </a:cubicBezTo>
                  <a:cubicBezTo>
                    <a:pt x="72" y="120"/>
                    <a:pt x="72" y="117"/>
                    <a:pt x="72" y="113"/>
                  </a:cubicBezTo>
                  <a:cubicBezTo>
                    <a:pt x="75" y="103"/>
                    <a:pt x="74" y="91"/>
                    <a:pt x="74" y="80"/>
                  </a:cubicBezTo>
                  <a:cubicBezTo>
                    <a:pt x="74" y="75"/>
                    <a:pt x="74" y="71"/>
                    <a:pt x="75" y="66"/>
                  </a:cubicBezTo>
                  <a:cubicBezTo>
                    <a:pt x="74" y="64"/>
                    <a:pt x="74" y="61"/>
                    <a:pt x="74" y="59"/>
                  </a:cubicBezTo>
                  <a:close/>
                  <a:moveTo>
                    <a:pt x="51" y="122"/>
                  </a:moveTo>
                  <a:cubicBezTo>
                    <a:pt x="51" y="124"/>
                    <a:pt x="51" y="126"/>
                    <a:pt x="51" y="128"/>
                  </a:cubicBezTo>
                  <a:cubicBezTo>
                    <a:pt x="50" y="130"/>
                    <a:pt x="46" y="131"/>
                    <a:pt x="44" y="132"/>
                  </a:cubicBezTo>
                  <a:cubicBezTo>
                    <a:pt x="43" y="133"/>
                    <a:pt x="41" y="135"/>
                    <a:pt x="40" y="136"/>
                  </a:cubicBezTo>
                  <a:cubicBezTo>
                    <a:pt x="37" y="137"/>
                    <a:pt x="34" y="137"/>
                    <a:pt x="31" y="139"/>
                  </a:cubicBezTo>
                  <a:cubicBezTo>
                    <a:pt x="29" y="140"/>
                    <a:pt x="26" y="142"/>
                    <a:pt x="24" y="144"/>
                  </a:cubicBezTo>
                  <a:cubicBezTo>
                    <a:pt x="22" y="145"/>
                    <a:pt x="16" y="148"/>
                    <a:pt x="13" y="146"/>
                  </a:cubicBezTo>
                  <a:cubicBezTo>
                    <a:pt x="12" y="146"/>
                    <a:pt x="12" y="145"/>
                    <a:pt x="12" y="145"/>
                  </a:cubicBezTo>
                  <a:cubicBezTo>
                    <a:pt x="12" y="141"/>
                    <a:pt x="15" y="138"/>
                    <a:pt x="17" y="135"/>
                  </a:cubicBezTo>
                  <a:cubicBezTo>
                    <a:pt x="21" y="129"/>
                    <a:pt x="26" y="124"/>
                    <a:pt x="30" y="118"/>
                  </a:cubicBezTo>
                  <a:cubicBezTo>
                    <a:pt x="30" y="117"/>
                    <a:pt x="31" y="116"/>
                    <a:pt x="31" y="115"/>
                  </a:cubicBezTo>
                  <a:cubicBezTo>
                    <a:pt x="32" y="113"/>
                    <a:pt x="35" y="111"/>
                    <a:pt x="36" y="108"/>
                  </a:cubicBezTo>
                  <a:cubicBezTo>
                    <a:pt x="44" y="108"/>
                    <a:pt x="48" y="104"/>
                    <a:pt x="49" y="99"/>
                  </a:cubicBezTo>
                  <a:cubicBezTo>
                    <a:pt x="50" y="99"/>
                    <a:pt x="51" y="99"/>
                    <a:pt x="51" y="99"/>
                  </a:cubicBezTo>
                  <a:cubicBezTo>
                    <a:pt x="51" y="104"/>
                    <a:pt x="52" y="109"/>
                    <a:pt x="51" y="114"/>
                  </a:cubicBezTo>
                  <a:cubicBezTo>
                    <a:pt x="51" y="117"/>
                    <a:pt x="52" y="121"/>
                    <a:pt x="51" y="12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1" name="Freeform 46"/>
            <p:cNvSpPr/>
            <p:nvPr userDrawn="1"/>
          </p:nvSpPr>
          <p:spPr bwMode="auto">
            <a:xfrm>
              <a:off x="4246514" y="684635"/>
              <a:ext cx="158750" cy="219075"/>
            </a:xfrm>
            <a:custGeom>
              <a:avLst/>
              <a:gdLst>
                <a:gd name="T0" fmla="*/ 14 w 42"/>
                <a:gd name="T1" fmla="*/ 25 h 58"/>
                <a:gd name="T2" fmla="*/ 19 w 42"/>
                <a:gd name="T3" fmla="*/ 30 h 58"/>
                <a:gd name="T4" fmla="*/ 28 w 42"/>
                <a:gd name="T5" fmla="*/ 58 h 58"/>
                <a:gd name="T6" fmla="*/ 42 w 42"/>
                <a:gd name="T7" fmla="*/ 47 h 58"/>
                <a:gd name="T8" fmla="*/ 25 w 42"/>
                <a:gd name="T9" fmla="*/ 15 h 58"/>
                <a:gd name="T10" fmla="*/ 13 w 42"/>
                <a:gd name="T11" fmla="*/ 9 h 58"/>
                <a:gd name="T12" fmla="*/ 2 w 42"/>
                <a:gd name="T13" fmla="*/ 0 h 58"/>
                <a:gd name="T14" fmla="*/ 0 w 42"/>
                <a:gd name="T15" fmla="*/ 2 h 58"/>
                <a:gd name="T16" fmla="*/ 0 w 42"/>
                <a:gd name="T17" fmla="*/ 9 h 58"/>
                <a:gd name="T18" fmla="*/ 5 w 42"/>
                <a:gd name="T19" fmla="*/ 13 h 58"/>
                <a:gd name="T20" fmla="*/ 14 w 42"/>
                <a:gd name="T21" fmla="*/ 2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 h="58">
                  <a:moveTo>
                    <a:pt x="14" y="25"/>
                  </a:moveTo>
                  <a:cubicBezTo>
                    <a:pt x="15" y="27"/>
                    <a:pt x="18" y="28"/>
                    <a:pt x="19" y="30"/>
                  </a:cubicBezTo>
                  <a:cubicBezTo>
                    <a:pt x="24" y="37"/>
                    <a:pt x="25" y="50"/>
                    <a:pt x="28" y="58"/>
                  </a:cubicBezTo>
                  <a:cubicBezTo>
                    <a:pt x="35" y="58"/>
                    <a:pt x="39" y="51"/>
                    <a:pt x="42" y="47"/>
                  </a:cubicBezTo>
                  <a:cubicBezTo>
                    <a:pt x="42" y="36"/>
                    <a:pt x="31" y="19"/>
                    <a:pt x="25" y="15"/>
                  </a:cubicBezTo>
                  <a:cubicBezTo>
                    <a:pt x="21" y="12"/>
                    <a:pt x="17" y="11"/>
                    <a:pt x="13" y="9"/>
                  </a:cubicBezTo>
                  <a:cubicBezTo>
                    <a:pt x="9" y="6"/>
                    <a:pt x="7" y="2"/>
                    <a:pt x="2" y="0"/>
                  </a:cubicBezTo>
                  <a:cubicBezTo>
                    <a:pt x="2" y="0"/>
                    <a:pt x="0" y="2"/>
                    <a:pt x="0" y="2"/>
                  </a:cubicBezTo>
                  <a:cubicBezTo>
                    <a:pt x="0" y="5"/>
                    <a:pt x="0" y="7"/>
                    <a:pt x="0" y="9"/>
                  </a:cubicBezTo>
                  <a:cubicBezTo>
                    <a:pt x="2" y="10"/>
                    <a:pt x="3" y="12"/>
                    <a:pt x="5" y="13"/>
                  </a:cubicBezTo>
                  <a:cubicBezTo>
                    <a:pt x="8" y="17"/>
                    <a:pt x="11" y="21"/>
                    <a:pt x="14" y="2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2" name="Freeform 47"/>
            <p:cNvSpPr>
              <a:spLocks noEditPoints="1"/>
            </p:cNvSpPr>
            <p:nvPr userDrawn="1"/>
          </p:nvSpPr>
          <p:spPr bwMode="auto">
            <a:xfrm>
              <a:off x="4276676" y="529060"/>
              <a:ext cx="474663" cy="533400"/>
            </a:xfrm>
            <a:custGeom>
              <a:avLst/>
              <a:gdLst>
                <a:gd name="T0" fmla="*/ 120 w 126"/>
                <a:gd name="T1" fmla="*/ 50 h 141"/>
                <a:gd name="T2" fmla="*/ 114 w 126"/>
                <a:gd name="T3" fmla="*/ 33 h 141"/>
                <a:gd name="T4" fmla="*/ 105 w 126"/>
                <a:gd name="T5" fmla="*/ 32 h 141"/>
                <a:gd name="T6" fmla="*/ 79 w 126"/>
                <a:gd name="T7" fmla="*/ 40 h 141"/>
                <a:gd name="T8" fmla="*/ 86 w 126"/>
                <a:gd name="T9" fmla="*/ 19 h 141"/>
                <a:gd name="T10" fmla="*/ 82 w 126"/>
                <a:gd name="T11" fmla="*/ 1 h 141"/>
                <a:gd name="T12" fmla="*/ 67 w 126"/>
                <a:gd name="T13" fmla="*/ 30 h 141"/>
                <a:gd name="T14" fmla="*/ 46 w 126"/>
                <a:gd name="T15" fmla="*/ 34 h 141"/>
                <a:gd name="T16" fmla="*/ 48 w 126"/>
                <a:gd name="T17" fmla="*/ 44 h 141"/>
                <a:gd name="T18" fmla="*/ 50 w 126"/>
                <a:gd name="T19" fmla="*/ 52 h 141"/>
                <a:gd name="T20" fmla="*/ 60 w 126"/>
                <a:gd name="T21" fmla="*/ 54 h 141"/>
                <a:gd name="T22" fmla="*/ 43 w 126"/>
                <a:gd name="T23" fmla="*/ 66 h 141"/>
                <a:gd name="T24" fmla="*/ 46 w 126"/>
                <a:gd name="T25" fmla="*/ 72 h 141"/>
                <a:gd name="T26" fmla="*/ 37 w 126"/>
                <a:gd name="T27" fmla="*/ 90 h 141"/>
                <a:gd name="T28" fmla="*/ 53 w 126"/>
                <a:gd name="T29" fmla="*/ 79 h 141"/>
                <a:gd name="T30" fmla="*/ 62 w 126"/>
                <a:gd name="T31" fmla="*/ 90 h 141"/>
                <a:gd name="T32" fmla="*/ 79 w 126"/>
                <a:gd name="T33" fmla="*/ 90 h 141"/>
                <a:gd name="T34" fmla="*/ 73 w 126"/>
                <a:gd name="T35" fmla="*/ 94 h 141"/>
                <a:gd name="T36" fmla="*/ 37 w 126"/>
                <a:gd name="T37" fmla="*/ 113 h 141"/>
                <a:gd name="T38" fmla="*/ 0 w 126"/>
                <a:gd name="T39" fmla="*/ 135 h 141"/>
                <a:gd name="T40" fmla="*/ 0 w 126"/>
                <a:gd name="T41" fmla="*/ 139 h 141"/>
                <a:gd name="T42" fmla="*/ 68 w 126"/>
                <a:gd name="T43" fmla="*/ 111 h 141"/>
                <a:gd name="T44" fmla="*/ 85 w 126"/>
                <a:gd name="T45" fmla="*/ 98 h 141"/>
                <a:gd name="T46" fmla="*/ 83 w 126"/>
                <a:gd name="T47" fmla="*/ 104 h 141"/>
                <a:gd name="T48" fmla="*/ 75 w 126"/>
                <a:gd name="T49" fmla="*/ 114 h 141"/>
                <a:gd name="T50" fmla="*/ 61 w 126"/>
                <a:gd name="T51" fmla="*/ 127 h 141"/>
                <a:gd name="T52" fmla="*/ 78 w 126"/>
                <a:gd name="T53" fmla="*/ 124 h 141"/>
                <a:gd name="T54" fmla="*/ 92 w 126"/>
                <a:gd name="T55" fmla="*/ 116 h 141"/>
                <a:gd name="T56" fmla="*/ 100 w 126"/>
                <a:gd name="T57" fmla="*/ 87 h 141"/>
                <a:gd name="T58" fmla="*/ 100 w 126"/>
                <a:gd name="T59" fmla="*/ 78 h 141"/>
                <a:gd name="T60" fmla="*/ 81 w 126"/>
                <a:gd name="T61" fmla="*/ 80 h 141"/>
                <a:gd name="T62" fmla="*/ 75 w 126"/>
                <a:gd name="T63" fmla="*/ 63 h 141"/>
                <a:gd name="T64" fmla="*/ 68 w 126"/>
                <a:gd name="T65" fmla="*/ 74 h 141"/>
                <a:gd name="T66" fmla="*/ 76 w 126"/>
                <a:gd name="T67" fmla="*/ 48 h 141"/>
                <a:gd name="T68" fmla="*/ 86 w 126"/>
                <a:gd name="T69" fmla="*/ 7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6" h="141">
                  <a:moveTo>
                    <a:pt x="100" y="78"/>
                  </a:moveTo>
                  <a:cubicBezTo>
                    <a:pt x="106" y="69"/>
                    <a:pt x="115" y="61"/>
                    <a:pt x="120" y="50"/>
                  </a:cubicBezTo>
                  <a:cubicBezTo>
                    <a:pt x="121" y="47"/>
                    <a:pt x="126" y="39"/>
                    <a:pt x="123" y="35"/>
                  </a:cubicBezTo>
                  <a:cubicBezTo>
                    <a:pt x="121" y="33"/>
                    <a:pt x="117" y="34"/>
                    <a:pt x="114" y="33"/>
                  </a:cubicBezTo>
                  <a:cubicBezTo>
                    <a:pt x="113" y="33"/>
                    <a:pt x="112" y="31"/>
                    <a:pt x="111" y="31"/>
                  </a:cubicBezTo>
                  <a:cubicBezTo>
                    <a:pt x="109" y="30"/>
                    <a:pt x="106" y="32"/>
                    <a:pt x="105" y="32"/>
                  </a:cubicBezTo>
                  <a:cubicBezTo>
                    <a:pt x="100" y="34"/>
                    <a:pt x="95" y="35"/>
                    <a:pt x="90" y="37"/>
                  </a:cubicBezTo>
                  <a:cubicBezTo>
                    <a:pt x="88" y="38"/>
                    <a:pt x="81" y="41"/>
                    <a:pt x="79" y="40"/>
                  </a:cubicBezTo>
                  <a:cubicBezTo>
                    <a:pt x="78" y="40"/>
                    <a:pt x="78" y="39"/>
                    <a:pt x="77" y="39"/>
                  </a:cubicBezTo>
                  <a:cubicBezTo>
                    <a:pt x="78" y="31"/>
                    <a:pt x="84" y="26"/>
                    <a:pt x="86" y="19"/>
                  </a:cubicBezTo>
                  <a:cubicBezTo>
                    <a:pt x="87" y="17"/>
                    <a:pt x="90" y="12"/>
                    <a:pt x="88" y="10"/>
                  </a:cubicBezTo>
                  <a:cubicBezTo>
                    <a:pt x="88" y="6"/>
                    <a:pt x="84" y="3"/>
                    <a:pt x="82" y="1"/>
                  </a:cubicBezTo>
                  <a:cubicBezTo>
                    <a:pt x="81" y="0"/>
                    <a:pt x="78" y="1"/>
                    <a:pt x="78" y="3"/>
                  </a:cubicBezTo>
                  <a:cubicBezTo>
                    <a:pt x="78" y="14"/>
                    <a:pt x="73" y="26"/>
                    <a:pt x="67" y="30"/>
                  </a:cubicBezTo>
                  <a:cubicBezTo>
                    <a:pt x="65" y="31"/>
                    <a:pt x="63" y="31"/>
                    <a:pt x="60" y="32"/>
                  </a:cubicBezTo>
                  <a:cubicBezTo>
                    <a:pt x="56" y="33"/>
                    <a:pt x="51" y="38"/>
                    <a:pt x="46" y="34"/>
                  </a:cubicBezTo>
                  <a:cubicBezTo>
                    <a:pt x="44" y="34"/>
                    <a:pt x="43" y="34"/>
                    <a:pt x="42" y="35"/>
                  </a:cubicBezTo>
                  <a:cubicBezTo>
                    <a:pt x="42" y="40"/>
                    <a:pt x="45" y="43"/>
                    <a:pt x="48" y="44"/>
                  </a:cubicBezTo>
                  <a:cubicBezTo>
                    <a:pt x="49" y="45"/>
                    <a:pt x="52" y="45"/>
                    <a:pt x="55" y="44"/>
                  </a:cubicBezTo>
                  <a:cubicBezTo>
                    <a:pt x="54" y="48"/>
                    <a:pt x="52" y="51"/>
                    <a:pt x="50" y="52"/>
                  </a:cubicBezTo>
                  <a:cubicBezTo>
                    <a:pt x="50" y="54"/>
                    <a:pt x="50" y="55"/>
                    <a:pt x="50" y="56"/>
                  </a:cubicBezTo>
                  <a:cubicBezTo>
                    <a:pt x="55" y="57"/>
                    <a:pt x="56" y="54"/>
                    <a:pt x="60" y="54"/>
                  </a:cubicBezTo>
                  <a:cubicBezTo>
                    <a:pt x="59" y="59"/>
                    <a:pt x="55" y="61"/>
                    <a:pt x="53" y="65"/>
                  </a:cubicBezTo>
                  <a:cubicBezTo>
                    <a:pt x="50" y="66"/>
                    <a:pt x="46" y="66"/>
                    <a:pt x="43" y="66"/>
                  </a:cubicBezTo>
                  <a:cubicBezTo>
                    <a:pt x="43" y="66"/>
                    <a:pt x="43" y="67"/>
                    <a:pt x="43" y="67"/>
                  </a:cubicBezTo>
                  <a:cubicBezTo>
                    <a:pt x="43" y="70"/>
                    <a:pt x="44" y="71"/>
                    <a:pt x="46" y="72"/>
                  </a:cubicBezTo>
                  <a:cubicBezTo>
                    <a:pt x="45" y="77"/>
                    <a:pt x="41" y="80"/>
                    <a:pt x="39" y="84"/>
                  </a:cubicBezTo>
                  <a:cubicBezTo>
                    <a:pt x="38" y="85"/>
                    <a:pt x="35" y="87"/>
                    <a:pt x="37" y="90"/>
                  </a:cubicBezTo>
                  <a:cubicBezTo>
                    <a:pt x="37" y="91"/>
                    <a:pt x="38" y="91"/>
                    <a:pt x="39" y="91"/>
                  </a:cubicBezTo>
                  <a:cubicBezTo>
                    <a:pt x="44" y="87"/>
                    <a:pt x="51" y="85"/>
                    <a:pt x="53" y="79"/>
                  </a:cubicBezTo>
                  <a:cubicBezTo>
                    <a:pt x="60" y="79"/>
                    <a:pt x="60" y="81"/>
                    <a:pt x="64" y="83"/>
                  </a:cubicBezTo>
                  <a:cubicBezTo>
                    <a:pt x="64" y="86"/>
                    <a:pt x="63" y="88"/>
                    <a:pt x="62" y="90"/>
                  </a:cubicBezTo>
                  <a:cubicBezTo>
                    <a:pt x="62" y="92"/>
                    <a:pt x="62" y="93"/>
                    <a:pt x="62" y="94"/>
                  </a:cubicBezTo>
                  <a:cubicBezTo>
                    <a:pt x="67" y="94"/>
                    <a:pt x="75" y="87"/>
                    <a:pt x="79" y="90"/>
                  </a:cubicBezTo>
                  <a:cubicBezTo>
                    <a:pt x="79" y="90"/>
                    <a:pt x="79" y="90"/>
                    <a:pt x="79" y="90"/>
                  </a:cubicBezTo>
                  <a:cubicBezTo>
                    <a:pt x="79" y="92"/>
                    <a:pt x="76" y="93"/>
                    <a:pt x="73" y="94"/>
                  </a:cubicBezTo>
                  <a:cubicBezTo>
                    <a:pt x="69" y="97"/>
                    <a:pt x="63" y="99"/>
                    <a:pt x="58" y="101"/>
                  </a:cubicBezTo>
                  <a:cubicBezTo>
                    <a:pt x="51" y="105"/>
                    <a:pt x="43" y="109"/>
                    <a:pt x="37" y="113"/>
                  </a:cubicBezTo>
                  <a:cubicBezTo>
                    <a:pt x="35" y="114"/>
                    <a:pt x="33" y="114"/>
                    <a:pt x="31" y="115"/>
                  </a:cubicBezTo>
                  <a:cubicBezTo>
                    <a:pt x="21" y="121"/>
                    <a:pt x="11" y="129"/>
                    <a:pt x="0" y="135"/>
                  </a:cubicBezTo>
                  <a:cubicBezTo>
                    <a:pt x="0" y="135"/>
                    <a:pt x="0" y="135"/>
                    <a:pt x="0" y="135"/>
                  </a:cubicBezTo>
                  <a:cubicBezTo>
                    <a:pt x="0" y="137"/>
                    <a:pt x="0" y="138"/>
                    <a:pt x="0" y="139"/>
                  </a:cubicBezTo>
                  <a:cubicBezTo>
                    <a:pt x="14" y="141"/>
                    <a:pt x="24" y="135"/>
                    <a:pt x="34" y="132"/>
                  </a:cubicBezTo>
                  <a:cubicBezTo>
                    <a:pt x="46" y="127"/>
                    <a:pt x="58" y="118"/>
                    <a:pt x="68" y="111"/>
                  </a:cubicBezTo>
                  <a:cubicBezTo>
                    <a:pt x="71" y="109"/>
                    <a:pt x="74" y="104"/>
                    <a:pt x="77" y="102"/>
                  </a:cubicBezTo>
                  <a:cubicBezTo>
                    <a:pt x="80" y="100"/>
                    <a:pt x="82" y="100"/>
                    <a:pt x="85" y="98"/>
                  </a:cubicBezTo>
                  <a:cubicBezTo>
                    <a:pt x="85" y="98"/>
                    <a:pt x="86" y="98"/>
                    <a:pt x="87" y="98"/>
                  </a:cubicBezTo>
                  <a:cubicBezTo>
                    <a:pt x="86" y="101"/>
                    <a:pt x="84" y="102"/>
                    <a:pt x="83" y="104"/>
                  </a:cubicBezTo>
                  <a:cubicBezTo>
                    <a:pt x="83" y="105"/>
                    <a:pt x="82" y="106"/>
                    <a:pt x="82" y="107"/>
                  </a:cubicBezTo>
                  <a:cubicBezTo>
                    <a:pt x="79" y="109"/>
                    <a:pt x="77" y="111"/>
                    <a:pt x="75" y="114"/>
                  </a:cubicBezTo>
                  <a:cubicBezTo>
                    <a:pt x="74" y="115"/>
                    <a:pt x="73" y="117"/>
                    <a:pt x="71" y="118"/>
                  </a:cubicBezTo>
                  <a:cubicBezTo>
                    <a:pt x="68" y="121"/>
                    <a:pt x="64" y="124"/>
                    <a:pt x="61" y="127"/>
                  </a:cubicBezTo>
                  <a:cubicBezTo>
                    <a:pt x="61" y="128"/>
                    <a:pt x="61" y="130"/>
                    <a:pt x="62" y="132"/>
                  </a:cubicBezTo>
                  <a:cubicBezTo>
                    <a:pt x="69" y="131"/>
                    <a:pt x="73" y="126"/>
                    <a:pt x="78" y="124"/>
                  </a:cubicBezTo>
                  <a:cubicBezTo>
                    <a:pt x="81" y="123"/>
                    <a:pt x="84" y="122"/>
                    <a:pt x="87" y="121"/>
                  </a:cubicBezTo>
                  <a:cubicBezTo>
                    <a:pt x="89" y="119"/>
                    <a:pt x="90" y="117"/>
                    <a:pt x="92" y="116"/>
                  </a:cubicBezTo>
                  <a:cubicBezTo>
                    <a:pt x="101" y="109"/>
                    <a:pt x="108" y="105"/>
                    <a:pt x="107" y="89"/>
                  </a:cubicBezTo>
                  <a:cubicBezTo>
                    <a:pt x="104" y="88"/>
                    <a:pt x="101" y="88"/>
                    <a:pt x="100" y="87"/>
                  </a:cubicBezTo>
                  <a:cubicBezTo>
                    <a:pt x="97" y="87"/>
                    <a:pt x="93" y="87"/>
                    <a:pt x="90" y="87"/>
                  </a:cubicBezTo>
                  <a:cubicBezTo>
                    <a:pt x="92" y="82"/>
                    <a:pt x="97" y="82"/>
                    <a:pt x="100" y="78"/>
                  </a:cubicBezTo>
                  <a:close/>
                  <a:moveTo>
                    <a:pt x="86" y="72"/>
                  </a:moveTo>
                  <a:cubicBezTo>
                    <a:pt x="84" y="75"/>
                    <a:pt x="83" y="77"/>
                    <a:pt x="81" y="80"/>
                  </a:cubicBezTo>
                  <a:cubicBezTo>
                    <a:pt x="80" y="80"/>
                    <a:pt x="80" y="80"/>
                    <a:pt x="79" y="79"/>
                  </a:cubicBezTo>
                  <a:cubicBezTo>
                    <a:pt x="78" y="73"/>
                    <a:pt x="77" y="68"/>
                    <a:pt x="75" y="63"/>
                  </a:cubicBezTo>
                  <a:cubicBezTo>
                    <a:pt x="74" y="63"/>
                    <a:pt x="73" y="63"/>
                    <a:pt x="72" y="64"/>
                  </a:cubicBezTo>
                  <a:cubicBezTo>
                    <a:pt x="69" y="66"/>
                    <a:pt x="71" y="72"/>
                    <a:pt x="68" y="74"/>
                  </a:cubicBezTo>
                  <a:cubicBezTo>
                    <a:pt x="66" y="76"/>
                    <a:pt x="63" y="71"/>
                    <a:pt x="62" y="70"/>
                  </a:cubicBezTo>
                  <a:cubicBezTo>
                    <a:pt x="63" y="61"/>
                    <a:pt x="72" y="54"/>
                    <a:pt x="76" y="48"/>
                  </a:cubicBezTo>
                  <a:cubicBezTo>
                    <a:pt x="85" y="48"/>
                    <a:pt x="91" y="52"/>
                    <a:pt x="99" y="52"/>
                  </a:cubicBezTo>
                  <a:cubicBezTo>
                    <a:pt x="98" y="63"/>
                    <a:pt x="90" y="66"/>
                    <a:pt x="86" y="7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3" name="Freeform 48"/>
            <p:cNvSpPr/>
            <p:nvPr userDrawn="1"/>
          </p:nvSpPr>
          <p:spPr bwMode="auto">
            <a:xfrm>
              <a:off x="4240164" y="867197"/>
              <a:ext cx="71438" cy="120650"/>
            </a:xfrm>
            <a:custGeom>
              <a:avLst/>
              <a:gdLst>
                <a:gd name="T0" fmla="*/ 2 w 19"/>
                <a:gd name="T1" fmla="*/ 24 h 32"/>
                <a:gd name="T2" fmla="*/ 7 w 19"/>
                <a:gd name="T3" fmla="*/ 32 h 32"/>
                <a:gd name="T4" fmla="*/ 12 w 19"/>
                <a:gd name="T5" fmla="*/ 32 h 32"/>
                <a:gd name="T6" fmla="*/ 18 w 19"/>
                <a:gd name="T7" fmla="*/ 19 h 32"/>
                <a:gd name="T8" fmla="*/ 5 w 19"/>
                <a:gd name="T9" fmla="*/ 0 h 32"/>
                <a:gd name="T10" fmla="*/ 1 w 19"/>
                <a:gd name="T11" fmla="*/ 0 h 32"/>
                <a:gd name="T12" fmla="*/ 2 w 19"/>
                <a:gd name="T13" fmla="*/ 15 h 32"/>
                <a:gd name="T14" fmla="*/ 2 w 19"/>
                <a:gd name="T15" fmla="*/ 2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32">
                  <a:moveTo>
                    <a:pt x="2" y="24"/>
                  </a:moveTo>
                  <a:cubicBezTo>
                    <a:pt x="3" y="26"/>
                    <a:pt x="6" y="29"/>
                    <a:pt x="7" y="32"/>
                  </a:cubicBezTo>
                  <a:cubicBezTo>
                    <a:pt x="9" y="32"/>
                    <a:pt x="10" y="32"/>
                    <a:pt x="12" y="32"/>
                  </a:cubicBezTo>
                  <a:cubicBezTo>
                    <a:pt x="15" y="29"/>
                    <a:pt x="17" y="25"/>
                    <a:pt x="18" y="19"/>
                  </a:cubicBezTo>
                  <a:cubicBezTo>
                    <a:pt x="19" y="14"/>
                    <a:pt x="9" y="1"/>
                    <a:pt x="5" y="0"/>
                  </a:cubicBezTo>
                  <a:cubicBezTo>
                    <a:pt x="4" y="0"/>
                    <a:pt x="2" y="0"/>
                    <a:pt x="1" y="0"/>
                  </a:cubicBezTo>
                  <a:cubicBezTo>
                    <a:pt x="0" y="3"/>
                    <a:pt x="2" y="12"/>
                    <a:pt x="2" y="15"/>
                  </a:cubicBezTo>
                  <a:cubicBezTo>
                    <a:pt x="2" y="18"/>
                    <a:pt x="2" y="21"/>
                    <a:pt x="2" y="2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49"/>
            <p:cNvSpPr/>
            <p:nvPr userDrawn="1"/>
          </p:nvSpPr>
          <p:spPr bwMode="auto">
            <a:xfrm>
              <a:off x="4210001" y="1051347"/>
              <a:ext cx="398463" cy="265113"/>
            </a:xfrm>
            <a:custGeom>
              <a:avLst/>
              <a:gdLst>
                <a:gd name="T0" fmla="*/ 87 w 106"/>
                <a:gd name="T1" fmla="*/ 0 h 70"/>
                <a:gd name="T2" fmla="*/ 63 w 106"/>
                <a:gd name="T3" fmla="*/ 7 h 70"/>
                <a:gd name="T4" fmla="*/ 38 w 106"/>
                <a:gd name="T5" fmla="*/ 16 h 70"/>
                <a:gd name="T6" fmla="*/ 22 w 106"/>
                <a:gd name="T7" fmla="*/ 24 h 70"/>
                <a:gd name="T8" fmla="*/ 17 w 106"/>
                <a:gd name="T9" fmla="*/ 25 h 70"/>
                <a:gd name="T10" fmla="*/ 10 w 106"/>
                <a:gd name="T11" fmla="*/ 29 h 70"/>
                <a:gd name="T12" fmla="*/ 4 w 106"/>
                <a:gd name="T13" fmla="*/ 30 h 70"/>
                <a:gd name="T14" fmla="*/ 0 w 106"/>
                <a:gd name="T15" fmla="*/ 35 h 70"/>
                <a:gd name="T16" fmla="*/ 6 w 106"/>
                <a:gd name="T17" fmla="*/ 49 h 70"/>
                <a:gd name="T18" fmla="*/ 7 w 106"/>
                <a:gd name="T19" fmla="*/ 52 h 70"/>
                <a:gd name="T20" fmla="*/ 10 w 106"/>
                <a:gd name="T21" fmla="*/ 54 h 70"/>
                <a:gd name="T22" fmla="*/ 20 w 106"/>
                <a:gd name="T23" fmla="*/ 51 h 70"/>
                <a:gd name="T24" fmla="*/ 41 w 106"/>
                <a:gd name="T25" fmla="*/ 37 h 70"/>
                <a:gd name="T26" fmla="*/ 51 w 106"/>
                <a:gd name="T27" fmla="*/ 32 h 70"/>
                <a:gd name="T28" fmla="*/ 59 w 106"/>
                <a:gd name="T29" fmla="*/ 31 h 70"/>
                <a:gd name="T30" fmla="*/ 69 w 106"/>
                <a:gd name="T31" fmla="*/ 28 h 70"/>
                <a:gd name="T32" fmla="*/ 71 w 106"/>
                <a:gd name="T33" fmla="*/ 31 h 70"/>
                <a:gd name="T34" fmla="*/ 70 w 106"/>
                <a:gd name="T35" fmla="*/ 40 h 70"/>
                <a:gd name="T36" fmla="*/ 72 w 106"/>
                <a:gd name="T37" fmla="*/ 47 h 70"/>
                <a:gd name="T38" fmla="*/ 69 w 106"/>
                <a:gd name="T39" fmla="*/ 51 h 70"/>
                <a:gd name="T40" fmla="*/ 54 w 106"/>
                <a:gd name="T41" fmla="*/ 56 h 70"/>
                <a:gd name="T42" fmla="*/ 44 w 106"/>
                <a:gd name="T43" fmla="*/ 56 h 70"/>
                <a:gd name="T44" fmla="*/ 43 w 106"/>
                <a:gd name="T45" fmla="*/ 56 h 70"/>
                <a:gd name="T46" fmla="*/ 44 w 106"/>
                <a:gd name="T47" fmla="*/ 60 h 70"/>
                <a:gd name="T48" fmla="*/ 52 w 106"/>
                <a:gd name="T49" fmla="*/ 63 h 70"/>
                <a:gd name="T50" fmla="*/ 67 w 106"/>
                <a:gd name="T51" fmla="*/ 67 h 70"/>
                <a:gd name="T52" fmla="*/ 71 w 106"/>
                <a:gd name="T53" fmla="*/ 63 h 70"/>
                <a:gd name="T54" fmla="*/ 80 w 106"/>
                <a:gd name="T55" fmla="*/ 62 h 70"/>
                <a:gd name="T56" fmla="*/ 83 w 106"/>
                <a:gd name="T57" fmla="*/ 56 h 70"/>
                <a:gd name="T58" fmla="*/ 86 w 106"/>
                <a:gd name="T59" fmla="*/ 49 h 70"/>
                <a:gd name="T60" fmla="*/ 85 w 106"/>
                <a:gd name="T61" fmla="*/ 42 h 70"/>
                <a:gd name="T62" fmla="*/ 84 w 106"/>
                <a:gd name="T63" fmla="*/ 37 h 70"/>
                <a:gd name="T64" fmla="*/ 80 w 106"/>
                <a:gd name="T65" fmla="*/ 25 h 70"/>
                <a:gd name="T66" fmla="*/ 81 w 106"/>
                <a:gd name="T67" fmla="*/ 23 h 70"/>
                <a:gd name="T68" fmla="*/ 97 w 106"/>
                <a:gd name="T69" fmla="*/ 21 h 70"/>
                <a:gd name="T70" fmla="*/ 104 w 106"/>
                <a:gd name="T71" fmla="*/ 15 h 70"/>
                <a:gd name="T72" fmla="*/ 106 w 106"/>
                <a:gd name="T73" fmla="*/ 9 h 70"/>
                <a:gd name="T74" fmla="*/ 103 w 106"/>
                <a:gd name="T75" fmla="*/ 2 h 70"/>
                <a:gd name="T76" fmla="*/ 87 w 106"/>
                <a:gd name="T7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6" h="70">
                  <a:moveTo>
                    <a:pt x="87" y="0"/>
                  </a:moveTo>
                  <a:cubicBezTo>
                    <a:pt x="83" y="4"/>
                    <a:pt x="69" y="4"/>
                    <a:pt x="63" y="7"/>
                  </a:cubicBezTo>
                  <a:cubicBezTo>
                    <a:pt x="55" y="10"/>
                    <a:pt x="47" y="13"/>
                    <a:pt x="38" y="16"/>
                  </a:cubicBezTo>
                  <a:cubicBezTo>
                    <a:pt x="33" y="19"/>
                    <a:pt x="27" y="22"/>
                    <a:pt x="22" y="24"/>
                  </a:cubicBezTo>
                  <a:cubicBezTo>
                    <a:pt x="20" y="24"/>
                    <a:pt x="19" y="25"/>
                    <a:pt x="17" y="25"/>
                  </a:cubicBezTo>
                  <a:cubicBezTo>
                    <a:pt x="15" y="26"/>
                    <a:pt x="13" y="28"/>
                    <a:pt x="10" y="29"/>
                  </a:cubicBezTo>
                  <a:cubicBezTo>
                    <a:pt x="8" y="30"/>
                    <a:pt x="6" y="30"/>
                    <a:pt x="4" y="30"/>
                  </a:cubicBezTo>
                  <a:cubicBezTo>
                    <a:pt x="2" y="31"/>
                    <a:pt x="1" y="33"/>
                    <a:pt x="0" y="35"/>
                  </a:cubicBezTo>
                  <a:cubicBezTo>
                    <a:pt x="0" y="42"/>
                    <a:pt x="4" y="45"/>
                    <a:pt x="6" y="49"/>
                  </a:cubicBezTo>
                  <a:cubicBezTo>
                    <a:pt x="6" y="50"/>
                    <a:pt x="6" y="51"/>
                    <a:pt x="7" y="52"/>
                  </a:cubicBezTo>
                  <a:cubicBezTo>
                    <a:pt x="7" y="53"/>
                    <a:pt x="9" y="54"/>
                    <a:pt x="10" y="54"/>
                  </a:cubicBezTo>
                  <a:cubicBezTo>
                    <a:pt x="14" y="54"/>
                    <a:pt x="18" y="52"/>
                    <a:pt x="20" y="51"/>
                  </a:cubicBezTo>
                  <a:cubicBezTo>
                    <a:pt x="28" y="47"/>
                    <a:pt x="34" y="41"/>
                    <a:pt x="41" y="37"/>
                  </a:cubicBezTo>
                  <a:cubicBezTo>
                    <a:pt x="44" y="35"/>
                    <a:pt x="48" y="33"/>
                    <a:pt x="51" y="32"/>
                  </a:cubicBezTo>
                  <a:cubicBezTo>
                    <a:pt x="54" y="31"/>
                    <a:pt x="56" y="32"/>
                    <a:pt x="59" y="31"/>
                  </a:cubicBezTo>
                  <a:cubicBezTo>
                    <a:pt x="64" y="29"/>
                    <a:pt x="62" y="26"/>
                    <a:pt x="69" y="28"/>
                  </a:cubicBezTo>
                  <a:cubicBezTo>
                    <a:pt x="70" y="29"/>
                    <a:pt x="71" y="30"/>
                    <a:pt x="71" y="31"/>
                  </a:cubicBezTo>
                  <a:cubicBezTo>
                    <a:pt x="72" y="34"/>
                    <a:pt x="70" y="38"/>
                    <a:pt x="70" y="40"/>
                  </a:cubicBezTo>
                  <a:cubicBezTo>
                    <a:pt x="71" y="43"/>
                    <a:pt x="72" y="43"/>
                    <a:pt x="72" y="47"/>
                  </a:cubicBezTo>
                  <a:cubicBezTo>
                    <a:pt x="71" y="48"/>
                    <a:pt x="70" y="50"/>
                    <a:pt x="69" y="51"/>
                  </a:cubicBezTo>
                  <a:cubicBezTo>
                    <a:pt x="65" y="54"/>
                    <a:pt x="59" y="55"/>
                    <a:pt x="54" y="56"/>
                  </a:cubicBezTo>
                  <a:cubicBezTo>
                    <a:pt x="51" y="57"/>
                    <a:pt x="46" y="55"/>
                    <a:pt x="44" y="56"/>
                  </a:cubicBezTo>
                  <a:cubicBezTo>
                    <a:pt x="43" y="56"/>
                    <a:pt x="43" y="56"/>
                    <a:pt x="43" y="56"/>
                  </a:cubicBezTo>
                  <a:cubicBezTo>
                    <a:pt x="43" y="58"/>
                    <a:pt x="43" y="59"/>
                    <a:pt x="44" y="60"/>
                  </a:cubicBezTo>
                  <a:cubicBezTo>
                    <a:pt x="45" y="64"/>
                    <a:pt x="47" y="62"/>
                    <a:pt x="52" y="63"/>
                  </a:cubicBezTo>
                  <a:cubicBezTo>
                    <a:pt x="56" y="65"/>
                    <a:pt x="60" y="70"/>
                    <a:pt x="67" y="67"/>
                  </a:cubicBezTo>
                  <a:cubicBezTo>
                    <a:pt x="68" y="66"/>
                    <a:pt x="69" y="64"/>
                    <a:pt x="71" y="63"/>
                  </a:cubicBezTo>
                  <a:cubicBezTo>
                    <a:pt x="74" y="62"/>
                    <a:pt x="77" y="64"/>
                    <a:pt x="80" y="62"/>
                  </a:cubicBezTo>
                  <a:cubicBezTo>
                    <a:pt x="82" y="61"/>
                    <a:pt x="82" y="58"/>
                    <a:pt x="83" y="56"/>
                  </a:cubicBezTo>
                  <a:cubicBezTo>
                    <a:pt x="84" y="54"/>
                    <a:pt x="86" y="52"/>
                    <a:pt x="86" y="49"/>
                  </a:cubicBezTo>
                  <a:cubicBezTo>
                    <a:pt x="87" y="46"/>
                    <a:pt x="85" y="44"/>
                    <a:pt x="85" y="42"/>
                  </a:cubicBezTo>
                  <a:cubicBezTo>
                    <a:pt x="84" y="40"/>
                    <a:pt x="84" y="39"/>
                    <a:pt x="84" y="37"/>
                  </a:cubicBezTo>
                  <a:cubicBezTo>
                    <a:pt x="82" y="33"/>
                    <a:pt x="80" y="31"/>
                    <a:pt x="80" y="25"/>
                  </a:cubicBezTo>
                  <a:cubicBezTo>
                    <a:pt x="79" y="24"/>
                    <a:pt x="80" y="23"/>
                    <a:pt x="81" y="23"/>
                  </a:cubicBezTo>
                  <a:cubicBezTo>
                    <a:pt x="86" y="22"/>
                    <a:pt x="91" y="21"/>
                    <a:pt x="97" y="21"/>
                  </a:cubicBezTo>
                  <a:cubicBezTo>
                    <a:pt x="99" y="19"/>
                    <a:pt x="102" y="17"/>
                    <a:pt x="104" y="15"/>
                  </a:cubicBezTo>
                  <a:cubicBezTo>
                    <a:pt x="105" y="13"/>
                    <a:pt x="105" y="10"/>
                    <a:pt x="106" y="9"/>
                  </a:cubicBezTo>
                  <a:cubicBezTo>
                    <a:pt x="106" y="5"/>
                    <a:pt x="104" y="4"/>
                    <a:pt x="103" y="2"/>
                  </a:cubicBezTo>
                  <a:cubicBezTo>
                    <a:pt x="96" y="2"/>
                    <a:pt x="93" y="0"/>
                    <a:pt x="87"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5" name="Freeform 50"/>
            <p:cNvSpPr/>
            <p:nvPr userDrawn="1"/>
          </p:nvSpPr>
          <p:spPr bwMode="auto">
            <a:xfrm>
              <a:off x="3400376" y="624310"/>
              <a:ext cx="557213" cy="593725"/>
            </a:xfrm>
            <a:custGeom>
              <a:avLst/>
              <a:gdLst>
                <a:gd name="T0" fmla="*/ 143 w 148"/>
                <a:gd name="T1" fmla="*/ 58 h 157"/>
                <a:gd name="T2" fmla="*/ 146 w 148"/>
                <a:gd name="T3" fmla="*/ 53 h 157"/>
                <a:gd name="T4" fmla="*/ 145 w 148"/>
                <a:gd name="T5" fmla="*/ 47 h 157"/>
                <a:gd name="T6" fmla="*/ 119 w 148"/>
                <a:gd name="T7" fmla="*/ 62 h 157"/>
                <a:gd name="T8" fmla="*/ 106 w 148"/>
                <a:gd name="T9" fmla="*/ 70 h 157"/>
                <a:gd name="T10" fmla="*/ 106 w 148"/>
                <a:gd name="T11" fmla="*/ 70 h 157"/>
                <a:gd name="T12" fmla="*/ 105 w 148"/>
                <a:gd name="T13" fmla="*/ 40 h 157"/>
                <a:gd name="T14" fmla="*/ 105 w 148"/>
                <a:gd name="T15" fmla="*/ 29 h 157"/>
                <a:gd name="T16" fmla="*/ 107 w 148"/>
                <a:gd name="T17" fmla="*/ 26 h 157"/>
                <a:gd name="T18" fmla="*/ 106 w 148"/>
                <a:gd name="T19" fmla="*/ 14 h 157"/>
                <a:gd name="T20" fmla="*/ 96 w 148"/>
                <a:gd name="T21" fmla="*/ 7 h 157"/>
                <a:gd name="T22" fmla="*/ 90 w 148"/>
                <a:gd name="T23" fmla="*/ 2 h 157"/>
                <a:gd name="T24" fmla="*/ 79 w 148"/>
                <a:gd name="T25" fmla="*/ 0 h 157"/>
                <a:gd name="T26" fmla="*/ 75 w 148"/>
                <a:gd name="T27" fmla="*/ 2 h 157"/>
                <a:gd name="T28" fmla="*/ 84 w 148"/>
                <a:gd name="T29" fmla="*/ 33 h 157"/>
                <a:gd name="T30" fmla="*/ 85 w 148"/>
                <a:gd name="T31" fmla="*/ 66 h 157"/>
                <a:gd name="T32" fmla="*/ 82 w 148"/>
                <a:gd name="T33" fmla="*/ 84 h 157"/>
                <a:gd name="T34" fmla="*/ 63 w 148"/>
                <a:gd name="T35" fmla="*/ 93 h 157"/>
                <a:gd name="T36" fmla="*/ 53 w 148"/>
                <a:gd name="T37" fmla="*/ 97 h 157"/>
                <a:gd name="T38" fmla="*/ 42 w 148"/>
                <a:gd name="T39" fmla="*/ 100 h 157"/>
                <a:gd name="T40" fmla="*/ 24 w 148"/>
                <a:gd name="T41" fmla="*/ 110 h 157"/>
                <a:gd name="T42" fmla="*/ 19 w 148"/>
                <a:gd name="T43" fmla="*/ 111 h 157"/>
                <a:gd name="T44" fmla="*/ 12 w 148"/>
                <a:gd name="T45" fmla="*/ 114 h 157"/>
                <a:gd name="T46" fmla="*/ 9 w 148"/>
                <a:gd name="T47" fmla="*/ 114 h 157"/>
                <a:gd name="T48" fmla="*/ 4 w 148"/>
                <a:gd name="T49" fmla="*/ 108 h 157"/>
                <a:gd name="T50" fmla="*/ 2 w 148"/>
                <a:gd name="T51" fmla="*/ 107 h 157"/>
                <a:gd name="T52" fmla="*/ 1 w 148"/>
                <a:gd name="T53" fmla="*/ 109 h 157"/>
                <a:gd name="T54" fmla="*/ 6 w 148"/>
                <a:gd name="T55" fmla="*/ 134 h 157"/>
                <a:gd name="T56" fmla="*/ 36 w 148"/>
                <a:gd name="T57" fmla="*/ 125 h 157"/>
                <a:gd name="T58" fmla="*/ 47 w 148"/>
                <a:gd name="T59" fmla="*/ 119 h 157"/>
                <a:gd name="T60" fmla="*/ 55 w 148"/>
                <a:gd name="T61" fmla="*/ 112 h 157"/>
                <a:gd name="T62" fmla="*/ 59 w 148"/>
                <a:gd name="T63" fmla="*/ 111 h 157"/>
                <a:gd name="T64" fmla="*/ 78 w 148"/>
                <a:gd name="T65" fmla="*/ 105 h 157"/>
                <a:gd name="T66" fmla="*/ 57 w 148"/>
                <a:gd name="T67" fmla="*/ 140 h 157"/>
                <a:gd name="T68" fmla="*/ 52 w 148"/>
                <a:gd name="T69" fmla="*/ 142 h 157"/>
                <a:gd name="T70" fmla="*/ 47 w 148"/>
                <a:gd name="T71" fmla="*/ 145 h 157"/>
                <a:gd name="T72" fmla="*/ 44 w 148"/>
                <a:gd name="T73" fmla="*/ 145 h 157"/>
                <a:gd name="T74" fmla="*/ 37 w 148"/>
                <a:gd name="T75" fmla="*/ 149 h 157"/>
                <a:gd name="T76" fmla="*/ 33 w 148"/>
                <a:gd name="T77" fmla="*/ 156 h 157"/>
                <a:gd name="T78" fmla="*/ 33 w 148"/>
                <a:gd name="T79" fmla="*/ 157 h 157"/>
                <a:gd name="T80" fmla="*/ 83 w 148"/>
                <a:gd name="T81" fmla="*/ 136 h 157"/>
                <a:gd name="T82" fmla="*/ 97 w 148"/>
                <a:gd name="T83" fmla="*/ 123 h 157"/>
                <a:gd name="T84" fmla="*/ 103 w 148"/>
                <a:gd name="T85" fmla="*/ 99 h 157"/>
                <a:gd name="T86" fmla="*/ 105 w 148"/>
                <a:gd name="T87" fmla="*/ 89 h 157"/>
                <a:gd name="T88" fmla="*/ 115 w 148"/>
                <a:gd name="T89" fmla="*/ 82 h 157"/>
                <a:gd name="T90" fmla="*/ 121 w 148"/>
                <a:gd name="T91" fmla="*/ 76 h 157"/>
                <a:gd name="T92" fmla="*/ 135 w 148"/>
                <a:gd name="T93" fmla="*/ 66 h 157"/>
                <a:gd name="T94" fmla="*/ 143 w 148"/>
                <a:gd name="T95" fmla="*/ 5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8" h="157">
                  <a:moveTo>
                    <a:pt x="143" y="58"/>
                  </a:moveTo>
                  <a:cubicBezTo>
                    <a:pt x="144" y="56"/>
                    <a:pt x="144" y="54"/>
                    <a:pt x="146" y="53"/>
                  </a:cubicBezTo>
                  <a:cubicBezTo>
                    <a:pt x="148" y="52"/>
                    <a:pt x="146" y="47"/>
                    <a:pt x="145" y="47"/>
                  </a:cubicBezTo>
                  <a:cubicBezTo>
                    <a:pt x="129" y="43"/>
                    <a:pt x="127" y="55"/>
                    <a:pt x="119" y="62"/>
                  </a:cubicBezTo>
                  <a:cubicBezTo>
                    <a:pt x="115" y="65"/>
                    <a:pt x="110" y="67"/>
                    <a:pt x="106" y="70"/>
                  </a:cubicBezTo>
                  <a:cubicBezTo>
                    <a:pt x="106" y="70"/>
                    <a:pt x="106" y="70"/>
                    <a:pt x="106" y="70"/>
                  </a:cubicBezTo>
                  <a:cubicBezTo>
                    <a:pt x="104" y="61"/>
                    <a:pt x="105" y="50"/>
                    <a:pt x="105" y="40"/>
                  </a:cubicBezTo>
                  <a:cubicBezTo>
                    <a:pt x="105" y="36"/>
                    <a:pt x="105" y="32"/>
                    <a:pt x="105" y="29"/>
                  </a:cubicBezTo>
                  <a:cubicBezTo>
                    <a:pt x="105" y="28"/>
                    <a:pt x="107" y="27"/>
                    <a:pt x="107" y="26"/>
                  </a:cubicBezTo>
                  <a:cubicBezTo>
                    <a:pt x="109" y="23"/>
                    <a:pt x="108" y="17"/>
                    <a:pt x="106" y="14"/>
                  </a:cubicBezTo>
                  <a:cubicBezTo>
                    <a:pt x="104" y="10"/>
                    <a:pt x="99" y="9"/>
                    <a:pt x="96" y="7"/>
                  </a:cubicBezTo>
                  <a:cubicBezTo>
                    <a:pt x="94" y="5"/>
                    <a:pt x="92" y="3"/>
                    <a:pt x="90" y="2"/>
                  </a:cubicBezTo>
                  <a:cubicBezTo>
                    <a:pt x="86" y="1"/>
                    <a:pt x="82" y="2"/>
                    <a:pt x="79" y="0"/>
                  </a:cubicBezTo>
                  <a:cubicBezTo>
                    <a:pt x="77" y="0"/>
                    <a:pt x="77" y="1"/>
                    <a:pt x="75" y="2"/>
                  </a:cubicBezTo>
                  <a:cubicBezTo>
                    <a:pt x="72" y="12"/>
                    <a:pt x="81" y="26"/>
                    <a:pt x="84" y="33"/>
                  </a:cubicBezTo>
                  <a:cubicBezTo>
                    <a:pt x="86" y="39"/>
                    <a:pt x="86" y="59"/>
                    <a:pt x="85" y="66"/>
                  </a:cubicBezTo>
                  <a:cubicBezTo>
                    <a:pt x="83" y="72"/>
                    <a:pt x="85" y="80"/>
                    <a:pt x="82" y="84"/>
                  </a:cubicBezTo>
                  <a:cubicBezTo>
                    <a:pt x="81" y="86"/>
                    <a:pt x="66" y="91"/>
                    <a:pt x="63" y="93"/>
                  </a:cubicBezTo>
                  <a:cubicBezTo>
                    <a:pt x="60" y="94"/>
                    <a:pt x="56" y="96"/>
                    <a:pt x="53" y="97"/>
                  </a:cubicBezTo>
                  <a:cubicBezTo>
                    <a:pt x="49" y="98"/>
                    <a:pt x="45" y="98"/>
                    <a:pt x="42" y="100"/>
                  </a:cubicBezTo>
                  <a:cubicBezTo>
                    <a:pt x="37" y="103"/>
                    <a:pt x="30" y="109"/>
                    <a:pt x="24" y="110"/>
                  </a:cubicBezTo>
                  <a:cubicBezTo>
                    <a:pt x="23" y="111"/>
                    <a:pt x="21" y="111"/>
                    <a:pt x="19" y="111"/>
                  </a:cubicBezTo>
                  <a:cubicBezTo>
                    <a:pt x="17" y="112"/>
                    <a:pt x="14" y="113"/>
                    <a:pt x="12" y="114"/>
                  </a:cubicBezTo>
                  <a:cubicBezTo>
                    <a:pt x="11" y="114"/>
                    <a:pt x="9" y="114"/>
                    <a:pt x="9" y="114"/>
                  </a:cubicBezTo>
                  <a:cubicBezTo>
                    <a:pt x="7" y="112"/>
                    <a:pt x="5" y="110"/>
                    <a:pt x="4" y="108"/>
                  </a:cubicBezTo>
                  <a:cubicBezTo>
                    <a:pt x="3" y="107"/>
                    <a:pt x="2" y="107"/>
                    <a:pt x="2" y="107"/>
                  </a:cubicBezTo>
                  <a:cubicBezTo>
                    <a:pt x="2" y="107"/>
                    <a:pt x="1" y="108"/>
                    <a:pt x="1" y="109"/>
                  </a:cubicBezTo>
                  <a:cubicBezTo>
                    <a:pt x="1" y="122"/>
                    <a:pt x="0" y="125"/>
                    <a:pt x="6" y="134"/>
                  </a:cubicBezTo>
                  <a:cubicBezTo>
                    <a:pt x="19" y="137"/>
                    <a:pt x="28" y="131"/>
                    <a:pt x="36" y="125"/>
                  </a:cubicBezTo>
                  <a:cubicBezTo>
                    <a:pt x="40" y="123"/>
                    <a:pt x="43" y="121"/>
                    <a:pt x="47" y="119"/>
                  </a:cubicBezTo>
                  <a:cubicBezTo>
                    <a:pt x="50" y="117"/>
                    <a:pt x="52" y="113"/>
                    <a:pt x="55" y="112"/>
                  </a:cubicBezTo>
                  <a:cubicBezTo>
                    <a:pt x="56" y="111"/>
                    <a:pt x="58" y="111"/>
                    <a:pt x="59" y="111"/>
                  </a:cubicBezTo>
                  <a:cubicBezTo>
                    <a:pt x="65" y="109"/>
                    <a:pt x="70" y="105"/>
                    <a:pt x="78" y="105"/>
                  </a:cubicBezTo>
                  <a:cubicBezTo>
                    <a:pt x="78" y="119"/>
                    <a:pt x="66" y="134"/>
                    <a:pt x="57" y="140"/>
                  </a:cubicBezTo>
                  <a:cubicBezTo>
                    <a:pt x="55" y="141"/>
                    <a:pt x="54" y="142"/>
                    <a:pt x="52" y="142"/>
                  </a:cubicBezTo>
                  <a:cubicBezTo>
                    <a:pt x="51" y="143"/>
                    <a:pt x="49" y="144"/>
                    <a:pt x="47" y="145"/>
                  </a:cubicBezTo>
                  <a:cubicBezTo>
                    <a:pt x="46" y="145"/>
                    <a:pt x="45" y="145"/>
                    <a:pt x="44" y="145"/>
                  </a:cubicBezTo>
                  <a:cubicBezTo>
                    <a:pt x="42" y="146"/>
                    <a:pt x="39" y="148"/>
                    <a:pt x="37" y="149"/>
                  </a:cubicBezTo>
                  <a:cubicBezTo>
                    <a:pt x="34" y="152"/>
                    <a:pt x="34" y="154"/>
                    <a:pt x="33" y="156"/>
                  </a:cubicBezTo>
                  <a:cubicBezTo>
                    <a:pt x="33" y="157"/>
                    <a:pt x="33" y="157"/>
                    <a:pt x="33" y="157"/>
                  </a:cubicBezTo>
                  <a:cubicBezTo>
                    <a:pt x="56" y="157"/>
                    <a:pt x="70" y="147"/>
                    <a:pt x="83" y="136"/>
                  </a:cubicBezTo>
                  <a:cubicBezTo>
                    <a:pt x="88" y="132"/>
                    <a:pt x="94" y="129"/>
                    <a:pt x="97" y="123"/>
                  </a:cubicBezTo>
                  <a:cubicBezTo>
                    <a:pt x="100" y="115"/>
                    <a:pt x="101" y="106"/>
                    <a:pt x="103" y="99"/>
                  </a:cubicBezTo>
                  <a:cubicBezTo>
                    <a:pt x="104" y="96"/>
                    <a:pt x="104" y="93"/>
                    <a:pt x="105" y="89"/>
                  </a:cubicBezTo>
                  <a:cubicBezTo>
                    <a:pt x="106" y="87"/>
                    <a:pt x="112" y="84"/>
                    <a:pt x="115" y="82"/>
                  </a:cubicBezTo>
                  <a:cubicBezTo>
                    <a:pt x="117" y="80"/>
                    <a:pt x="119" y="78"/>
                    <a:pt x="121" y="76"/>
                  </a:cubicBezTo>
                  <a:cubicBezTo>
                    <a:pt x="126" y="72"/>
                    <a:pt x="131" y="69"/>
                    <a:pt x="135" y="66"/>
                  </a:cubicBezTo>
                  <a:cubicBezTo>
                    <a:pt x="138" y="64"/>
                    <a:pt x="142" y="61"/>
                    <a:pt x="143" y="5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6" name="Freeform 51"/>
            <p:cNvSpPr/>
            <p:nvPr userDrawn="1"/>
          </p:nvSpPr>
          <p:spPr bwMode="auto">
            <a:xfrm>
              <a:off x="3886151" y="1062460"/>
              <a:ext cx="120650" cy="152400"/>
            </a:xfrm>
            <a:custGeom>
              <a:avLst/>
              <a:gdLst>
                <a:gd name="T0" fmla="*/ 15 w 32"/>
                <a:gd name="T1" fmla="*/ 8 h 40"/>
                <a:gd name="T2" fmla="*/ 1 w 32"/>
                <a:gd name="T3" fmla="*/ 0 h 40"/>
                <a:gd name="T4" fmla="*/ 0 w 32"/>
                <a:gd name="T5" fmla="*/ 1 h 40"/>
                <a:gd name="T6" fmla="*/ 4 w 32"/>
                <a:gd name="T7" fmla="*/ 20 h 40"/>
                <a:gd name="T8" fmla="*/ 5 w 32"/>
                <a:gd name="T9" fmla="*/ 24 h 40"/>
                <a:gd name="T10" fmla="*/ 7 w 32"/>
                <a:gd name="T11" fmla="*/ 34 h 40"/>
                <a:gd name="T12" fmla="*/ 19 w 32"/>
                <a:gd name="T13" fmla="*/ 38 h 40"/>
                <a:gd name="T14" fmla="*/ 32 w 32"/>
                <a:gd name="T15" fmla="*/ 29 h 40"/>
                <a:gd name="T16" fmla="*/ 15 w 32"/>
                <a:gd name="T1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40">
                  <a:moveTo>
                    <a:pt x="15" y="8"/>
                  </a:moveTo>
                  <a:cubicBezTo>
                    <a:pt x="11" y="5"/>
                    <a:pt x="9" y="0"/>
                    <a:pt x="1" y="0"/>
                  </a:cubicBezTo>
                  <a:cubicBezTo>
                    <a:pt x="1" y="0"/>
                    <a:pt x="0" y="0"/>
                    <a:pt x="0" y="1"/>
                  </a:cubicBezTo>
                  <a:cubicBezTo>
                    <a:pt x="0" y="11"/>
                    <a:pt x="1" y="12"/>
                    <a:pt x="4" y="20"/>
                  </a:cubicBezTo>
                  <a:cubicBezTo>
                    <a:pt x="4" y="21"/>
                    <a:pt x="4" y="22"/>
                    <a:pt x="5" y="24"/>
                  </a:cubicBezTo>
                  <a:cubicBezTo>
                    <a:pt x="6" y="26"/>
                    <a:pt x="10" y="30"/>
                    <a:pt x="7" y="34"/>
                  </a:cubicBezTo>
                  <a:cubicBezTo>
                    <a:pt x="8" y="38"/>
                    <a:pt x="14" y="40"/>
                    <a:pt x="19" y="38"/>
                  </a:cubicBezTo>
                  <a:cubicBezTo>
                    <a:pt x="24" y="37"/>
                    <a:pt x="29" y="33"/>
                    <a:pt x="32" y="29"/>
                  </a:cubicBezTo>
                  <a:cubicBezTo>
                    <a:pt x="32" y="18"/>
                    <a:pt x="22" y="13"/>
                    <a:pt x="15" y="8"/>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7" name="Freeform 52"/>
            <p:cNvSpPr/>
            <p:nvPr userDrawn="1"/>
          </p:nvSpPr>
          <p:spPr bwMode="auto">
            <a:xfrm>
              <a:off x="2990801" y="517947"/>
              <a:ext cx="176213" cy="182563"/>
            </a:xfrm>
            <a:custGeom>
              <a:avLst/>
              <a:gdLst>
                <a:gd name="T0" fmla="*/ 6 w 47"/>
                <a:gd name="T1" fmla="*/ 16 h 48"/>
                <a:gd name="T2" fmla="*/ 8 w 47"/>
                <a:gd name="T3" fmla="*/ 18 h 48"/>
                <a:gd name="T4" fmla="*/ 12 w 47"/>
                <a:gd name="T5" fmla="*/ 27 h 48"/>
                <a:gd name="T6" fmla="*/ 10 w 47"/>
                <a:gd name="T7" fmla="*/ 44 h 48"/>
                <a:gd name="T8" fmla="*/ 12 w 47"/>
                <a:gd name="T9" fmla="*/ 48 h 48"/>
                <a:gd name="T10" fmla="*/ 28 w 47"/>
                <a:gd name="T11" fmla="*/ 37 h 48"/>
                <a:gd name="T12" fmla="*/ 46 w 47"/>
                <a:gd name="T13" fmla="*/ 22 h 48"/>
                <a:gd name="T14" fmla="*/ 43 w 47"/>
                <a:gd name="T15" fmla="*/ 18 h 48"/>
                <a:gd name="T16" fmla="*/ 32 w 47"/>
                <a:gd name="T17" fmla="*/ 10 h 48"/>
                <a:gd name="T18" fmla="*/ 26 w 47"/>
                <a:gd name="T19" fmla="*/ 8 h 48"/>
                <a:gd name="T20" fmla="*/ 5 w 47"/>
                <a:gd name="T21" fmla="*/ 0 h 48"/>
                <a:gd name="T22" fmla="*/ 5 w 47"/>
                <a:gd name="T23" fmla="*/ 11 h 48"/>
                <a:gd name="T24" fmla="*/ 6 w 47"/>
                <a:gd name="T25"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48">
                  <a:moveTo>
                    <a:pt x="6" y="16"/>
                  </a:moveTo>
                  <a:cubicBezTo>
                    <a:pt x="7" y="17"/>
                    <a:pt x="7" y="17"/>
                    <a:pt x="8" y="18"/>
                  </a:cubicBezTo>
                  <a:cubicBezTo>
                    <a:pt x="9" y="20"/>
                    <a:pt x="11" y="24"/>
                    <a:pt x="12" y="27"/>
                  </a:cubicBezTo>
                  <a:cubicBezTo>
                    <a:pt x="14" y="32"/>
                    <a:pt x="14" y="41"/>
                    <a:pt x="10" y="44"/>
                  </a:cubicBezTo>
                  <a:cubicBezTo>
                    <a:pt x="10" y="44"/>
                    <a:pt x="10" y="48"/>
                    <a:pt x="12" y="48"/>
                  </a:cubicBezTo>
                  <a:cubicBezTo>
                    <a:pt x="19" y="48"/>
                    <a:pt x="26" y="43"/>
                    <a:pt x="28" y="37"/>
                  </a:cubicBezTo>
                  <a:cubicBezTo>
                    <a:pt x="40" y="38"/>
                    <a:pt x="47" y="34"/>
                    <a:pt x="46" y="22"/>
                  </a:cubicBezTo>
                  <a:cubicBezTo>
                    <a:pt x="45" y="21"/>
                    <a:pt x="45" y="19"/>
                    <a:pt x="43" y="18"/>
                  </a:cubicBezTo>
                  <a:cubicBezTo>
                    <a:pt x="40" y="15"/>
                    <a:pt x="36" y="12"/>
                    <a:pt x="32" y="10"/>
                  </a:cubicBezTo>
                  <a:cubicBezTo>
                    <a:pt x="30" y="9"/>
                    <a:pt x="28" y="9"/>
                    <a:pt x="26" y="8"/>
                  </a:cubicBezTo>
                  <a:cubicBezTo>
                    <a:pt x="20" y="4"/>
                    <a:pt x="15" y="0"/>
                    <a:pt x="5" y="0"/>
                  </a:cubicBezTo>
                  <a:cubicBezTo>
                    <a:pt x="0" y="6"/>
                    <a:pt x="3" y="6"/>
                    <a:pt x="5" y="11"/>
                  </a:cubicBezTo>
                  <a:cubicBezTo>
                    <a:pt x="5" y="13"/>
                    <a:pt x="6" y="15"/>
                    <a:pt x="6" y="1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8" name="Freeform 53"/>
            <p:cNvSpPr/>
            <p:nvPr userDrawn="1"/>
          </p:nvSpPr>
          <p:spPr bwMode="auto">
            <a:xfrm>
              <a:off x="2900314" y="722735"/>
              <a:ext cx="304800" cy="161925"/>
            </a:xfrm>
            <a:custGeom>
              <a:avLst/>
              <a:gdLst>
                <a:gd name="T0" fmla="*/ 20 w 81"/>
                <a:gd name="T1" fmla="*/ 42 h 43"/>
                <a:gd name="T2" fmla="*/ 34 w 81"/>
                <a:gd name="T3" fmla="*/ 41 h 43"/>
                <a:gd name="T4" fmla="*/ 55 w 81"/>
                <a:gd name="T5" fmla="*/ 21 h 43"/>
                <a:gd name="T6" fmla="*/ 69 w 81"/>
                <a:gd name="T7" fmla="*/ 11 h 43"/>
                <a:gd name="T8" fmla="*/ 75 w 81"/>
                <a:gd name="T9" fmla="*/ 10 h 43"/>
                <a:gd name="T10" fmla="*/ 81 w 81"/>
                <a:gd name="T11" fmla="*/ 4 h 43"/>
                <a:gd name="T12" fmla="*/ 79 w 81"/>
                <a:gd name="T13" fmla="*/ 0 h 43"/>
                <a:gd name="T14" fmla="*/ 74 w 81"/>
                <a:gd name="T15" fmla="*/ 0 h 43"/>
                <a:gd name="T16" fmla="*/ 65 w 81"/>
                <a:gd name="T17" fmla="*/ 1 h 43"/>
                <a:gd name="T18" fmla="*/ 50 w 81"/>
                <a:gd name="T19" fmla="*/ 7 h 43"/>
                <a:gd name="T20" fmla="*/ 46 w 81"/>
                <a:gd name="T21" fmla="*/ 7 h 43"/>
                <a:gd name="T22" fmla="*/ 2 w 81"/>
                <a:gd name="T23" fmla="*/ 25 h 43"/>
                <a:gd name="T24" fmla="*/ 2 w 81"/>
                <a:gd name="T25" fmla="*/ 32 h 43"/>
                <a:gd name="T26" fmla="*/ 20 w 81"/>
                <a:gd name="T27"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43">
                  <a:moveTo>
                    <a:pt x="20" y="42"/>
                  </a:moveTo>
                  <a:cubicBezTo>
                    <a:pt x="24" y="43"/>
                    <a:pt x="31" y="42"/>
                    <a:pt x="34" y="41"/>
                  </a:cubicBezTo>
                  <a:cubicBezTo>
                    <a:pt x="41" y="38"/>
                    <a:pt x="49" y="25"/>
                    <a:pt x="55" y="21"/>
                  </a:cubicBezTo>
                  <a:cubicBezTo>
                    <a:pt x="60" y="18"/>
                    <a:pt x="64" y="13"/>
                    <a:pt x="69" y="11"/>
                  </a:cubicBezTo>
                  <a:cubicBezTo>
                    <a:pt x="71" y="11"/>
                    <a:pt x="73" y="10"/>
                    <a:pt x="75" y="10"/>
                  </a:cubicBezTo>
                  <a:cubicBezTo>
                    <a:pt x="77" y="8"/>
                    <a:pt x="79" y="6"/>
                    <a:pt x="81" y="4"/>
                  </a:cubicBezTo>
                  <a:cubicBezTo>
                    <a:pt x="81" y="1"/>
                    <a:pt x="80" y="0"/>
                    <a:pt x="79" y="0"/>
                  </a:cubicBezTo>
                  <a:cubicBezTo>
                    <a:pt x="77" y="0"/>
                    <a:pt x="76" y="0"/>
                    <a:pt x="74" y="0"/>
                  </a:cubicBezTo>
                  <a:cubicBezTo>
                    <a:pt x="71" y="1"/>
                    <a:pt x="67" y="1"/>
                    <a:pt x="65" y="1"/>
                  </a:cubicBezTo>
                  <a:cubicBezTo>
                    <a:pt x="60" y="3"/>
                    <a:pt x="54" y="5"/>
                    <a:pt x="50" y="7"/>
                  </a:cubicBezTo>
                  <a:cubicBezTo>
                    <a:pt x="48" y="7"/>
                    <a:pt x="47" y="7"/>
                    <a:pt x="46" y="7"/>
                  </a:cubicBezTo>
                  <a:cubicBezTo>
                    <a:pt x="31" y="12"/>
                    <a:pt x="16" y="19"/>
                    <a:pt x="2" y="25"/>
                  </a:cubicBezTo>
                  <a:cubicBezTo>
                    <a:pt x="2" y="27"/>
                    <a:pt x="0" y="30"/>
                    <a:pt x="2" y="32"/>
                  </a:cubicBezTo>
                  <a:cubicBezTo>
                    <a:pt x="3" y="37"/>
                    <a:pt x="15" y="41"/>
                    <a:pt x="20" y="4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9" name="Freeform 54"/>
            <p:cNvSpPr/>
            <p:nvPr userDrawn="1"/>
          </p:nvSpPr>
          <p:spPr bwMode="auto">
            <a:xfrm>
              <a:off x="2798714" y="892597"/>
              <a:ext cx="395288" cy="439738"/>
            </a:xfrm>
            <a:custGeom>
              <a:avLst/>
              <a:gdLst>
                <a:gd name="T0" fmla="*/ 76 w 105"/>
                <a:gd name="T1" fmla="*/ 37 h 116"/>
                <a:gd name="T2" fmla="*/ 78 w 105"/>
                <a:gd name="T3" fmla="*/ 32 h 116"/>
                <a:gd name="T4" fmla="*/ 88 w 105"/>
                <a:gd name="T5" fmla="*/ 23 h 116"/>
                <a:gd name="T6" fmla="*/ 92 w 105"/>
                <a:gd name="T7" fmla="*/ 19 h 116"/>
                <a:gd name="T8" fmla="*/ 105 w 105"/>
                <a:gd name="T9" fmla="*/ 8 h 116"/>
                <a:gd name="T10" fmla="*/ 81 w 105"/>
                <a:gd name="T11" fmla="*/ 1 h 116"/>
                <a:gd name="T12" fmla="*/ 71 w 105"/>
                <a:gd name="T13" fmla="*/ 8 h 116"/>
                <a:gd name="T14" fmla="*/ 57 w 105"/>
                <a:gd name="T15" fmla="*/ 16 h 116"/>
                <a:gd name="T16" fmla="*/ 33 w 105"/>
                <a:gd name="T17" fmla="*/ 20 h 116"/>
                <a:gd name="T18" fmla="*/ 28 w 105"/>
                <a:gd name="T19" fmla="*/ 19 h 116"/>
                <a:gd name="T20" fmla="*/ 26 w 105"/>
                <a:gd name="T21" fmla="*/ 30 h 116"/>
                <a:gd name="T22" fmla="*/ 27 w 105"/>
                <a:gd name="T23" fmla="*/ 63 h 116"/>
                <a:gd name="T24" fmla="*/ 33 w 105"/>
                <a:gd name="T25" fmla="*/ 74 h 116"/>
                <a:gd name="T26" fmla="*/ 47 w 105"/>
                <a:gd name="T27" fmla="*/ 56 h 116"/>
                <a:gd name="T28" fmla="*/ 47 w 105"/>
                <a:gd name="T29" fmla="*/ 53 h 116"/>
                <a:gd name="T30" fmla="*/ 47 w 105"/>
                <a:gd name="T31" fmla="*/ 43 h 116"/>
                <a:gd name="T32" fmla="*/ 57 w 105"/>
                <a:gd name="T33" fmla="*/ 42 h 116"/>
                <a:gd name="T34" fmla="*/ 56 w 105"/>
                <a:gd name="T35" fmla="*/ 60 h 116"/>
                <a:gd name="T36" fmla="*/ 30 w 105"/>
                <a:gd name="T37" fmla="*/ 81 h 116"/>
                <a:gd name="T38" fmla="*/ 20 w 105"/>
                <a:gd name="T39" fmla="*/ 86 h 116"/>
                <a:gd name="T40" fmla="*/ 12 w 105"/>
                <a:gd name="T41" fmla="*/ 91 h 116"/>
                <a:gd name="T42" fmla="*/ 1 w 105"/>
                <a:gd name="T43" fmla="*/ 92 h 116"/>
                <a:gd name="T44" fmla="*/ 35 w 105"/>
                <a:gd name="T45" fmla="*/ 95 h 116"/>
                <a:gd name="T46" fmla="*/ 43 w 105"/>
                <a:gd name="T47" fmla="*/ 85 h 116"/>
                <a:gd name="T48" fmla="*/ 50 w 105"/>
                <a:gd name="T49" fmla="*/ 79 h 116"/>
                <a:gd name="T50" fmla="*/ 56 w 105"/>
                <a:gd name="T51" fmla="*/ 77 h 116"/>
                <a:gd name="T52" fmla="*/ 56 w 105"/>
                <a:gd name="T53" fmla="*/ 92 h 116"/>
                <a:gd name="T54" fmla="*/ 49 w 105"/>
                <a:gd name="T55" fmla="*/ 96 h 116"/>
                <a:gd name="T56" fmla="*/ 58 w 105"/>
                <a:gd name="T57" fmla="*/ 103 h 116"/>
                <a:gd name="T58" fmla="*/ 61 w 105"/>
                <a:gd name="T59" fmla="*/ 111 h 116"/>
                <a:gd name="T60" fmla="*/ 71 w 105"/>
                <a:gd name="T61" fmla="*/ 115 h 116"/>
                <a:gd name="T62" fmla="*/ 67 w 105"/>
                <a:gd name="T63" fmla="*/ 78 h 116"/>
                <a:gd name="T64" fmla="*/ 72 w 105"/>
                <a:gd name="T65" fmla="*/ 57 h 116"/>
                <a:gd name="T66" fmla="*/ 93 w 105"/>
                <a:gd name="T67" fmla="*/ 4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16">
                  <a:moveTo>
                    <a:pt x="91" y="36"/>
                  </a:moveTo>
                  <a:cubicBezTo>
                    <a:pt x="86" y="36"/>
                    <a:pt x="81" y="35"/>
                    <a:pt x="76" y="37"/>
                  </a:cubicBezTo>
                  <a:cubicBezTo>
                    <a:pt x="74" y="38"/>
                    <a:pt x="73" y="39"/>
                    <a:pt x="71" y="40"/>
                  </a:cubicBezTo>
                  <a:cubicBezTo>
                    <a:pt x="71" y="37"/>
                    <a:pt x="77" y="34"/>
                    <a:pt x="78" y="32"/>
                  </a:cubicBezTo>
                  <a:cubicBezTo>
                    <a:pt x="80" y="30"/>
                    <a:pt x="81" y="28"/>
                    <a:pt x="83" y="26"/>
                  </a:cubicBezTo>
                  <a:cubicBezTo>
                    <a:pt x="85" y="25"/>
                    <a:pt x="87" y="24"/>
                    <a:pt x="88" y="23"/>
                  </a:cubicBezTo>
                  <a:cubicBezTo>
                    <a:pt x="89" y="22"/>
                    <a:pt x="89" y="20"/>
                    <a:pt x="90" y="19"/>
                  </a:cubicBezTo>
                  <a:cubicBezTo>
                    <a:pt x="91" y="19"/>
                    <a:pt x="92" y="19"/>
                    <a:pt x="92" y="19"/>
                  </a:cubicBezTo>
                  <a:cubicBezTo>
                    <a:pt x="94" y="18"/>
                    <a:pt x="94" y="16"/>
                    <a:pt x="95" y="15"/>
                  </a:cubicBezTo>
                  <a:cubicBezTo>
                    <a:pt x="99" y="12"/>
                    <a:pt x="102" y="12"/>
                    <a:pt x="105" y="8"/>
                  </a:cubicBezTo>
                  <a:cubicBezTo>
                    <a:pt x="105" y="7"/>
                    <a:pt x="104" y="5"/>
                    <a:pt x="103" y="4"/>
                  </a:cubicBezTo>
                  <a:cubicBezTo>
                    <a:pt x="100" y="2"/>
                    <a:pt x="86" y="0"/>
                    <a:pt x="81" y="1"/>
                  </a:cubicBezTo>
                  <a:cubicBezTo>
                    <a:pt x="79" y="2"/>
                    <a:pt x="75" y="4"/>
                    <a:pt x="73" y="5"/>
                  </a:cubicBezTo>
                  <a:cubicBezTo>
                    <a:pt x="72" y="6"/>
                    <a:pt x="71" y="7"/>
                    <a:pt x="71" y="8"/>
                  </a:cubicBezTo>
                  <a:cubicBezTo>
                    <a:pt x="68" y="9"/>
                    <a:pt x="66" y="9"/>
                    <a:pt x="64" y="9"/>
                  </a:cubicBezTo>
                  <a:cubicBezTo>
                    <a:pt x="61" y="11"/>
                    <a:pt x="59" y="14"/>
                    <a:pt x="57" y="16"/>
                  </a:cubicBezTo>
                  <a:cubicBezTo>
                    <a:pt x="51" y="20"/>
                    <a:pt x="46" y="23"/>
                    <a:pt x="40" y="26"/>
                  </a:cubicBezTo>
                  <a:cubicBezTo>
                    <a:pt x="38" y="27"/>
                    <a:pt x="35" y="21"/>
                    <a:pt x="33" y="20"/>
                  </a:cubicBezTo>
                  <a:cubicBezTo>
                    <a:pt x="32" y="19"/>
                    <a:pt x="30" y="19"/>
                    <a:pt x="29" y="18"/>
                  </a:cubicBezTo>
                  <a:cubicBezTo>
                    <a:pt x="28" y="19"/>
                    <a:pt x="28" y="19"/>
                    <a:pt x="28" y="19"/>
                  </a:cubicBezTo>
                  <a:cubicBezTo>
                    <a:pt x="27" y="19"/>
                    <a:pt x="27" y="19"/>
                    <a:pt x="26" y="20"/>
                  </a:cubicBezTo>
                  <a:cubicBezTo>
                    <a:pt x="26" y="23"/>
                    <a:pt x="27" y="27"/>
                    <a:pt x="26" y="30"/>
                  </a:cubicBezTo>
                  <a:cubicBezTo>
                    <a:pt x="25" y="37"/>
                    <a:pt x="22" y="50"/>
                    <a:pt x="24" y="59"/>
                  </a:cubicBezTo>
                  <a:cubicBezTo>
                    <a:pt x="25" y="60"/>
                    <a:pt x="26" y="62"/>
                    <a:pt x="27" y="63"/>
                  </a:cubicBezTo>
                  <a:cubicBezTo>
                    <a:pt x="28" y="65"/>
                    <a:pt x="27" y="66"/>
                    <a:pt x="28" y="68"/>
                  </a:cubicBezTo>
                  <a:cubicBezTo>
                    <a:pt x="29" y="70"/>
                    <a:pt x="32" y="71"/>
                    <a:pt x="33" y="74"/>
                  </a:cubicBezTo>
                  <a:cubicBezTo>
                    <a:pt x="37" y="73"/>
                    <a:pt x="44" y="61"/>
                    <a:pt x="47" y="56"/>
                  </a:cubicBezTo>
                  <a:cubicBezTo>
                    <a:pt x="47" y="56"/>
                    <a:pt x="47" y="56"/>
                    <a:pt x="47" y="56"/>
                  </a:cubicBezTo>
                  <a:cubicBezTo>
                    <a:pt x="47" y="55"/>
                    <a:pt x="47" y="54"/>
                    <a:pt x="47" y="53"/>
                  </a:cubicBezTo>
                  <a:cubicBezTo>
                    <a:pt x="47" y="53"/>
                    <a:pt x="47" y="53"/>
                    <a:pt x="47" y="53"/>
                  </a:cubicBezTo>
                  <a:cubicBezTo>
                    <a:pt x="47" y="53"/>
                    <a:pt x="47" y="53"/>
                    <a:pt x="47" y="53"/>
                  </a:cubicBezTo>
                  <a:cubicBezTo>
                    <a:pt x="47" y="50"/>
                    <a:pt x="47" y="46"/>
                    <a:pt x="47" y="43"/>
                  </a:cubicBezTo>
                  <a:cubicBezTo>
                    <a:pt x="49" y="42"/>
                    <a:pt x="52" y="42"/>
                    <a:pt x="53" y="41"/>
                  </a:cubicBezTo>
                  <a:cubicBezTo>
                    <a:pt x="55" y="41"/>
                    <a:pt x="56" y="41"/>
                    <a:pt x="57" y="42"/>
                  </a:cubicBezTo>
                  <a:cubicBezTo>
                    <a:pt x="57" y="43"/>
                    <a:pt x="52" y="55"/>
                    <a:pt x="51" y="56"/>
                  </a:cubicBezTo>
                  <a:cubicBezTo>
                    <a:pt x="52" y="59"/>
                    <a:pt x="54" y="60"/>
                    <a:pt x="56" y="60"/>
                  </a:cubicBezTo>
                  <a:cubicBezTo>
                    <a:pt x="55" y="66"/>
                    <a:pt x="49" y="68"/>
                    <a:pt x="45" y="70"/>
                  </a:cubicBezTo>
                  <a:cubicBezTo>
                    <a:pt x="40" y="74"/>
                    <a:pt x="35" y="77"/>
                    <a:pt x="30" y="81"/>
                  </a:cubicBezTo>
                  <a:cubicBezTo>
                    <a:pt x="28" y="82"/>
                    <a:pt x="26" y="82"/>
                    <a:pt x="24" y="83"/>
                  </a:cubicBezTo>
                  <a:cubicBezTo>
                    <a:pt x="23" y="84"/>
                    <a:pt x="22" y="86"/>
                    <a:pt x="20" y="86"/>
                  </a:cubicBezTo>
                  <a:cubicBezTo>
                    <a:pt x="18" y="87"/>
                    <a:pt x="16" y="88"/>
                    <a:pt x="14" y="89"/>
                  </a:cubicBezTo>
                  <a:cubicBezTo>
                    <a:pt x="13" y="90"/>
                    <a:pt x="13" y="91"/>
                    <a:pt x="12" y="91"/>
                  </a:cubicBezTo>
                  <a:cubicBezTo>
                    <a:pt x="10" y="92"/>
                    <a:pt x="8" y="90"/>
                    <a:pt x="7" y="90"/>
                  </a:cubicBezTo>
                  <a:cubicBezTo>
                    <a:pt x="4" y="90"/>
                    <a:pt x="3" y="91"/>
                    <a:pt x="1" y="92"/>
                  </a:cubicBezTo>
                  <a:cubicBezTo>
                    <a:pt x="0" y="103"/>
                    <a:pt x="5" y="114"/>
                    <a:pt x="17" y="114"/>
                  </a:cubicBezTo>
                  <a:cubicBezTo>
                    <a:pt x="23" y="107"/>
                    <a:pt x="29" y="102"/>
                    <a:pt x="35" y="95"/>
                  </a:cubicBezTo>
                  <a:cubicBezTo>
                    <a:pt x="37" y="93"/>
                    <a:pt x="39" y="92"/>
                    <a:pt x="40" y="90"/>
                  </a:cubicBezTo>
                  <a:cubicBezTo>
                    <a:pt x="42" y="88"/>
                    <a:pt x="42" y="87"/>
                    <a:pt x="43" y="85"/>
                  </a:cubicBezTo>
                  <a:cubicBezTo>
                    <a:pt x="44" y="84"/>
                    <a:pt x="45" y="85"/>
                    <a:pt x="46" y="84"/>
                  </a:cubicBezTo>
                  <a:cubicBezTo>
                    <a:pt x="47" y="82"/>
                    <a:pt x="49" y="81"/>
                    <a:pt x="50" y="79"/>
                  </a:cubicBezTo>
                  <a:cubicBezTo>
                    <a:pt x="52" y="78"/>
                    <a:pt x="53" y="78"/>
                    <a:pt x="54" y="76"/>
                  </a:cubicBezTo>
                  <a:cubicBezTo>
                    <a:pt x="55" y="76"/>
                    <a:pt x="55" y="76"/>
                    <a:pt x="56" y="77"/>
                  </a:cubicBezTo>
                  <a:cubicBezTo>
                    <a:pt x="57" y="78"/>
                    <a:pt x="57" y="81"/>
                    <a:pt x="58" y="82"/>
                  </a:cubicBezTo>
                  <a:cubicBezTo>
                    <a:pt x="58" y="86"/>
                    <a:pt x="58" y="91"/>
                    <a:pt x="56" y="92"/>
                  </a:cubicBezTo>
                  <a:cubicBezTo>
                    <a:pt x="54" y="92"/>
                    <a:pt x="53" y="93"/>
                    <a:pt x="52" y="93"/>
                  </a:cubicBezTo>
                  <a:cubicBezTo>
                    <a:pt x="51" y="94"/>
                    <a:pt x="50" y="95"/>
                    <a:pt x="49" y="96"/>
                  </a:cubicBezTo>
                  <a:cubicBezTo>
                    <a:pt x="49" y="97"/>
                    <a:pt x="49" y="98"/>
                    <a:pt x="49" y="99"/>
                  </a:cubicBezTo>
                  <a:cubicBezTo>
                    <a:pt x="49" y="100"/>
                    <a:pt x="57" y="102"/>
                    <a:pt x="58" y="103"/>
                  </a:cubicBezTo>
                  <a:cubicBezTo>
                    <a:pt x="59" y="103"/>
                    <a:pt x="61" y="106"/>
                    <a:pt x="61" y="107"/>
                  </a:cubicBezTo>
                  <a:cubicBezTo>
                    <a:pt x="61" y="108"/>
                    <a:pt x="61" y="109"/>
                    <a:pt x="61" y="111"/>
                  </a:cubicBezTo>
                  <a:cubicBezTo>
                    <a:pt x="62" y="112"/>
                    <a:pt x="64" y="113"/>
                    <a:pt x="65" y="115"/>
                  </a:cubicBezTo>
                  <a:cubicBezTo>
                    <a:pt x="66" y="115"/>
                    <a:pt x="69" y="116"/>
                    <a:pt x="71" y="115"/>
                  </a:cubicBezTo>
                  <a:cubicBezTo>
                    <a:pt x="71" y="115"/>
                    <a:pt x="71" y="114"/>
                    <a:pt x="72" y="114"/>
                  </a:cubicBezTo>
                  <a:cubicBezTo>
                    <a:pt x="72" y="101"/>
                    <a:pt x="71" y="89"/>
                    <a:pt x="67" y="78"/>
                  </a:cubicBezTo>
                  <a:cubicBezTo>
                    <a:pt x="66" y="75"/>
                    <a:pt x="61" y="69"/>
                    <a:pt x="64" y="64"/>
                  </a:cubicBezTo>
                  <a:cubicBezTo>
                    <a:pt x="64" y="57"/>
                    <a:pt x="68" y="59"/>
                    <a:pt x="72" y="57"/>
                  </a:cubicBezTo>
                  <a:cubicBezTo>
                    <a:pt x="78" y="54"/>
                    <a:pt x="83" y="51"/>
                    <a:pt x="89" y="47"/>
                  </a:cubicBezTo>
                  <a:cubicBezTo>
                    <a:pt x="90" y="45"/>
                    <a:pt x="91" y="43"/>
                    <a:pt x="93" y="41"/>
                  </a:cubicBezTo>
                  <a:cubicBezTo>
                    <a:pt x="93" y="39"/>
                    <a:pt x="92" y="38"/>
                    <a:pt x="91" y="3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0" name="Freeform 55"/>
            <p:cNvSpPr/>
            <p:nvPr userDrawn="1"/>
          </p:nvSpPr>
          <p:spPr bwMode="auto">
            <a:xfrm>
              <a:off x="3138439" y="1097385"/>
              <a:ext cx="119063" cy="147638"/>
            </a:xfrm>
            <a:custGeom>
              <a:avLst/>
              <a:gdLst>
                <a:gd name="T0" fmla="*/ 27 w 32"/>
                <a:gd name="T1" fmla="*/ 12 h 39"/>
                <a:gd name="T2" fmla="*/ 6 w 32"/>
                <a:gd name="T3" fmla="*/ 0 h 39"/>
                <a:gd name="T4" fmla="*/ 2 w 32"/>
                <a:gd name="T5" fmla="*/ 0 h 39"/>
                <a:gd name="T6" fmla="*/ 5 w 32"/>
                <a:gd name="T7" fmla="*/ 23 h 39"/>
                <a:gd name="T8" fmla="*/ 8 w 32"/>
                <a:gd name="T9" fmla="*/ 27 h 39"/>
                <a:gd name="T10" fmla="*/ 17 w 32"/>
                <a:gd name="T11" fmla="*/ 36 h 39"/>
                <a:gd name="T12" fmla="*/ 30 w 32"/>
                <a:gd name="T13" fmla="*/ 31 h 39"/>
                <a:gd name="T14" fmla="*/ 31 w 32"/>
                <a:gd name="T15" fmla="*/ 18 h 39"/>
                <a:gd name="T16" fmla="*/ 27 w 32"/>
                <a:gd name="T17" fmla="*/ 1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9">
                  <a:moveTo>
                    <a:pt x="27" y="12"/>
                  </a:moveTo>
                  <a:cubicBezTo>
                    <a:pt x="22" y="5"/>
                    <a:pt x="17" y="0"/>
                    <a:pt x="6" y="0"/>
                  </a:cubicBezTo>
                  <a:cubicBezTo>
                    <a:pt x="5" y="0"/>
                    <a:pt x="3" y="0"/>
                    <a:pt x="2" y="0"/>
                  </a:cubicBezTo>
                  <a:cubicBezTo>
                    <a:pt x="0" y="9"/>
                    <a:pt x="0" y="17"/>
                    <a:pt x="5" y="23"/>
                  </a:cubicBezTo>
                  <a:cubicBezTo>
                    <a:pt x="6" y="25"/>
                    <a:pt x="7" y="26"/>
                    <a:pt x="8" y="27"/>
                  </a:cubicBezTo>
                  <a:cubicBezTo>
                    <a:pt x="11" y="30"/>
                    <a:pt x="12" y="34"/>
                    <a:pt x="17" y="36"/>
                  </a:cubicBezTo>
                  <a:cubicBezTo>
                    <a:pt x="22" y="39"/>
                    <a:pt x="27" y="33"/>
                    <a:pt x="30" y="31"/>
                  </a:cubicBezTo>
                  <a:cubicBezTo>
                    <a:pt x="30" y="29"/>
                    <a:pt x="32" y="21"/>
                    <a:pt x="31" y="18"/>
                  </a:cubicBezTo>
                  <a:cubicBezTo>
                    <a:pt x="31" y="15"/>
                    <a:pt x="28" y="14"/>
                    <a:pt x="27"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pic>
        <p:nvPicPr>
          <p:cNvPr id="61" name="图片 60"/>
          <p:cNvPicPr>
            <a:picLocks noChangeAspect="1"/>
          </p:cNvPicPr>
          <p:nvPr/>
        </p:nvPicPr>
        <p:blipFill rotWithShape="1">
          <a:blip r:embed="rId3">
            <a:extLst>
              <a:ext uri="{28A0092B-C50C-407E-A947-70E740481C1C}">
                <a14:useLocalDpi xmlns:a14="http://schemas.microsoft.com/office/drawing/2010/main" val="0"/>
              </a:ext>
            </a:extLst>
          </a:blip>
          <a:srcRect l="61258" t="29421" r="23421" b="51115"/>
          <a:stretch>
            <a:fillRect/>
          </a:stretch>
        </p:blipFill>
        <p:spPr>
          <a:xfrm>
            <a:off x="497840" y="-5880"/>
            <a:ext cx="774106" cy="656120"/>
          </a:xfrm>
          <a:prstGeom prst="rect">
            <a:avLst/>
          </a:prstGeom>
        </p:spPr>
      </p:pic>
      <p:sp>
        <p:nvSpPr>
          <p:cNvPr id="63" name="Big Image"/>
          <p:cNvSpPr>
            <a:spLocks noGrp="1"/>
          </p:cNvSpPr>
          <p:nvPr>
            <p:ph type="pic" sz="quarter" idx="16" hasCustomPrompt="1"/>
          </p:nvPr>
        </p:nvSpPr>
        <p:spPr>
          <a:xfrm>
            <a:off x="1416891" y="1819848"/>
            <a:ext cx="3880165" cy="3273863"/>
          </a:xfrm>
          <a:prstGeom prst="rect">
            <a:avLst/>
          </a:prstGeom>
          <a:solidFill>
            <a:schemeClr val="bg1">
              <a:lumMod val="85000"/>
            </a:schemeClr>
          </a:solidFill>
          <a:ln>
            <a:solidFill>
              <a:schemeClr val="bg2">
                <a:lumMod val="50000"/>
                <a:lumOff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aseline="0">
                <a:solidFill>
                  <a:schemeClr val="tx2"/>
                </a:solidFill>
              </a:defRPr>
            </a:lvl1pPr>
          </a:lstStyle>
          <a:p>
            <a:r>
              <a:rPr lang="zh-CN" altLang="en-US" dirty="0"/>
              <a:t>图</a:t>
            </a:r>
            <a:endParaRPr lang="en-US" dirty="0"/>
          </a:p>
        </p:txBody>
      </p:sp>
    </p:spTree>
    <p:extLst>
      <p:ext uri="{BB962C8B-B14F-4D97-AF65-F5344CB8AC3E}">
        <p14:creationId xmlns:p14="http://schemas.microsoft.com/office/powerpoint/2010/main" val="123248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par>
                                <p:cTn id="10" presetID="31" presetClass="entr" presetSubtype="0" fill="hold" grpId="0" nodeType="with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p:cTn id="12" dur="1000" fill="hold"/>
                                        <p:tgtEl>
                                          <p:spTgt spid="63"/>
                                        </p:tgtEl>
                                        <p:attrNameLst>
                                          <p:attrName>ppt_w</p:attrName>
                                        </p:attrNameLst>
                                      </p:cBhvr>
                                      <p:tavLst>
                                        <p:tav tm="0">
                                          <p:val>
                                            <p:fltVal val="0"/>
                                          </p:val>
                                        </p:tav>
                                        <p:tav tm="100000">
                                          <p:val>
                                            <p:strVal val="#ppt_w"/>
                                          </p:val>
                                        </p:tav>
                                      </p:tavLst>
                                    </p:anim>
                                    <p:anim calcmode="lin" valueType="num">
                                      <p:cBhvr>
                                        <p:cTn id="13" dur="1000" fill="hold"/>
                                        <p:tgtEl>
                                          <p:spTgt spid="63"/>
                                        </p:tgtEl>
                                        <p:attrNameLst>
                                          <p:attrName>ppt_h</p:attrName>
                                        </p:attrNameLst>
                                      </p:cBhvr>
                                      <p:tavLst>
                                        <p:tav tm="0">
                                          <p:val>
                                            <p:fltVal val="0"/>
                                          </p:val>
                                        </p:tav>
                                        <p:tav tm="100000">
                                          <p:val>
                                            <p:strVal val="#ppt_h"/>
                                          </p:val>
                                        </p:tav>
                                      </p:tavLst>
                                    </p:anim>
                                    <p:anim calcmode="lin" valueType="num">
                                      <p:cBhvr>
                                        <p:cTn id="14" dur="1000" fill="hold"/>
                                        <p:tgtEl>
                                          <p:spTgt spid="63"/>
                                        </p:tgtEl>
                                        <p:attrNameLst>
                                          <p:attrName>style.rotation</p:attrName>
                                        </p:attrNameLst>
                                      </p:cBhvr>
                                      <p:tavLst>
                                        <p:tav tm="0">
                                          <p:val>
                                            <p:fltVal val="90"/>
                                          </p:val>
                                        </p:tav>
                                        <p:tav tm="100000">
                                          <p:val>
                                            <p:fltVal val="0"/>
                                          </p:val>
                                        </p:tav>
                                      </p:tavLst>
                                    </p:anim>
                                    <p:animEffect transition="in" filter="fade">
                                      <p:cBhvr>
                                        <p:cTn id="15"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468877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FCF666-708F-4E39-BF03-22EA0B2E06B9}" type="datetimeFigureOut">
              <a:rPr lang="zh-CN" altLang="en-US" smtClean="0"/>
              <a:t>2025/4/5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1A39886-B376-4FB9-91D5-6F1236399F97}" type="slidenum">
              <a:rPr lang="zh-CN" altLang="en-US" smtClean="0"/>
              <a:t>‹#›</a:t>
            </a:fld>
            <a:endParaRPr lang="zh-CN" altLang="en-US"/>
          </a:p>
        </p:txBody>
      </p:sp>
    </p:spTree>
    <p:extLst>
      <p:ext uri="{BB962C8B-B14F-4D97-AF65-F5344CB8AC3E}">
        <p14:creationId xmlns:p14="http://schemas.microsoft.com/office/powerpoint/2010/main" val="24751385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045CD33-A414-4AA9-9CE8-FCFB2560B1E2}" type="datetimeFigureOut">
              <a:rPr lang="zh-CN" altLang="en-US" smtClean="0"/>
              <a:t>2025/4/5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BA0780-7302-4F94-A3FC-EFC6D9E08AAE}" type="slidenum">
              <a:rPr lang="zh-CN" altLang="en-US" smtClean="0"/>
              <a:t>‹#›</a:t>
            </a:fld>
            <a:endParaRPr lang="zh-CN" altLang="en-US"/>
          </a:p>
        </p:txBody>
      </p:sp>
    </p:spTree>
    <p:extLst>
      <p:ext uri="{BB962C8B-B14F-4D97-AF65-F5344CB8AC3E}">
        <p14:creationId xmlns:p14="http://schemas.microsoft.com/office/powerpoint/2010/main" val="2494828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79057D-9F7F-4282-BF53-B0C3B643D74C}" type="datetimeFigureOut">
              <a:rPr lang="zh-CN" altLang="en-US" smtClean="0"/>
              <a:t>2025/4/5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13B30A-8348-4917-8A13-EE1873E3F65D}" type="slidenum">
              <a:rPr lang="zh-CN" altLang="en-US" smtClean="0"/>
              <a:t>‹#›</a:t>
            </a:fld>
            <a:endParaRPr lang="zh-CN" altLang="en-US"/>
          </a:p>
        </p:txBody>
      </p:sp>
    </p:spTree>
    <p:extLst>
      <p:ext uri="{BB962C8B-B14F-4D97-AF65-F5344CB8AC3E}">
        <p14:creationId xmlns:p14="http://schemas.microsoft.com/office/powerpoint/2010/main" val="33237586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8"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CF666-708F-4E39-BF03-22EA0B2E06B9}" type="datetimeFigureOut">
              <a:rPr lang="zh-CN" altLang="en-US" smtClean="0"/>
              <a:t>2025/4/5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A39886-B376-4FB9-91D5-6F1236399F97}" type="slidenum">
              <a:rPr lang="zh-CN" altLang="en-US" smtClean="0"/>
              <a:t>‹#›</a:t>
            </a:fld>
            <a:endParaRPr lang="zh-CN" altLang="en-US"/>
          </a:p>
        </p:txBody>
      </p:sp>
    </p:spTree>
    <p:extLst>
      <p:ext uri="{BB962C8B-B14F-4D97-AF65-F5344CB8AC3E}">
        <p14:creationId xmlns:p14="http://schemas.microsoft.com/office/powerpoint/2010/main" val="1791239084"/>
      </p:ext>
    </p:extLst>
  </p:cSld>
  <p:clrMap bg1="lt1" tx1="dk1" bg2="lt2" tx2="dk2" accent1="accent1" accent2="accent2" accent3="accent3" accent4="accent4" accent5="accent5" accent6="accent6" hlink="hlink" folHlink="folHlink"/>
  <p:sldLayoutIdLst>
    <p:sldLayoutId id="2147483686" r:id="rId1"/>
    <p:sldLayoutId id="214748368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blog.csdn.net/qq_33924470/article/details/106891015" TargetMode="External"/><Relationship Id="rId2" Type="http://schemas.openxmlformats.org/officeDocument/2006/relationships/hyperlink" Target="https://blog.csdn.net/jjrfjyfjyfjdfjrujdjd/article/details/40202277"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654B66E-152C-C2B6-9651-72EDB15E1D7C}"/>
              </a:ext>
            </a:extLst>
          </p:cNvPr>
          <p:cNvSpPr txBox="1"/>
          <p:nvPr/>
        </p:nvSpPr>
        <p:spPr>
          <a:xfrm>
            <a:off x="757238" y="1781175"/>
            <a:ext cx="10677524" cy="1323439"/>
          </a:xfrm>
          <a:prstGeom prst="rect">
            <a:avLst/>
          </a:prstGeom>
          <a:noFill/>
        </p:spPr>
        <p:txBody>
          <a:bodyPr wrap="square" rtlCol="0">
            <a:spAutoFit/>
          </a:bodyPr>
          <a:lstStyle/>
          <a:p>
            <a:pPr algn="ctr"/>
            <a:r>
              <a:rPr lang="en-US" altLang="zh-CN" sz="4000" b="0" i="0" dirty="0">
                <a:solidFill>
                  <a:srgbClr val="060607"/>
                </a:solidFill>
                <a:effectLst/>
                <a:latin typeface="-apple-system"/>
              </a:rPr>
              <a:t>PASTA: </a:t>
            </a:r>
            <a:r>
              <a:rPr lang="en-US" altLang="zh-CN" sz="4000" b="0" i="0" dirty="0">
                <a:solidFill>
                  <a:schemeClr val="accent2"/>
                </a:solidFill>
                <a:effectLst/>
                <a:latin typeface="-apple-system"/>
              </a:rPr>
              <a:t>Pathology-Aware</a:t>
            </a:r>
            <a:r>
              <a:rPr lang="en-US" altLang="zh-CN" sz="4000" b="0" i="0" dirty="0">
                <a:solidFill>
                  <a:srgbClr val="060607"/>
                </a:solidFill>
                <a:effectLst/>
                <a:latin typeface="-apple-system"/>
              </a:rPr>
              <a:t> MRI to PET Cross-Modal Translation with Diffusion Models</a:t>
            </a:r>
            <a:endParaRPr lang="zh-CN" altLang="en-US" sz="4000" dirty="0"/>
          </a:p>
        </p:txBody>
      </p:sp>
    </p:spTree>
    <p:extLst>
      <p:ext uri="{BB962C8B-B14F-4D97-AF65-F5344CB8AC3E}">
        <p14:creationId xmlns:p14="http://schemas.microsoft.com/office/powerpoint/2010/main" val="2562566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
          <p:cNvSpPr txBox="1">
            <a:spLocks noChangeArrowheads="1"/>
          </p:cNvSpPr>
          <p:nvPr/>
        </p:nvSpPr>
        <p:spPr bwMode="auto">
          <a:xfrm>
            <a:off x="7548132" y="1314664"/>
            <a:ext cx="732893"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133" dirty="0">
                <a:solidFill>
                  <a:srgbClr val="85A299"/>
                </a:solidFill>
                <a:latin typeface="+mj-ea"/>
                <a:ea typeface="+mj-ea"/>
              </a:rPr>
              <a:t>背景</a:t>
            </a:r>
          </a:p>
        </p:txBody>
      </p:sp>
      <p:sp>
        <p:nvSpPr>
          <p:cNvPr id="5" name="矩形 4"/>
          <p:cNvSpPr/>
          <p:nvPr/>
        </p:nvSpPr>
        <p:spPr>
          <a:xfrm>
            <a:off x="7548132" y="1701618"/>
            <a:ext cx="914225" cy="276999"/>
          </a:xfrm>
          <a:prstGeom prst="rect">
            <a:avLst/>
          </a:prstGeom>
        </p:spPr>
        <p:txBody>
          <a:bodyPr wrap="none">
            <a:spAutoFit/>
          </a:bodyPr>
          <a:lstStyle/>
          <a:p>
            <a:pPr lvl="0" fontAlgn="base">
              <a:spcBef>
                <a:spcPct val="0"/>
              </a:spcBef>
              <a:spcAft>
                <a:spcPct val="0"/>
              </a:spcAft>
              <a:defRPr/>
            </a:pPr>
            <a:r>
              <a:rPr lang="en-US" altLang="zh-CN" sz="1200" dirty="0">
                <a:solidFill>
                  <a:schemeClr val="tx1">
                    <a:lumMod val="65000"/>
                    <a:lumOff val="35000"/>
                  </a:schemeClr>
                </a:solidFill>
                <a:latin typeface="Calibri Light" panose="020F0302020204030204" pitchFamily="34" charset="0"/>
                <a:ea typeface="方正兰亭黑_GBK"/>
              </a:rPr>
              <a:t>Background</a:t>
            </a:r>
          </a:p>
        </p:txBody>
      </p:sp>
      <p:sp>
        <p:nvSpPr>
          <p:cNvPr id="6" name="文本框 6"/>
          <p:cNvSpPr txBox="1">
            <a:spLocks noChangeArrowheads="1"/>
          </p:cNvSpPr>
          <p:nvPr/>
        </p:nvSpPr>
        <p:spPr bwMode="auto">
          <a:xfrm>
            <a:off x="7548133" y="2650931"/>
            <a:ext cx="1281120"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133" dirty="0">
                <a:solidFill>
                  <a:srgbClr val="85A299"/>
                </a:solidFill>
                <a:latin typeface="+mj-ea"/>
                <a:ea typeface="+mj-ea"/>
              </a:rPr>
              <a:t>模型架构</a:t>
            </a:r>
          </a:p>
        </p:txBody>
      </p:sp>
      <p:sp>
        <p:nvSpPr>
          <p:cNvPr id="7" name="矩形 6"/>
          <p:cNvSpPr/>
          <p:nvPr/>
        </p:nvSpPr>
        <p:spPr>
          <a:xfrm>
            <a:off x="7548132" y="3037885"/>
            <a:ext cx="1323952" cy="276999"/>
          </a:xfrm>
          <a:prstGeom prst="rect">
            <a:avLst/>
          </a:prstGeom>
        </p:spPr>
        <p:txBody>
          <a:bodyPr wrap="none">
            <a:spAutoFit/>
          </a:bodyPr>
          <a:lstStyle/>
          <a:p>
            <a:pPr lvl="0" fontAlgn="base">
              <a:spcBef>
                <a:spcPct val="0"/>
              </a:spcBef>
              <a:spcAft>
                <a:spcPct val="0"/>
              </a:spcAft>
              <a:defRPr/>
            </a:pPr>
            <a:r>
              <a:rPr lang="en-US" altLang="zh-CN" sz="1200" dirty="0">
                <a:solidFill>
                  <a:schemeClr val="tx1">
                    <a:lumMod val="65000"/>
                    <a:lumOff val="35000"/>
                  </a:schemeClr>
                </a:solidFill>
                <a:latin typeface="Calibri Light" panose="020F0302020204030204" pitchFamily="34" charset="0"/>
                <a:ea typeface="方正兰亭黑_GBK"/>
              </a:rPr>
              <a:t>Model framework</a:t>
            </a:r>
          </a:p>
        </p:txBody>
      </p:sp>
      <p:sp>
        <p:nvSpPr>
          <p:cNvPr id="8" name="文本框 6"/>
          <p:cNvSpPr txBox="1">
            <a:spLocks noChangeArrowheads="1"/>
          </p:cNvSpPr>
          <p:nvPr/>
        </p:nvSpPr>
        <p:spPr bwMode="auto">
          <a:xfrm>
            <a:off x="7548133" y="3983803"/>
            <a:ext cx="2143536"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133" dirty="0">
                <a:solidFill>
                  <a:srgbClr val="85A299"/>
                </a:solidFill>
                <a:latin typeface="+mj-ea"/>
                <a:ea typeface="+mj-ea"/>
              </a:rPr>
              <a:t>实验结果及分析</a:t>
            </a:r>
          </a:p>
        </p:txBody>
      </p:sp>
      <p:sp>
        <p:nvSpPr>
          <p:cNvPr id="9" name="矩形 8"/>
          <p:cNvSpPr/>
          <p:nvPr/>
        </p:nvSpPr>
        <p:spPr>
          <a:xfrm>
            <a:off x="7548132" y="4370757"/>
            <a:ext cx="2022798" cy="276999"/>
          </a:xfrm>
          <a:prstGeom prst="rect">
            <a:avLst/>
          </a:prstGeom>
        </p:spPr>
        <p:txBody>
          <a:bodyPr wrap="none">
            <a:spAutoFit/>
          </a:bodyPr>
          <a:lstStyle/>
          <a:p>
            <a:pPr lvl="0" fontAlgn="base">
              <a:spcBef>
                <a:spcPct val="0"/>
              </a:spcBef>
              <a:spcAft>
                <a:spcPct val="0"/>
              </a:spcAft>
              <a:defRPr/>
            </a:pPr>
            <a:r>
              <a:rPr lang="en-US" altLang="zh-CN" sz="1200" dirty="0">
                <a:solidFill>
                  <a:schemeClr val="tx1">
                    <a:lumMod val="65000"/>
                    <a:lumOff val="35000"/>
                  </a:schemeClr>
                </a:solidFill>
                <a:latin typeface="Calibri Light" panose="020F0302020204030204" pitchFamily="34" charset="0"/>
                <a:ea typeface="方正兰亭黑_GBK"/>
              </a:rPr>
              <a:t>Research Results And Analysis</a:t>
            </a:r>
          </a:p>
        </p:txBody>
      </p:sp>
      <p:sp>
        <p:nvSpPr>
          <p:cNvPr id="10" name="文本框 6"/>
          <p:cNvSpPr txBox="1">
            <a:spLocks noChangeArrowheads="1"/>
          </p:cNvSpPr>
          <p:nvPr/>
        </p:nvSpPr>
        <p:spPr bwMode="auto">
          <a:xfrm>
            <a:off x="7548132" y="5316651"/>
            <a:ext cx="2103461"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133" dirty="0">
                <a:solidFill>
                  <a:srgbClr val="85A299"/>
                </a:solidFill>
                <a:latin typeface="+mj-ea"/>
                <a:ea typeface="+mj-ea"/>
              </a:rPr>
              <a:t>复现数据集相关</a:t>
            </a:r>
          </a:p>
        </p:txBody>
      </p:sp>
      <p:sp>
        <p:nvSpPr>
          <p:cNvPr id="11" name="矩形 10"/>
          <p:cNvSpPr/>
          <p:nvPr/>
        </p:nvSpPr>
        <p:spPr>
          <a:xfrm>
            <a:off x="7548132" y="5703605"/>
            <a:ext cx="664284" cy="276999"/>
          </a:xfrm>
          <a:prstGeom prst="rect">
            <a:avLst/>
          </a:prstGeom>
        </p:spPr>
        <p:txBody>
          <a:bodyPr wrap="none">
            <a:spAutoFit/>
          </a:bodyPr>
          <a:lstStyle/>
          <a:p>
            <a:pPr lvl="0" fontAlgn="base">
              <a:spcBef>
                <a:spcPct val="0"/>
              </a:spcBef>
              <a:spcAft>
                <a:spcPct val="0"/>
              </a:spcAft>
              <a:defRPr/>
            </a:pPr>
            <a:r>
              <a:rPr lang="en-US" altLang="zh-CN" sz="1200" dirty="0">
                <a:solidFill>
                  <a:schemeClr val="tx1">
                    <a:lumMod val="65000"/>
                    <a:lumOff val="35000"/>
                  </a:schemeClr>
                </a:solidFill>
                <a:latin typeface="Calibri Light" panose="020F0302020204030204" pitchFamily="34" charset="0"/>
                <a:ea typeface="方正兰亭黑_GBK"/>
              </a:rPr>
              <a:t>DataSet</a:t>
            </a:r>
          </a:p>
        </p:txBody>
      </p:sp>
      <p:grpSp>
        <p:nvGrpSpPr>
          <p:cNvPr id="2" name="组合 1"/>
          <p:cNvGrpSpPr/>
          <p:nvPr/>
        </p:nvGrpSpPr>
        <p:grpSpPr>
          <a:xfrm>
            <a:off x="6850690" y="1365141"/>
            <a:ext cx="644810" cy="644252"/>
            <a:chOff x="5316408" y="1023858"/>
            <a:chExt cx="483607" cy="483189"/>
          </a:xfrm>
        </p:grpSpPr>
        <p:sp>
          <p:nvSpPr>
            <p:cNvPr id="13" name="椭圆 12"/>
            <p:cNvSpPr/>
            <p:nvPr/>
          </p:nvSpPr>
          <p:spPr>
            <a:xfrm>
              <a:off x="5316408" y="1023858"/>
              <a:ext cx="483189" cy="4831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85A299"/>
                </a:solidFill>
              </a:endParaRPr>
            </a:p>
          </p:txBody>
        </p:sp>
        <p:sp>
          <p:nvSpPr>
            <p:cNvPr id="14" name="矩形 13"/>
            <p:cNvSpPr/>
            <p:nvPr/>
          </p:nvSpPr>
          <p:spPr bwMode="auto">
            <a:xfrm>
              <a:off x="5344121" y="1034619"/>
              <a:ext cx="455894" cy="438581"/>
            </a:xfrm>
            <a:prstGeom prst="rect">
              <a:avLst/>
            </a:prstGeom>
            <a:noFill/>
            <a:ln>
              <a:noFill/>
            </a:ln>
          </p:spPr>
          <p:txBody>
            <a:bodyPr wrap="none">
              <a:spAutoFit/>
            </a:bodyPr>
            <a:lstStyle/>
            <a:p>
              <a:pPr algn="ctr">
                <a:defRPr/>
              </a:pPr>
              <a:r>
                <a:rPr lang="en-US" altLang="zh-CN" sz="3200" kern="100">
                  <a:solidFill>
                    <a:schemeClr val="bg1"/>
                  </a:solidFill>
                  <a:latin typeface="+mj-lt"/>
                  <a:ea typeface="微软雅黑" panose="020B0503020204020204" pitchFamily="34" charset="-122"/>
                  <a:cs typeface="Times New Roman" panose="02020603050405020304" pitchFamily="18" charset="0"/>
                </a:rPr>
                <a:t>01</a:t>
              </a:r>
              <a:endParaRPr lang="zh-CN" altLang="en-US" sz="3200" kern="100">
                <a:solidFill>
                  <a:schemeClr val="bg1"/>
                </a:solidFill>
                <a:latin typeface="+mj-lt"/>
                <a:ea typeface="微软雅黑" panose="020B0503020204020204" pitchFamily="34" charset="-122"/>
                <a:cs typeface="Times New Roman" panose="02020603050405020304" pitchFamily="18" charset="0"/>
              </a:endParaRPr>
            </a:p>
          </p:txBody>
        </p:sp>
      </p:grpSp>
      <p:grpSp>
        <p:nvGrpSpPr>
          <p:cNvPr id="12" name="组合 11"/>
          <p:cNvGrpSpPr/>
          <p:nvPr/>
        </p:nvGrpSpPr>
        <p:grpSpPr>
          <a:xfrm>
            <a:off x="6850686" y="2700738"/>
            <a:ext cx="644252" cy="644252"/>
            <a:chOff x="5369308" y="1822376"/>
            <a:chExt cx="483189" cy="483189"/>
          </a:xfrm>
        </p:grpSpPr>
        <p:sp>
          <p:nvSpPr>
            <p:cNvPr id="16" name="椭圆 15"/>
            <p:cNvSpPr/>
            <p:nvPr/>
          </p:nvSpPr>
          <p:spPr>
            <a:xfrm>
              <a:off x="5369308" y="1822376"/>
              <a:ext cx="483189" cy="4831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85A299"/>
                </a:solidFill>
              </a:endParaRPr>
            </a:p>
          </p:txBody>
        </p:sp>
        <p:sp>
          <p:nvSpPr>
            <p:cNvPr id="17" name="矩形 16"/>
            <p:cNvSpPr/>
            <p:nvPr/>
          </p:nvSpPr>
          <p:spPr bwMode="auto">
            <a:xfrm>
              <a:off x="5373337" y="1833138"/>
              <a:ext cx="455894" cy="438581"/>
            </a:xfrm>
            <a:prstGeom prst="rect">
              <a:avLst/>
            </a:prstGeom>
          </p:spPr>
          <p:txBody>
            <a:bodyPr wrap="none">
              <a:spAutoFit/>
            </a:bodyPr>
            <a:lstStyle/>
            <a:p>
              <a:pPr algn="ctr">
                <a:defRPr/>
              </a:pPr>
              <a:r>
                <a:rPr lang="en-US" altLang="zh-CN" sz="3200" kern="100">
                  <a:solidFill>
                    <a:schemeClr val="bg1"/>
                  </a:solidFill>
                  <a:latin typeface="+mj-lt"/>
                  <a:ea typeface="微软雅黑" panose="020B0503020204020204" pitchFamily="34" charset="-122"/>
                  <a:cs typeface="Times New Roman" panose="02020603050405020304" pitchFamily="18" charset="0"/>
                </a:rPr>
                <a:t>02</a:t>
              </a:r>
              <a:endParaRPr lang="zh-CN" altLang="en-US" sz="3200" kern="100">
                <a:solidFill>
                  <a:schemeClr val="bg1"/>
                </a:solidFill>
                <a:latin typeface="+mj-lt"/>
                <a:ea typeface="微软雅黑" panose="020B0503020204020204" pitchFamily="34" charset="-122"/>
                <a:cs typeface="Times New Roman" panose="02020603050405020304" pitchFamily="18" charset="0"/>
              </a:endParaRPr>
            </a:p>
          </p:txBody>
        </p:sp>
      </p:grpSp>
      <p:grpSp>
        <p:nvGrpSpPr>
          <p:cNvPr id="15" name="组合 14"/>
          <p:cNvGrpSpPr/>
          <p:nvPr/>
        </p:nvGrpSpPr>
        <p:grpSpPr>
          <a:xfrm>
            <a:off x="6850683" y="4036334"/>
            <a:ext cx="644252" cy="644252"/>
            <a:chOff x="5323881" y="2997344"/>
            <a:chExt cx="483189" cy="483189"/>
          </a:xfrm>
        </p:grpSpPr>
        <p:sp>
          <p:nvSpPr>
            <p:cNvPr id="19" name="椭圆 18"/>
            <p:cNvSpPr/>
            <p:nvPr/>
          </p:nvSpPr>
          <p:spPr>
            <a:xfrm>
              <a:off x="5323881" y="2997344"/>
              <a:ext cx="483189" cy="4831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85A299"/>
                </a:solidFill>
              </a:endParaRPr>
            </a:p>
          </p:txBody>
        </p:sp>
        <p:sp>
          <p:nvSpPr>
            <p:cNvPr id="20" name="矩形 19"/>
            <p:cNvSpPr/>
            <p:nvPr/>
          </p:nvSpPr>
          <p:spPr bwMode="auto">
            <a:xfrm>
              <a:off x="5337528" y="3022458"/>
              <a:ext cx="455894" cy="438581"/>
            </a:xfrm>
            <a:prstGeom prst="rect">
              <a:avLst/>
            </a:prstGeom>
          </p:spPr>
          <p:txBody>
            <a:bodyPr wrap="none">
              <a:spAutoFit/>
            </a:bodyPr>
            <a:lstStyle/>
            <a:p>
              <a:pPr algn="ctr">
                <a:defRPr/>
              </a:pPr>
              <a:r>
                <a:rPr lang="en-US" altLang="zh-CN" sz="3200" kern="100">
                  <a:solidFill>
                    <a:schemeClr val="bg1"/>
                  </a:solidFill>
                  <a:latin typeface="+mj-lt"/>
                  <a:ea typeface="微软雅黑" panose="020B0503020204020204" pitchFamily="34" charset="-122"/>
                  <a:cs typeface="Times New Roman" panose="02020603050405020304" pitchFamily="18" charset="0"/>
                </a:rPr>
                <a:t>03</a:t>
              </a:r>
              <a:endParaRPr lang="zh-CN" altLang="en-US" sz="3200" kern="100">
                <a:solidFill>
                  <a:schemeClr val="bg1"/>
                </a:solidFill>
                <a:latin typeface="+mj-lt"/>
                <a:ea typeface="微软雅黑" panose="020B0503020204020204" pitchFamily="34" charset="-122"/>
                <a:cs typeface="Times New Roman" panose="02020603050405020304" pitchFamily="18" charset="0"/>
              </a:endParaRPr>
            </a:p>
          </p:txBody>
        </p:sp>
      </p:grpSp>
      <p:grpSp>
        <p:nvGrpSpPr>
          <p:cNvPr id="18" name="组合 17"/>
          <p:cNvGrpSpPr/>
          <p:nvPr/>
        </p:nvGrpSpPr>
        <p:grpSpPr>
          <a:xfrm>
            <a:off x="6850477" y="5376711"/>
            <a:ext cx="644466" cy="644252"/>
            <a:chOff x="5369148" y="4032535"/>
            <a:chExt cx="483349" cy="483189"/>
          </a:xfrm>
        </p:grpSpPr>
        <p:sp>
          <p:nvSpPr>
            <p:cNvPr id="22" name="椭圆 21"/>
            <p:cNvSpPr/>
            <p:nvPr/>
          </p:nvSpPr>
          <p:spPr>
            <a:xfrm>
              <a:off x="5369308" y="4032535"/>
              <a:ext cx="483189" cy="4831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85A299"/>
                </a:solidFill>
              </a:endParaRPr>
            </a:p>
          </p:txBody>
        </p:sp>
        <p:sp>
          <p:nvSpPr>
            <p:cNvPr id="23" name="矩形 22"/>
            <p:cNvSpPr/>
            <p:nvPr/>
          </p:nvSpPr>
          <p:spPr bwMode="auto">
            <a:xfrm>
              <a:off x="5369148" y="4043296"/>
              <a:ext cx="455894" cy="438581"/>
            </a:xfrm>
            <a:prstGeom prst="rect">
              <a:avLst/>
            </a:prstGeom>
            <a:noFill/>
            <a:ln>
              <a:noFill/>
            </a:ln>
          </p:spPr>
          <p:txBody>
            <a:bodyPr wrap="none">
              <a:spAutoFit/>
            </a:bodyPr>
            <a:lstStyle/>
            <a:p>
              <a:pPr algn="ctr">
                <a:defRPr/>
              </a:pPr>
              <a:r>
                <a:rPr lang="en-US" altLang="zh-CN" sz="3200" kern="100">
                  <a:solidFill>
                    <a:schemeClr val="bg1"/>
                  </a:solidFill>
                  <a:latin typeface="+mj-lt"/>
                  <a:ea typeface="微软雅黑" panose="020B0503020204020204" pitchFamily="34" charset="-122"/>
                  <a:cs typeface="Times New Roman" panose="02020603050405020304" pitchFamily="18" charset="0"/>
                </a:rPr>
                <a:t>04</a:t>
              </a:r>
              <a:endParaRPr lang="zh-CN" altLang="en-US" sz="3200" kern="100">
                <a:solidFill>
                  <a:schemeClr val="bg1"/>
                </a:solidFill>
                <a:latin typeface="+mj-lt"/>
                <a:ea typeface="微软雅黑" panose="020B0503020204020204" pitchFamily="34" charset="-122"/>
                <a:cs typeface="Times New Roman" panose="02020603050405020304" pitchFamily="18" charset="0"/>
              </a:endParaRPr>
            </a:p>
          </p:txBody>
        </p:sp>
      </p:grpSp>
      <p:sp>
        <p:nvSpPr>
          <p:cNvPr id="3" name="矩形 2"/>
          <p:cNvSpPr/>
          <p:nvPr/>
        </p:nvSpPr>
        <p:spPr>
          <a:xfrm>
            <a:off x="-9636" y="2139034"/>
            <a:ext cx="5280391" cy="25799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5" name="矩形 24"/>
          <p:cNvSpPr/>
          <p:nvPr/>
        </p:nvSpPr>
        <p:spPr>
          <a:xfrm>
            <a:off x="11582432" y="1792149"/>
            <a:ext cx="609568" cy="38494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7" name="矩形 26"/>
          <p:cNvSpPr/>
          <p:nvPr/>
        </p:nvSpPr>
        <p:spPr bwMode="auto">
          <a:xfrm>
            <a:off x="1286325" y="2572601"/>
            <a:ext cx="2050561" cy="1077218"/>
          </a:xfrm>
          <a:prstGeom prst="rect">
            <a:avLst/>
          </a:prstGeom>
        </p:spPr>
        <p:txBody>
          <a:bodyPr wrap="none">
            <a:spAutoFit/>
          </a:bodyPr>
          <a:lstStyle/>
          <a:p>
            <a:pPr algn="ctr">
              <a:defRPr/>
            </a:pPr>
            <a:r>
              <a:rPr lang="zh-CN" altLang="en-US" sz="6400" kern="100">
                <a:solidFill>
                  <a:schemeClr val="bg1"/>
                </a:solidFill>
                <a:latin typeface="+mj-ea"/>
                <a:ea typeface="+mj-ea"/>
                <a:cs typeface="Times New Roman" panose="02020603050405020304" pitchFamily="18" charset="0"/>
              </a:rPr>
              <a:t>目 录</a:t>
            </a:r>
          </a:p>
        </p:txBody>
      </p:sp>
      <p:sp>
        <p:nvSpPr>
          <p:cNvPr id="26" name="矩形 25"/>
          <p:cNvSpPr/>
          <p:nvPr/>
        </p:nvSpPr>
        <p:spPr bwMode="auto">
          <a:xfrm>
            <a:off x="1067514" y="3508982"/>
            <a:ext cx="2488182" cy="830997"/>
          </a:xfrm>
          <a:prstGeom prst="rect">
            <a:avLst/>
          </a:prstGeom>
        </p:spPr>
        <p:txBody>
          <a:bodyPr wrap="none">
            <a:spAutoFit/>
          </a:bodyPr>
          <a:lstStyle/>
          <a:p>
            <a:pPr algn="ctr">
              <a:defRPr/>
            </a:pPr>
            <a:r>
              <a:rPr lang="en-US" altLang="zh-CN" sz="4800" kern="100">
                <a:solidFill>
                  <a:schemeClr val="bg1"/>
                </a:solidFill>
                <a:latin typeface="+mj-ea"/>
                <a:ea typeface="+mj-ea"/>
                <a:cs typeface="Times New Roman" panose="02020603050405020304" pitchFamily="18" charset="0"/>
              </a:rPr>
              <a:t>Contents</a:t>
            </a:r>
            <a:endParaRPr lang="zh-CN" altLang="en-US" sz="4800" kern="100">
              <a:solidFill>
                <a:schemeClr val="bg1"/>
              </a:solidFill>
              <a:latin typeface="+mj-ea"/>
              <a:ea typeface="+mj-ea"/>
              <a:cs typeface="Times New Roman" panose="02020603050405020304" pitchFamily="18" charset="0"/>
            </a:endParaRPr>
          </a:p>
        </p:txBody>
      </p:sp>
      <p:cxnSp>
        <p:nvCxnSpPr>
          <p:cNvPr id="24" name="直接连接符 23"/>
          <p:cNvCxnSpPr/>
          <p:nvPr/>
        </p:nvCxnSpPr>
        <p:spPr>
          <a:xfrm>
            <a:off x="2239349" y="4370756"/>
            <a:ext cx="422988" cy="0"/>
          </a:xfrm>
          <a:prstGeom prst="line">
            <a:avLst/>
          </a:prstGeom>
          <a:ln w="19050">
            <a:solidFill>
              <a:srgbClr val="F2F2F2"/>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5EC83F6-B9B8-4188-2616-6ACC08D6DA0F}"/>
              </a:ext>
            </a:extLst>
          </p:cNvPr>
          <p:cNvSpPr txBox="1"/>
          <p:nvPr/>
        </p:nvSpPr>
        <p:spPr>
          <a:xfrm>
            <a:off x="1143000" y="180975"/>
            <a:ext cx="2438400" cy="369332"/>
          </a:xfrm>
          <a:prstGeom prst="rect">
            <a:avLst/>
          </a:prstGeom>
          <a:noFill/>
        </p:spPr>
        <p:txBody>
          <a:bodyPr wrap="square" rtlCol="0">
            <a:spAutoFit/>
          </a:bodyPr>
          <a:lstStyle/>
          <a:p>
            <a:r>
              <a:rPr lang="en-US" altLang="zh-CN" b="1" dirty="0"/>
              <a:t>MRI</a:t>
            </a:r>
            <a:r>
              <a:rPr lang="zh-CN" altLang="en-US" b="1" dirty="0"/>
              <a:t>与</a:t>
            </a:r>
            <a:r>
              <a:rPr lang="en-US" altLang="zh-CN" b="1" dirty="0"/>
              <a:t>PET</a:t>
            </a:r>
            <a:r>
              <a:rPr lang="zh-CN" altLang="en-US" b="1" dirty="0"/>
              <a:t>的比较</a:t>
            </a:r>
          </a:p>
        </p:txBody>
      </p:sp>
      <p:sp>
        <p:nvSpPr>
          <p:cNvPr id="3" name="文本框 2">
            <a:extLst>
              <a:ext uri="{FF2B5EF4-FFF2-40B4-BE49-F238E27FC236}">
                <a16:creationId xmlns:a16="http://schemas.microsoft.com/office/drawing/2014/main" id="{552E48B1-BE10-F5E8-2530-06104B353ACE}"/>
              </a:ext>
            </a:extLst>
          </p:cNvPr>
          <p:cNvSpPr txBox="1"/>
          <p:nvPr/>
        </p:nvSpPr>
        <p:spPr>
          <a:xfrm>
            <a:off x="390524" y="4139893"/>
            <a:ext cx="5848349" cy="923330"/>
          </a:xfrm>
          <a:prstGeom prst="rect">
            <a:avLst/>
          </a:prstGeom>
          <a:noFill/>
        </p:spPr>
        <p:txBody>
          <a:bodyPr wrap="square" rtlCol="0">
            <a:spAutoFit/>
          </a:bodyPr>
          <a:lstStyle/>
          <a:p>
            <a:r>
              <a:rPr lang="zh-CN" altLang="en-US" dirty="0"/>
              <a:t>在诊断早期痴呆症状中</a:t>
            </a:r>
            <a:r>
              <a:rPr lang="en-US" altLang="zh-CN" dirty="0"/>
              <a:t>PET</a:t>
            </a:r>
            <a:r>
              <a:rPr lang="zh-CN" altLang="en-US" dirty="0"/>
              <a:t>的准确度比</a:t>
            </a:r>
            <a:r>
              <a:rPr lang="en-US" altLang="zh-CN" dirty="0"/>
              <a:t>MRI</a:t>
            </a:r>
            <a:r>
              <a:rPr lang="zh-CN" altLang="en-US" dirty="0"/>
              <a:t>更高，但是由于经济原因和高辐射，</a:t>
            </a:r>
            <a:r>
              <a:rPr lang="en-US" altLang="zh-CN" dirty="0"/>
              <a:t>PET</a:t>
            </a:r>
            <a:r>
              <a:rPr lang="zh-CN" altLang="en-US" dirty="0"/>
              <a:t>方法没有得到推广。我们研究的目标是填补</a:t>
            </a:r>
            <a:r>
              <a:rPr lang="en-US" altLang="zh-CN" dirty="0"/>
              <a:t>MRI</a:t>
            </a:r>
            <a:r>
              <a:rPr lang="zh-CN" altLang="en-US" dirty="0"/>
              <a:t>和</a:t>
            </a:r>
            <a:r>
              <a:rPr lang="en-US" altLang="zh-CN" dirty="0"/>
              <a:t>PET</a:t>
            </a:r>
            <a:r>
              <a:rPr lang="zh-CN" altLang="en-US" dirty="0"/>
              <a:t>各自的缺点</a:t>
            </a:r>
            <a:r>
              <a:rPr lang="en-US" altLang="zh-CN" dirty="0">
                <a:solidFill>
                  <a:srgbClr val="0070C0"/>
                </a:solidFill>
              </a:rPr>
              <a:t>[1]</a:t>
            </a:r>
            <a:r>
              <a:rPr lang="zh-CN" altLang="en-US" dirty="0"/>
              <a:t>。</a:t>
            </a:r>
            <a:endParaRPr lang="en-US" altLang="zh-CN" dirty="0"/>
          </a:p>
        </p:txBody>
      </p:sp>
      <p:sp>
        <p:nvSpPr>
          <p:cNvPr id="6" name="文本框 5">
            <a:extLst>
              <a:ext uri="{FF2B5EF4-FFF2-40B4-BE49-F238E27FC236}">
                <a16:creationId xmlns:a16="http://schemas.microsoft.com/office/drawing/2014/main" id="{12712D3F-E278-1547-89BB-0E73F22EC543}"/>
              </a:ext>
            </a:extLst>
          </p:cNvPr>
          <p:cNvSpPr txBox="1"/>
          <p:nvPr/>
        </p:nvSpPr>
        <p:spPr>
          <a:xfrm>
            <a:off x="10401300" y="180975"/>
            <a:ext cx="1552575" cy="369332"/>
          </a:xfrm>
          <a:prstGeom prst="rect">
            <a:avLst/>
          </a:prstGeom>
          <a:noFill/>
        </p:spPr>
        <p:txBody>
          <a:bodyPr wrap="square" rtlCol="0">
            <a:spAutoFit/>
          </a:bodyPr>
          <a:lstStyle/>
          <a:p>
            <a:r>
              <a:rPr lang="zh-CN" altLang="en-US" b="1" dirty="0"/>
              <a:t>背景</a:t>
            </a:r>
            <a:endParaRPr lang="en-US" altLang="zh-CN" b="1" dirty="0"/>
          </a:p>
        </p:txBody>
      </p:sp>
      <p:sp>
        <p:nvSpPr>
          <p:cNvPr id="5" name="文本框 4">
            <a:extLst>
              <a:ext uri="{FF2B5EF4-FFF2-40B4-BE49-F238E27FC236}">
                <a16:creationId xmlns:a16="http://schemas.microsoft.com/office/drawing/2014/main" id="{CD98E268-0325-16C5-891C-2802CC059BB7}"/>
              </a:ext>
            </a:extLst>
          </p:cNvPr>
          <p:cNvSpPr txBox="1"/>
          <p:nvPr/>
        </p:nvSpPr>
        <p:spPr>
          <a:xfrm>
            <a:off x="390525" y="1056114"/>
            <a:ext cx="6076950" cy="1200329"/>
          </a:xfrm>
          <a:prstGeom prst="rect">
            <a:avLst/>
          </a:prstGeom>
          <a:noFill/>
        </p:spPr>
        <p:txBody>
          <a:bodyPr wrap="square" rtlCol="0">
            <a:spAutoFit/>
          </a:bodyPr>
          <a:lstStyle/>
          <a:p>
            <a:r>
              <a:rPr lang="zh-CN" altLang="en-US" b="0" i="0" dirty="0">
                <a:solidFill>
                  <a:srgbClr val="333333"/>
                </a:solidFill>
                <a:effectLst/>
                <a:latin typeface="-apple-system"/>
              </a:rPr>
              <a:t>磁共振造影术（</a:t>
            </a:r>
            <a:r>
              <a:rPr lang="en-US" altLang="zh-CN" b="0" i="0" dirty="0">
                <a:solidFill>
                  <a:srgbClr val="333333"/>
                </a:solidFill>
                <a:effectLst/>
                <a:latin typeface="-apple-system"/>
              </a:rPr>
              <a:t>Magnetic Resonance Imaging</a:t>
            </a:r>
            <a:r>
              <a:rPr lang="zh-CN" altLang="en-US" b="0" i="0" dirty="0">
                <a:solidFill>
                  <a:srgbClr val="333333"/>
                </a:solidFill>
                <a:effectLst/>
                <a:latin typeface="-apple-system"/>
              </a:rPr>
              <a:t>）：</a:t>
            </a:r>
            <a:br>
              <a:rPr lang="zh-CN" altLang="en-US" dirty="0"/>
            </a:br>
            <a:r>
              <a:rPr lang="zh-CN" altLang="en-US" b="0" i="0" dirty="0">
                <a:solidFill>
                  <a:srgbClr val="333333"/>
                </a:solidFill>
                <a:effectLst/>
                <a:latin typeface="-apple-system"/>
              </a:rPr>
              <a:t>不同物质、组织或器官的灰阶影像对比分布图，其所呈现的为断层切面且分辨率高的影像，所提供的也是属于人体解剖结构方面的资讯。（结构成像）</a:t>
            </a:r>
            <a:r>
              <a:rPr lang="en-US" altLang="zh-CN" b="0" i="0" dirty="0">
                <a:solidFill>
                  <a:srgbClr val="0070C0"/>
                </a:solidFill>
                <a:effectLst/>
                <a:latin typeface="-apple-system"/>
              </a:rPr>
              <a:t>[2]</a:t>
            </a:r>
            <a:endParaRPr lang="zh-CN" altLang="en-US" dirty="0">
              <a:solidFill>
                <a:srgbClr val="0070C0"/>
              </a:solidFill>
            </a:endParaRPr>
          </a:p>
        </p:txBody>
      </p:sp>
      <p:sp>
        <p:nvSpPr>
          <p:cNvPr id="7" name="文本框 6">
            <a:extLst>
              <a:ext uri="{FF2B5EF4-FFF2-40B4-BE49-F238E27FC236}">
                <a16:creationId xmlns:a16="http://schemas.microsoft.com/office/drawing/2014/main" id="{4D02E69B-4FA7-A067-24C0-F8E52332B543}"/>
              </a:ext>
            </a:extLst>
          </p:cNvPr>
          <p:cNvSpPr txBox="1"/>
          <p:nvPr/>
        </p:nvSpPr>
        <p:spPr>
          <a:xfrm>
            <a:off x="390525" y="2439084"/>
            <a:ext cx="5848348" cy="1477328"/>
          </a:xfrm>
          <a:prstGeom prst="rect">
            <a:avLst/>
          </a:prstGeom>
          <a:noFill/>
        </p:spPr>
        <p:txBody>
          <a:bodyPr wrap="square" rtlCol="0">
            <a:spAutoFit/>
          </a:bodyPr>
          <a:lstStyle/>
          <a:p>
            <a:r>
              <a:rPr lang="zh-CN" altLang="en-US" b="0" i="0" dirty="0">
                <a:solidFill>
                  <a:srgbClr val="333333"/>
                </a:solidFill>
                <a:effectLst/>
                <a:latin typeface="-apple-system"/>
              </a:rPr>
              <a:t>正电子发射计算机扫描（</a:t>
            </a:r>
            <a:r>
              <a:rPr lang="en-US" altLang="zh-CN" b="0" i="0" dirty="0">
                <a:solidFill>
                  <a:srgbClr val="333333"/>
                </a:solidFill>
                <a:effectLst/>
                <a:latin typeface="-apple-system"/>
              </a:rPr>
              <a:t>Positron Emision Tomograph  </a:t>
            </a:r>
            <a:r>
              <a:rPr lang="zh-CN" altLang="en-US" b="0" i="0" dirty="0">
                <a:solidFill>
                  <a:srgbClr val="333333"/>
                </a:solidFill>
                <a:effectLst/>
                <a:latin typeface="-apple-system"/>
              </a:rPr>
              <a:t>）：</a:t>
            </a:r>
            <a:br>
              <a:rPr lang="zh-CN" altLang="en-US" dirty="0"/>
            </a:br>
            <a:r>
              <a:rPr lang="zh-CN" altLang="en-US" b="0" i="0" dirty="0">
                <a:solidFill>
                  <a:srgbClr val="333333"/>
                </a:solidFill>
                <a:effectLst/>
                <a:latin typeface="-apple-system"/>
              </a:rPr>
              <a:t>显示出靶器官的断层图象并给出定量生理参数。</a:t>
            </a:r>
            <a:r>
              <a:rPr lang="en-US" altLang="zh-CN" b="0" i="0" dirty="0">
                <a:solidFill>
                  <a:srgbClr val="333333"/>
                </a:solidFill>
                <a:effectLst/>
                <a:latin typeface="-apple-system"/>
              </a:rPr>
              <a:t>PET</a:t>
            </a:r>
            <a:r>
              <a:rPr lang="zh-CN" altLang="en-US" b="0" i="0" dirty="0">
                <a:solidFill>
                  <a:srgbClr val="333333"/>
                </a:solidFill>
                <a:effectLst/>
                <a:latin typeface="-apple-system"/>
              </a:rPr>
              <a:t>从分子水平出发，把组织病理学检查延伸为组织局部生物化学的显示，确定病变的性质及恶性的程度，预测病程并直接指导治疗。 （功能成像）</a:t>
            </a:r>
            <a:r>
              <a:rPr lang="en-US" altLang="zh-CN" b="0" i="0" dirty="0">
                <a:solidFill>
                  <a:srgbClr val="0070C0"/>
                </a:solidFill>
                <a:effectLst/>
                <a:latin typeface="-apple-system"/>
              </a:rPr>
              <a:t>[2]</a:t>
            </a:r>
            <a:endParaRPr lang="zh-CN" altLang="en-US" dirty="0">
              <a:solidFill>
                <a:srgbClr val="0070C0"/>
              </a:solidFill>
            </a:endParaRPr>
          </a:p>
        </p:txBody>
      </p:sp>
    </p:spTree>
    <p:extLst>
      <p:ext uri="{BB962C8B-B14F-4D97-AF65-F5344CB8AC3E}">
        <p14:creationId xmlns:p14="http://schemas.microsoft.com/office/powerpoint/2010/main" val="3394579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18A8C-875A-5DB6-C56C-13DADF120ED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0417DE8-3B1D-42A5-B064-A72CB8ECC460}"/>
              </a:ext>
            </a:extLst>
          </p:cNvPr>
          <p:cNvSpPr txBox="1"/>
          <p:nvPr/>
        </p:nvSpPr>
        <p:spPr>
          <a:xfrm>
            <a:off x="1142999" y="180975"/>
            <a:ext cx="2809875" cy="369332"/>
          </a:xfrm>
          <a:prstGeom prst="rect">
            <a:avLst/>
          </a:prstGeom>
          <a:noFill/>
        </p:spPr>
        <p:txBody>
          <a:bodyPr wrap="square" rtlCol="0">
            <a:spAutoFit/>
          </a:bodyPr>
          <a:lstStyle/>
          <a:p>
            <a:r>
              <a:rPr lang="en-US" altLang="zh-CN" b="1" dirty="0"/>
              <a:t>Abstract &amp; Introduction</a:t>
            </a:r>
            <a:endParaRPr lang="zh-CN" altLang="en-US" b="1" dirty="0"/>
          </a:p>
        </p:txBody>
      </p:sp>
      <p:sp>
        <p:nvSpPr>
          <p:cNvPr id="3" name="文本框 2">
            <a:extLst>
              <a:ext uri="{FF2B5EF4-FFF2-40B4-BE49-F238E27FC236}">
                <a16:creationId xmlns:a16="http://schemas.microsoft.com/office/drawing/2014/main" id="{24C664B5-263D-12CF-F10D-4EC1330ABEDD}"/>
              </a:ext>
            </a:extLst>
          </p:cNvPr>
          <p:cNvSpPr txBox="1"/>
          <p:nvPr/>
        </p:nvSpPr>
        <p:spPr>
          <a:xfrm>
            <a:off x="1266822" y="1657350"/>
            <a:ext cx="9839327" cy="3416320"/>
          </a:xfrm>
          <a:prstGeom prst="rect">
            <a:avLst/>
          </a:prstGeom>
          <a:noFill/>
        </p:spPr>
        <p:txBody>
          <a:bodyPr wrap="square" rtlCol="0">
            <a:spAutoFit/>
          </a:bodyPr>
          <a:lstStyle/>
          <a:p>
            <a:r>
              <a:rPr lang="zh-CN" altLang="en-US" dirty="0"/>
              <a:t>现有模型从</a:t>
            </a:r>
            <a:r>
              <a:rPr lang="en-US" altLang="zh-CN" dirty="0"/>
              <a:t>MRI</a:t>
            </a:r>
            <a:r>
              <a:rPr lang="zh-CN" altLang="en-US" dirty="0"/>
              <a:t>转换为</a:t>
            </a:r>
            <a:r>
              <a:rPr lang="en-US" altLang="zh-CN" dirty="0"/>
              <a:t>PET</a:t>
            </a:r>
            <a:r>
              <a:rPr lang="zh-CN" altLang="en-US" dirty="0"/>
              <a:t>的不足：</a:t>
            </a:r>
            <a:endParaRPr lang="en-US" altLang="zh-CN" dirty="0"/>
          </a:p>
          <a:p>
            <a:r>
              <a:rPr lang="en-US" altLang="zh-CN" b="0" i="0" dirty="0">
                <a:solidFill>
                  <a:srgbClr val="060607"/>
                </a:solidFill>
                <a:effectLst/>
                <a:latin typeface="-apple-system"/>
              </a:rPr>
              <a:t>GAN</a:t>
            </a:r>
            <a:r>
              <a:rPr lang="zh-CN" altLang="en-US" b="0" i="0" dirty="0">
                <a:solidFill>
                  <a:srgbClr val="060607"/>
                </a:solidFill>
                <a:effectLst/>
                <a:latin typeface="-apple-system"/>
              </a:rPr>
              <a:t>方法易出现模式坍塌和训练不稳定</a:t>
            </a:r>
            <a:endParaRPr lang="en-US" altLang="zh-CN" b="0" i="0" dirty="0">
              <a:solidFill>
                <a:srgbClr val="060607"/>
              </a:solidFill>
              <a:effectLst/>
              <a:latin typeface="-apple-system"/>
            </a:endParaRPr>
          </a:p>
          <a:p>
            <a:r>
              <a:rPr lang="zh-CN" altLang="en-US" b="0" i="0" dirty="0">
                <a:solidFill>
                  <a:srgbClr val="060607"/>
                </a:solidFill>
                <a:effectLst/>
                <a:latin typeface="-apple-system"/>
              </a:rPr>
              <a:t>现有的基于扩散模型的转换方法主要关注结构完整性，取得了一定进步，但是忽略了病理恢复</a:t>
            </a:r>
            <a:endParaRPr lang="en-US" altLang="zh-CN" b="0" i="0" dirty="0">
              <a:solidFill>
                <a:srgbClr val="060607"/>
              </a:solidFill>
              <a:effectLst/>
              <a:latin typeface="-apple-system"/>
            </a:endParaRPr>
          </a:p>
          <a:p>
            <a:endParaRPr lang="en-US" altLang="zh-CN" dirty="0">
              <a:solidFill>
                <a:srgbClr val="060607"/>
              </a:solidFill>
              <a:latin typeface="-apple-system"/>
            </a:endParaRPr>
          </a:p>
          <a:p>
            <a:r>
              <a:rPr lang="zh-CN" altLang="en-US" dirty="0">
                <a:solidFill>
                  <a:srgbClr val="060607"/>
                </a:solidFill>
                <a:latin typeface="-apple-system"/>
              </a:rPr>
              <a:t>因此</a:t>
            </a:r>
            <a:r>
              <a:rPr lang="en-US" altLang="zh-CN" dirty="0">
                <a:solidFill>
                  <a:srgbClr val="060607"/>
                </a:solidFill>
                <a:latin typeface="-apple-system"/>
              </a:rPr>
              <a:t>PASTA</a:t>
            </a:r>
            <a:r>
              <a:rPr lang="zh-CN" altLang="en-US" dirty="0">
                <a:solidFill>
                  <a:srgbClr val="060607"/>
                </a:solidFill>
                <a:latin typeface="-apple-system"/>
              </a:rPr>
              <a:t>为了解决这些痛点有如下</a:t>
            </a:r>
            <a:r>
              <a:rPr lang="zh-CN" altLang="en-US" b="1" dirty="0">
                <a:solidFill>
                  <a:srgbClr val="FFC000"/>
                </a:solidFill>
                <a:latin typeface="-apple-system"/>
              </a:rPr>
              <a:t>创新点</a:t>
            </a:r>
            <a:r>
              <a:rPr lang="zh-CN" altLang="en-US" dirty="0">
                <a:solidFill>
                  <a:srgbClr val="060607"/>
                </a:solidFill>
                <a:latin typeface="-apple-system"/>
              </a:rPr>
              <a:t>：</a:t>
            </a:r>
            <a:endParaRPr lang="en-US" altLang="zh-CN" dirty="0">
              <a:solidFill>
                <a:srgbClr val="060607"/>
              </a:solidFill>
              <a:latin typeface="-apple-system"/>
            </a:endParaRPr>
          </a:p>
          <a:p>
            <a:r>
              <a:rPr lang="zh-CN" altLang="en-US" b="0" i="0" dirty="0">
                <a:solidFill>
                  <a:srgbClr val="060607"/>
                </a:solidFill>
                <a:effectLst/>
                <a:latin typeface="-apple-system"/>
              </a:rPr>
              <a:t>提出一种高效的端到端基于扩散</a:t>
            </a:r>
            <a:r>
              <a:rPr lang="en-US" altLang="zh-CN" b="0" i="0" dirty="0">
                <a:solidFill>
                  <a:srgbClr val="060607"/>
                </a:solidFill>
                <a:effectLst/>
                <a:latin typeface="-apple-system"/>
              </a:rPr>
              <a:t>(DM)</a:t>
            </a:r>
            <a:r>
              <a:rPr lang="zh-CN" altLang="en-US" b="0" i="0" dirty="0">
                <a:solidFill>
                  <a:srgbClr val="060607"/>
                </a:solidFill>
                <a:effectLst/>
                <a:latin typeface="-apple-system"/>
              </a:rPr>
              <a:t>模型的框架，用于病理感知的体积</a:t>
            </a:r>
            <a:r>
              <a:rPr lang="en-US" altLang="zh-CN" b="0" i="0" dirty="0">
                <a:solidFill>
                  <a:srgbClr val="060607"/>
                </a:solidFill>
                <a:effectLst/>
                <a:latin typeface="-apple-system"/>
              </a:rPr>
              <a:t>MRI</a:t>
            </a:r>
            <a:r>
              <a:rPr lang="zh-CN" altLang="en-US" b="0" i="0" dirty="0">
                <a:solidFill>
                  <a:srgbClr val="060607"/>
                </a:solidFill>
                <a:effectLst/>
                <a:latin typeface="-apple-system"/>
              </a:rPr>
              <a:t>到</a:t>
            </a:r>
            <a:r>
              <a:rPr lang="en-US" altLang="zh-CN" b="0" i="0" dirty="0">
                <a:solidFill>
                  <a:srgbClr val="060607"/>
                </a:solidFill>
                <a:effectLst/>
                <a:latin typeface="-apple-system"/>
              </a:rPr>
              <a:t>PET</a:t>
            </a:r>
            <a:r>
              <a:rPr lang="zh-CN" altLang="en-US" b="0" i="0" dirty="0">
                <a:solidFill>
                  <a:srgbClr val="060607"/>
                </a:solidFill>
                <a:effectLst/>
                <a:latin typeface="-apple-system"/>
              </a:rPr>
              <a:t>转换</a:t>
            </a:r>
            <a:endParaRPr lang="en-US" altLang="zh-CN" b="0" i="0" dirty="0">
              <a:solidFill>
                <a:srgbClr val="060607"/>
              </a:solidFill>
              <a:effectLst/>
              <a:latin typeface="-apple-system"/>
            </a:endParaRPr>
          </a:p>
          <a:p>
            <a:r>
              <a:rPr lang="en-US" altLang="zh-CN" dirty="0">
                <a:solidFill>
                  <a:srgbClr val="060607"/>
                </a:solidFill>
                <a:latin typeface="-apple-system"/>
              </a:rPr>
              <a:t>(clinically valuable pathology-aware volumetric)</a:t>
            </a:r>
            <a:endParaRPr lang="en-US" altLang="zh-CN" b="0" i="0" dirty="0">
              <a:solidFill>
                <a:srgbClr val="060607"/>
              </a:solidFill>
              <a:effectLst/>
              <a:latin typeface="-apple-system"/>
            </a:endParaRPr>
          </a:p>
          <a:p>
            <a:r>
              <a:rPr lang="zh-CN" altLang="en-US" b="0" i="0" dirty="0">
                <a:solidFill>
                  <a:srgbClr val="060607"/>
                </a:solidFill>
                <a:effectLst/>
                <a:latin typeface="inherit"/>
              </a:rPr>
              <a:t>引入对称双臂架构</a:t>
            </a:r>
            <a:r>
              <a:rPr lang="en-US" altLang="zh-CN" b="0" i="0" dirty="0">
                <a:solidFill>
                  <a:srgbClr val="060607"/>
                </a:solidFill>
                <a:effectLst/>
                <a:latin typeface="inherit"/>
              </a:rPr>
              <a:t>(Conditioner arm &amp;Denoiser arm)</a:t>
            </a:r>
            <a:r>
              <a:rPr lang="zh-CN" altLang="en-US" b="0" i="0" dirty="0">
                <a:solidFill>
                  <a:srgbClr val="060607"/>
                </a:solidFill>
                <a:effectLst/>
                <a:latin typeface="inherit"/>
              </a:rPr>
              <a:t>、自适应归一化层</a:t>
            </a:r>
            <a:r>
              <a:rPr lang="en-US" altLang="zh-CN" b="0" i="0" dirty="0">
                <a:solidFill>
                  <a:srgbClr val="060607"/>
                </a:solidFill>
                <a:effectLst/>
                <a:latin typeface="inherit"/>
              </a:rPr>
              <a:t>(Adaptive Conditional Module)</a:t>
            </a:r>
            <a:r>
              <a:rPr lang="zh-CN" altLang="en-US" b="0" i="0" dirty="0">
                <a:solidFill>
                  <a:srgbClr val="060607"/>
                </a:solidFill>
                <a:effectLst/>
                <a:latin typeface="inherit"/>
              </a:rPr>
              <a:t>、循环交换一致性</a:t>
            </a:r>
            <a:r>
              <a:rPr lang="en-US" altLang="zh-CN" b="0" i="0" dirty="0">
                <a:solidFill>
                  <a:srgbClr val="060607"/>
                </a:solidFill>
                <a:effectLst/>
                <a:latin typeface="inherit"/>
              </a:rPr>
              <a:t>(CycleEx)</a:t>
            </a:r>
            <a:r>
              <a:rPr lang="zh-CN" altLang="en-US" b="0" i="0" dirty="0">
                <a:solidFill>
                  <a:srgbClr val="060607"/>
                </a:solidFill>
                <a:effectLst/>
                <a:latin typeface="inherit"/>
              </a:rPr>
              <a:t>策略等，提升生成</a:t>
            </a:r>
            <a:r>
              <a:rPr lang="en-US" altLang="zh-CN" b="0" i="0" dirty="0">
                <a:solidFill>
                  <a:srgbClr val="060607"/>
                </a:solidFill>
                <a:effectLst/>
                <a:latin typeface="inherit"/>
              </a:rPr>
              <a:t>PET</a:t>
            </a:r>
            <a:r>
              <a:rPr lang="zh-CN" altLang="en-US" b="0" i="0" dirty="0">
                <a:solidFill>
                  <a:srgbClr val="060607"/>
                </a:solidFill>
                <a:effectLst/>
                <a:latin typeface="inherit"/>
              </a:rPr>
              <a:t>的质量。</a:t>
            </a:r>
            <a:r>
              <a:rPr lang="en-US" altLang="zh-CN" dirty="0">
                <a:solidFill>
                  <a:srgbClr val="0070C0"/>
                </a:solidFill>
                <a:latin typeface="inherit"/>
              </a:rPr>
              <a:t>[1]</a:t>
            </a:r>
            <a:endParaRPr lang="zh-CN" altLang="en-US" b="0" i="0" dirty="0">
              <a:solidFill>
                <a:srgbClr val="0070C0"/>
              </a:solidFill>
              <a:effectLst/>
              <a:latin typeface="inherit"/>
            </a:endParaRPr>
          </a:p>
          <a:p>
            <a:endParaRPr lang="en-US" altLang="zh-CN" b="0" i="0" dirty="0">
              <a:solidFill>
                <a:srgbClr val="060607"/>
              </a:solidFill>
              <a:effectLst/>
              <a:latin typeface="-apple-system"/>
            </a:endParaRPr>
          </a:p>
          <a:p>
            <a:endParaRPr lang="en-US" altLang="zh-CN" dirty="0">
              <a:solidFill>
                <a:srgbClr val="060607"/>
              </a:solidFill>
              <a:latin typeface="-apple-system"/>
            </a:endParaRPr>
          </a:p>
          <a:p>
            <a:endParaRPr lang="zh-CN" altLang="en-US" dirty="0"/>
          </a:p>
        </p:txBody>
      </p:sp>
      <p:sp>
        <p:nvSpPr>
          <p:cNvPr id="6" name="文本框 5">
            <a:extLst>
              <a:ext uri="{FF2B5EF4-FFF2-40B4-BE49-F238E27FC236}">
                <a16:creationId xmlns:a16="http://schemas.microsoft.com/office/drawing/2014/main" id="{4DA1C745-2C3F-11EE-1DD9-EE07AD34C7C0}"/>
              </a:ext>
            </a:extLst>
          </p:cNvPr>
          <p:cNvSpPr txBox="1"/>
          <p:nvPr/>
        </p:nvSpPr>
        <p:spPr>
          <a:xfrm>
            <a:off x="10401300" y="180975"/>
            <a:ext cx="1552575" cy="369332"/>
          </a:xfrm>
          <a:prstGeom prst="rect">
            <a:avLst/>
          </a:prstGeom>
          <a:noFill/>
        </p:spPr>
        <p:txBody>
          <a:bodyPr wrap="square" rtlCol="0">
            <a:spAutoFit/>
          </a:bodyPr>
          <a:lstStyle/>
          <a:p>
            <a:r>
              <a:rPr lang="zh-CN" altLang="en-US" b="1" dirty="0"/>
              <a:t>背景</a:t>
            </a:r>
            <a:endParaRPr lang="en-US" altLang="zh-CN" b="1" dirty="0"/>
          </a:p>
        </p:txBody>
      </p:sp>
    </p:spTree>
    <p:extLst>
      <p:ext uri="{BB962C8B-B14F-4D97-AF65-F5344CB8AC3E}">
        <p14:creationId xmlns:p14="http://schemas.microsoft.com/office/powerpoint/2010/main" val="612426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AD122-00CF-980C-5E80-D9B8E9AAF9E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E5FA971-5AD3-FF84-00F9-C4E542E13677}"/>
              </a:ext>
            </a:extLst>
          </p:cNvPr>
          <p:cNvSpPr txBox="1"/>
          <p:nvPr/>
        </p:nvSpPr>
        <p:spPr>
          <a:xfrm>
            <a:off x="1204912" y="180975"/>
            <a:ext cx="2809875" cy="369332"/>
          </a:xfrm>
          <a:prstGeom prst="rect">
            <a:avLst/>
          </a:prstGeom>
          <a:noFill/>
        </p:spPr>
        <p:txBody>
          <a:bodyPr wrap="square" rtlCol="0">
            <a:spAutoFit/>
          </a:bodyPr>
          <a:lstStyle/>
          <a:p>
            <a:r>
              <a:rPr lang="en-US" altLang="zh-CN" b="1" dirty="0"/>
              <a:t>Proposed Work</a:t>
            </a:r>
            <a:endParaRPr lang="zh-CN" altLang="en-US" b="1" dirty="0"/>
          </a:p>
        </p:txBody>
      </p:sp>
      <p:sp>
        <p:nvSpPr>
          <p:cNvPr id="6" name="文本框 5">
            <a:extLst>
              <a:ext uri="{FF2B5EF4-FFF2-40B4-BE49-F238E27FC236}">
                <a16:creationId xmlns:a16="http://schemas.microsoft.com/office/drawing/2014/main" id="{2A60FA7E-538C-9F51-1E68-4BE853BD5227}"/>
              </a:ext>
            </a:extLst>
          </p:cNvPr>
          <p:cNvSpPr txBox="1"/>
          <p:nvPr/>
        </p:nvSpPr>
        <p:spPr>
          <a:xfrm>
            <a:off x="10401300" y="180975"/>
            <a:ext cx="1552575" cy="369332"/>
          </a:xfrm>
          <a:prstGeom prst="rect">
            <a:avLst/>
          </a:prstGeom>
          <a:noFill/>
        </p:spPr>
        <p:txBody>
          <a:bodyPr wrap="square" rtlCol="0">
            <a:spAutoFit/>
          </a:bodyPr>
          <a:lstStyle/>
          <a:p>
            <a:r>
              <a:rPr lang="zh-CN" altLang="en-US" b="1" dirty="0"/>
              <a:t>模型架构</a:t>
            </a:r>
            <a:endParaRPr lang="en-US" altLang="zh-CN" b="1" dirty="0"/>
          </a:p>
        </p:txBody>
      </p:sp>
      <p:pic>
        <p:nvPicPr>
          <p:cNvPr id="5" name="图片 4">
            <a:extLst>
              <a:ext uri="{FF2B5EF4-FFF2-40B4-BE49-F238E27FC236}">
                <a16:creationId xmlns:a16="http://schemas.microsoft.com/office/drawing/2014/main" id="{9DDE0528-AE13-4D0C-4162-35E1D9954FF9}"/>
              </a:ext>
            </a:extLst>
          </p:cNvPr>
          <p:cNvPicPr>
            <a:picLocks noChangeAspect="1"/>
          </p:cNvPicPr>
          <p:nvPr/>
        </p:nvPicPr>
        <p:blipFill>
          <a:blip r:embed="rId2"/>
          <a:stretch>
            <a:fillRect/>
          </a:stretch>
        </p:blipFill>
        <p:spPr>
          <a:xfrm>
            <a:off x="1518598" y="1052157"/>
            <a:ext cx="9154803" cy="5096586"/>
          </a:xfrm>
          <a:prstGeom prst="rect">
            <a:avLst/>
          </a:prstGeom>
        </p:spPr>
      </p:pic>
    </p:spTree>
    <p:extLst>
      <p:ext uri="{BB962C8B-B14F-4D97-AF65-F5344CB8AC3E}">
        <p14:creationId xmlns:p14="http://schemas.microsoft.com/office/powerpoint/2010/main" val="349631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1A9DC-F17C-FC7A-3376-E78E5F69853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485BDBC-CC21-1703-AEC7-9B6000C9FECA}"/>
              </a:ext>
            </a:extLst>
          </p:cNvPr>
          <p:cNvSpPr txBox="1"/>
          <p:nvPr/>
        </p:nvSpPr>
        <p:spPr>
          <a:xfrm>
            <a:off x="1142999" y="180975"/>
            <a:ext cx="2809875" cy="369332"/>
          </a:xfrm>
          <a:prstGeom prst="rect">
            <a:avLst/>
          </a:prstGeom>
          <a:noFill/>
        </p:spPr>
        <p:txBody>
          <a:bodyPr wrap="square" rtlCol="0">
            <a:spAutoFit/>
          </a:bodyPr>
          <a:lstStyle/>
          <a:p>
            <a:r>
              <a:rPr lang="en-US" altLang="zh-CN" b="1" dirty="0"/>
              <a:t>U-Net</a:t>
            </a:r>
            <a:endParaRPr lang="zh-CN" altLang="en-US" b="1" dirty="0"/>
          </a:p>
        </p:txBody>
      </p:sp>
      <p:sp>
        <p:nvSpPr>
          <p:cNvPr id="3" name="文本框 2">
            <a:extLst>
              <a:ext uri="{FF2B5EF4-FFF2-40B4-BE49-F238E27FC236}">
                <a16:creationId xmlns:a16="http://schemas.microsoft.com/office/drawing/2014/main" id="{F56D69C7-76FB-E891-7681-E8A290D26618}"/>
              </a:ext>
            </a:extLst>
          </p:cNvPr>
          <p:cNvSpPr txBox="1"/>
          <p:nvPr/>
        </p:nvSpPr>
        <p:spPr>
          <a:xfrm>
            <a:off x="133349" y="905580"/>
            <a:ext cx="5486401" cy="5339923"/>
          </a:xfrm>
          <a:prstGeom prst="rect">
            <a:avLst/>
          </a:prstGeom>
          <a:noFill/>
        </p:spPr>
        <p:txBody>
          <a:bodyPr wrap="square" rtlCol="0">
            <a:spAutoFit/>
          </a:bodyPr>
          <a:lstStyle/>
          <a:p>
            <a:r>
              <a:rPr lang="zh-CN" altLang="en-US" sz="1100" dirty="0"/>
              <a:t>由于下面的降噪器臂用到了</a:t>
            </a:r>
            <a:r>
              <a:rPr lang="en-US" altLang="zh-CN" sz="1100" dirty="0"/>
              <a:t>U-Net</a:t>
            </a:r>
            <a:r>
              <a:rPr lang="zh-CN" altLang="en-US" sz="1100" dirty="0"/>
              <a:t>，我们先介绍</a:t>
            </a:r>
            <a:r>
              <a:rPr lang="en-US" altLang="zh-CN" sz="1100" dirty="0"/>
              <a:t>U-Net</a:t>
            </a:r>
          </a:p>
          <a:p>
            <a:endParaRPr lang="en-US" altLang="zh-CN" sz="1100" dirty="0"/>
          </a:p>
          <a:p>
            <a:r>
              <a:rPr lang="zh-CN" altLang="en-US" sz="1100" dirty="0"/>
              <a:t>左边部分：</a:t>
            </a:r>
            <a:endParaRPr lang="en-US" altLang="zh-CN" sz="1100" dirty="0"/>
          </a:p>
          <a:p>
            <a:endParaRPr lang="en-US" altLang="zh-CN" sz="1100" dirty="0"/>
          </a:p>
          <a:p>
            <a:r>
              <a:rPr lang="zh-CN" altLang="en-US" sz="1100" dirty="0"/>
              <a:t>从最左边开始，输入的是一张</a:t>
            </a:r>
            <a:r>
              <a:rPr lang="en-US" altLang="zh-CN" sz="1100" dirty="0"/>
              <a:t>572×572×1</a:t>
            </a:r>
            <a:r>
              <a:rPr lang="zh-CN" altLang="en-US" sz="1100" dirty="0"/>
              <a:t>的图片，然后经过</a:t>
            </a:r>
            <a:r>
              <a:rPr lang="en-US" altLang="zh-CN" sz="1100" dirty="0"/>
              <a:t>64</a:t>
            </a:r>
            <a:r>
              <a:rPr lang="zh-CN" altLang="en-US" sz="1100" dirty="0"/>
              <a:t>个</a:t>
            </a:r>
            <a:r>
              <a:rPr lang="en-US" altLang="zh-CN" sz="1100" dirty="0"/>
              <a:t>3×3</a:t>
            </a:r>
            <a:r>
              <a:rPr lang="zh-CN" altLang="en-US" sz="1100" dirty="0"/>
              <a:t>的卷积核进行卷积，再通过</a:t>
            </a:r>
            <a:r>
              <a:rPr lang="en-US" altLang="zh-CN" sz="1100" dirty="0" err="1"/>
              <a:t>ReLU</a:t>
            </a:r>
            <a:r>
              <a:rPr lang="zh-CN" altLang="en-US" sz="1100" dirty="0"/>
              <a:t>函数后得到</a:t>
            </a:r>
            <a:r>
              <a:rPr lang="en-US" altLang="zh-CN" sz="1100" dirty="0"/>
              <a:t>64</a:t>
            </a:r>
            <a:r>
              <a:rPr lang="zh-CN" altLang="en-US" sz="1100" dirty="0"/>
              <a:t>个</a:t>
            </a:r>
            <a:r>
              <a:rPr lang="en-US" altLang="zh-CN" sz="1100" dirty="0"/>
              <a:t>570×570×1</a:t>
            </a:r>
            <a:r>
              <a:rPr lang="zh-CN" altLang="en-US" sz="1100" dirty="0"/>
              <a:t>的特征通道。然后把这</a:t>
            </a:r>
            <a:r>
              <a:rPr lang="en-US" altLang="zh-CN" sz="1100" dirty="0"/>
              <a:t>570×570×64</a:t>
            </a:r>
            <a:r>
              <a:rPr lang="zh-CN" altLang="en-US" sz="1100" dirty="0"/>
              <a:t>的结果再经过</a:t>
            </a:r>
            <a:r>
              <a:rPr lang="en-US" altLang="zh-CN" sz="1100" dirty="0"/>
              <a:t>64</a:t>
            </a:r>
            <a:r>
              <a:rPr lang="zh-CN" altLang="en-US" sz="1100" dirty="0"/>
              <a:t>个</a:t>
            </a:r>
            <a:r>
              <a:rPr lang="en-US" altLang="zh-CN" sz="1100" dirty="0"/>
              <a:t>3×3</a:t>
            </a:r>
            <a:r>
              <a:rPr lang="zh-CN" altLang="en-US" sz="1100" dirty="0"/>
              <a:t>的卷积核进行卷积，同样通过</a:t>
            </a:r>
            <a:r>
              <a:rPr lang="en-US" altLang="zh-CN" sz="1100" dirty="0" err="1"/>
              <a:t>ReLU</a:t>
            </a:r>
            <a:r>
              <a:rPr lang="zh-CN" altLang="en-US" sz="1100" dirty="0"/>
              <a:t>函数后得到</a:t>
            </a:r>
            <a:r>
              <a:rPr lang="en-US" altLang="zh-CN" sz="1100" dirty="0"/>
              <a:t>64</a:t>
            </a:r>
            <a:r>
              <a:rPr lang="zh-CN" altLang="en-US" sz="1100" dirty="0"/>
              <a:t>个</a:t>
            </a:r>
            <a:r>
              <a:rPr lang="en-US" altLang="zh-CN" sz="1100" dirty="0"/>
              <a:t>568×568×1</a:t>
            </a:r>
            <a:r>
              <a:rPr lang="zh-CN" altLang="en-US" sz="1100" dirty="0"/>
              <a:t>的特征提取结果，这就是第一层的处理结果。</a:t>
            </a:r>
            <a:endParaRPr lang="en-US" altLang="zh-CN" sz="1100" dirty="0"/>
          </a:p>
          <a:p>
            <a:endParaRPr lang="en-US" altLang="zh-CN" sz="1100" dirty="0"/>
          </a:p>
          <a:p>
            <a:r>
              <a:rPr lang="zh-CN" altLang="en-US" sz="1100" dirty="0"/>
              <a:t>第一层的处理结果是</a:t>
            </a:r>
            <a:r>
              <a:rPr lang="en-US" altLang="zh-CN" sz="1100" dirty="0"/>
              <a:t>568×568×64</a:t>
            </a:r>
            <a:r>
              <a:rPr lang="zh-CN" altLang="en-US" sz="1100" dirty="0"/>
              <a:t>的特征图片，通过</a:t>
            </a:r>
            <a:r>
              <a:rPr lang="en-US" altLang="zh-CN" sz="1100" dirty="0"/>
              <a:t>2×2</a:t>
            </a:r>
            <a:r>
              <a:rPr lang="zh-CN" altLang="en-US" sz="1100" dirty="0"/>
              <a:t>的池化核，对图片下采样为原来大小的一半：</a:t>
            </a:r>
            <a:r>
              <a:rPr lang="en-US" altLang="zh-CN" sz="1100" dirty="0"/>
              <a:t>284×284×64</a:t>
            </a:r>
            <a:r>
              <a:rPr lang="zh-CN" altLang="en-US" sz="1100" dirty="0"/>
              <a:t>，然后通过</a:t>
            </a:r>
            <a:r>
              <a:rPr lang="en-US" altLang="zh-CN" sz="1100" dirty="0"/>
              <a:t>128</a:t>
            </a:r>
            <a:r>
              <a:rPr lang="zh-CN" altLang="en-US" sz="1100" dirty="0"/>
              <a:t>个卷积核进一步提取图片特征。后面的下采样过程也是以此类推，每一层都会经过两次卷积来提取图像特征；每下采样一层，都会把图片减小一半，卷积核数目增加一倍。最终下采样部分的结果是</a:t>
            </a:r>
            <a:r>
              <a:rPr lang="en-US" altLang="zh-CN" sz="1100" dirty="0"/>
              <a:t>28×28×1024</a:t>
            </a:r>
            <a:r>
              <a:rPr lang="zh-CN" altLang="en-US" sz="1100" dirty="0"/>
              <a:t>，也就是一共有</a:t>
            </a:r>
            <a:r>
              <a:rPr lang="en-US" altLang="zh-CN" sz="1100" dirty="0"/>
              <a:t>1024</a:t>
            </a:r>
            <a:r>
              <a:rPr lang="zh-CN" altLang="en-US" sz="1100" dirty="0"/>
              <a:t>个特征层，每一层的特征大小为</a:t>
            </a:r>
            <a:r>
              <a:rPr lang="en-US" altLang="zh-CN" sz="1100" dirty="0"/>
              <a:t>28×28</a:t>
            </a:r>
            <a:r>
              <a:rPr lang="zh-CN" altLang="en-US" sz="1100" dirty="0"/>
              <a:t>。</a:t>
            </a:r>
            <a:endParaRPr lang="en-US" altLang="zh-CN" sz="1100" dirty="0"/>
          </a:p>
          <a:p>
            <a:endParaRPr lang="en-US" altLang="zh-CN" sz="1100" dirty="0"/>
          </a:p>
          <a:p>
            <a:r>
              <a:rPr lang="zh-CN" altLang="en-US" sz="1100" dirty="0"/>
              <a:t>右边部分：</a:t>
            </a:r>
            <a:endParaRPr lang="en-US" altLang="zh-CN" sz="1100" dirty="0"/>
          </a:p>
          <a:p>
            <a:endParaRPr lang="en-US" altLang="zh-CN" sz="1100" dirty="0"/>
          </a:p>
          <a:p>
            <a:r>
              <a:rPr lang="zh-CN" altLang="en-US" sz="1100" dirty="0"/>
              <a:t>从下往上则是</a:t>
            </a:r>
            <a:r>
              <a:rPr lang="en-US" altLang="zh-CN" sz="1100" dirty="0"/>
              <a:t>4</a:t>
            </a:r>
            <a:r>
              <a:rPr lang="zh-CN" altLang="en-US" sz="1100" dirty="0"/>
              <a:t>次上采样过程。从最右下角开始，把</a:t>
            </a:r>
            <a:r>
              <a:rPr lang="en-US" altLang="zh-CN" sz="1100" dirty="0"/>
              <a:t>28×28×1024</a:t>
            </a:r>
            <a:r>
              <a:rPr lang="zh-CN" altLang="en-US" sz="1100" dirty="0"/>
              <a:t>的特征矩阵经过</a:t>
            </a:r>
            <a:r>
              <a:rPr lang="en-US" altLang="zh-CN" sz="1100" dirty="0"/>
              <a:t>512</a:t>
            </a:r>
            <a:r>
              <a:rPr lang="zh-CN" altLang="en-US" sz="1100" dirty="0"/>
              <a:t>个</a:t>
            </a:r>
            <a:r>
              <a:rPr lang="en-US" altLang="zh-CN" sz="1100" dirty="0"/>
              <a:t>2×2</a:t>
            </a:r>
            <a:r>
              <a:rPr lang="zh-CN" altLang="en-US" sz="1100" dirty="0"/>
              <a:t>的卷积核进行反卷积，把矩阵扩大为</a:t>
            </a:r>
            <a:r>
              <a:rPr lang="en-US" altLang="zh-CN" sz="1100" dirty="0"/>
              <a:t>56×56×512</a:t>
            </a:r>
            <a:r>
              <a:rPr lang="zh-CN" altLang="en-US" sz="1100" dirty="0"/>
              <a:t>（注意不是</a:t>
            </a:r>
            <a:r>
              <a:rPr lang="en-US" altLang="zh-CN" sz="1100" dirty="0"/>
              <a:t>1024</a:t>
            </a:r>
            <a:r>
              <a:rPr lang="zh-CN" altLang="en-US" sz="1100" dirty="0"/>
              <a:t>个卷积核，结果仅仅是右半边蓝色部分的</a:t>
            </a:r>
            <a:r>
              <a:rPr lang="en-US" altLang="zh-CN" sz="1100" dirty="0"/>
              <a:t>512</a:t>
            </a:r>
            <a:r>
              <a:rPr lang="zh-CN" altLang="en-US" sz="1100" dirty="0"/>
              <a:t>个特征通道，不包含左边白色的），由于反卷积只能扩大图片而不能还原图片，</a:t>
            </a:r>
            <a:r>
              <a:rPr lang="zh-CN" altLang="en-US" sz="1100" b="1" dirty="0">
                <a:solidFill>
                  <a:srgbClr val="FFC000"/>
                </a:solidFill>
              </a:rPr>
              <a:t>为了减少数据丢失，采取把左边降采样时的图片裁剪成相同大小后直接拼过来的方法增加特征层</a:t>
            </a:r>
            <a:r>
              <a:rPr lang="zh-CN" altLang="en-US" sz="1100" dirty="0"/>
              <a:t>（这里才是左半边白色部分的</a:t>
            </a:r>
            <a:r>
              <a:rPr lang="en-US" altLang="zh-CN" sz="1100" dirty="0"/>
              <a:t>512</a:t>
            </a:r>
            <a:r>
              <a:rPr lang="zh-CN" altLang="en-US" sz="1100" dirty="0"/>
              <a:t>个特征通道），再进行卷积来提取特征。由于每一次</a:t>
            </a:r>
            <a:r>
              <a:rPr lang="en-US" altLang="zh-CN" sz="1100" dirty="0"/>
              <a:t>valid</a:t>
            </a:r>
            <a:r>
              <a:rPr lang="zh-CN" altLang="en-US" sz="1100" dirty="0"/>
              <a:t>卷积都会使得结果变小一圈，因此每次拼接之前都需要先把左边下采样过程中的图片进行裁剪。矩阵进行拼接后，整个新的特征矩阵就变成</a:t>
            </a:r>
            <a:r>
              <a:rPr lang="en-US" altLang="zh-CN" sz="1100" dirty="0"/>
              <a:t>56×56×1024</a:t>
            </a:r>
            <a:r>
              <a:rPr lang="zh-CN" altLang="en-US" sz="1100" dirty="0"/>
              <a:t>，然后经过</a:t>
            </a:r>
            <a:r>
              <a:rPr lang="en-US" altLang="zh-CN" sz="1100" dirty="0"/>
              <a:t>512</a:t>
            </a:r>
            <a:r>
              <a:rPr lang="zh-CN" altLang="en-US" sz="1100" dirty="0"/>
              <a:t>个卷积核，进行两次卷积后得到</a:t>
            </a:r>
            <a:r>
              <a:rPr lang="en-US" altLang="zh-CN" sz="1100" dirty="0"/>
              <a:t>52×52×512</a:t>
            </a:r>
            <a:r>
              <a:rPr lang="zh-CN" altLang="en-US" sz="1100" dirty="0"/>
              <a:t>的特征矩阵，再一次进行上采样，重复上述过程。每一层都会进行两次卷积来提取特征，每上采样一层，都会把图片扩大一倍，卷积核数目减少一半。最后上采样的结果是</a:t>
            </a:r>
            <a:r>
              <a:rPr lang="en-US" altLang="zh-CN" sz="1100" dirty="0"/>
              <a:t>388×388×64</a:t>
            </a:r>
            <a:r>
              <a:rPr lang="zh-CN" altLang="en-US" sz="1100" dirty="0"/>
              <a:t>，也就是一共有</a:t>
            </a:r>
            <a:r>
              <a:rPr lang="en-US" altLang="zh-CN" sz="1100" dirty="0"/>
              <a:t>64</a:t>
            </a:r>
            <a:r>
              <a:rPr lang="zh-CN" altLang="en-US" sz="1100" dirty="0"/>
              <a:t>个特征层，每一层的特征大小为</a:t>
            </a:r>
            <a:r>
              <a:rPr lang="en-US" altLang="zh-CN" sz="1100" dirty="0"/>
              <a:t>388×388</a:t>
            </a:r>
            <a:r>
              <a:rPr lang="zh-CN" altLang="en-US" sz="1100" dirty="0"/>
              <a:t>。</a:t>
            </a:r>
            <a:endParaRPr lang="en-US" altLang="zh-CN" sz="1100" dirty="0"/>
          </a:p>
          <a:p>
            <a:endParaRPr lang="en-US" altLang="zh-CN" sz="1100" dirty="0"/>
          </a:p>
          <a:p>
            <a:r>
              <a:rPr lang="zh-CN" altLang="en-US" sz="1100" dirty="0"/>
              <a:t>在最后一步中，选择了</a:t>
            </a:r>
            <a:r>
              <a:rPr lang="en-US" altLang="zh-CN" sz="1100" dirty="0"/>
              <a:t>2</a:t>
            </a:r>
            <a:r>
              <a:rPr lang="zh-CN" altLang="en-US" sz="1100" dirty="0"/>
              <a:t>个</a:t>
            </a:r>
            <a:r>
              <a:rPr lang="en-US" altLang="zh-CN" sz="1100" dirty="0"/>
              <a:t>1×1</a:t>
            </a:r>
            <a:r>
              <a:rPr lang="zh-CN" altLang="en-US" sz="1100" dirty="0"/>
              <a:t>的卷积核把</a:t>
            </a:r>
            <a:r>
              <a:rPr lang="en-US" altLang="zh-CN" sz="1100" dirty="0"/>
              <a:t>64</a:t>
            </a:r>
            <a:r>
              <a:rPr lang="zh-CN" altLang="en-US" sz="1100" dirty="0"/>
              <a:t>个特征通道变成</a:t>
            </a:r>
            <a:r>
              <a:rPr lang="en-US" altLang="zh-CN" sz="1100" dirty="0"/>
              <a:t>2</a:t>
            </a:r>
            <a:r>
              <a:rPr lang="zh-CN" altLang="en-US" sz="1100" dirty="0"/>
              <a:t>个，也就是最后的</a:t>
            </a:r>
            <a:r>
              <a:rPr lang="en-US" altLang="zh-CN" sz="1100" dirty="0"/>
              <a:t>388×388×2</a:t>
            </a:r>
            <a:r>
              <a:rPr lang="zh-CN" altLang="en-US" sz="1100" dirty="0"/>
              <a:t>，其实这里就是一个二分类的操作，把图片分成背景和目标两个类别。</a:t>
            </a:r>
            <a:r>
              <a:rPr lang="en-US" altLang="zh-CN" sz="1100" dirty="0">
                <a:solidFill>
                  <a:srgbClr val="0070C0"/>
                </a:solidFill>
              </a:rPr>
              <a:t>[3]</a:t>
            </a:r>
            <a:endParaRPr lang="zh-CN" altLang="en-US" sz="1100" dirty="0">
              <a:solidFill>
                <a:srgbClr val="0070C0"/>
              </a:solidFill>
            </a:endParaRPr>
          </a:p>
        </p:txBody>
      </p:sp>
      <p:sp>
        <p:nvSpPr>
          <p:cNvPr id="6" name="文本框 5">
            <a:extLst>
              <a:ext uri="{FF2B5EF4-FFF2-40B4-BE49-F238E27FC236}">
                <a16:creationId xmlns:a16="http://schemas.microsoft.com/office/drawing/2014/main" id="{6DC44431-BC86-A9C1-6DC7-1B92365478BF}"/>
              </a:ext>
            </a:extLst>
          </p:cNvPr>
          <p:cNvSpPr txBox="1"/>
          <p:nvPr/>
        </p:nvSpPr>
        <p:spPr>
          <a:xfrm>
            <a:off x="10401300" y="180975"/>
            <a:ext cx="1552575" cy="369332"/>
          </a:xfrm>
          <a:prstGeom prst="rect">
            <a:avLst/>
          </a:prstGeom>
          <a:noFill/>
        </p:spPr>
        <p:txBody>
          <a:bodyPr wrap="square" rtlCol="0">
            <a:spAutoFit/>
          </a:bodyPr>
          <a:lstStyle/>
          <a:p>
            <a:r>
              <a:rPr lang="zh-CN" altLang="en-US" b="1" dirty="0"/>
              <a:t>模型架构</a:t>
            </a:r>
            <a:endParaRPr lang="en-US" altLang="zh-CN" b="1" dirty="0"/>
          </a:p>
        </p:txBody>
      </p:sp>
      <p:pic>
        <p:nvPicPr>
          <p:cNvPr id="5" name="图片 4" descr="图表&#10;&#10;AI 生成的内容可能不正确。">
            <a:extLst>
              <a:ext uri="{FF2B5EF4-FFF2-40B4-BE49-F238E27FC236}">
                <a16:creationId xmlns:a16="http://schemas.microsoft.com/office/drawing/2014/main" id="{B3160D1E-98A4-91D0-FA36-04995C42EE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9750" y="781755"/>
            <a:ext cx="6572250" cy="5294490"/>
          </a:xfrm>
          <a:prstGeom prst="rect">
            <a:avLst/>
          </a:prstGeom>
        </p:spPr>
      </p:pic>
    </p:spTree>
    <p:extLst>
      <p:ext uri="{BB962C8B-B14F-4D97-AF65-F5344CB8AC3E}">
        <p14:creationId xmlns:p14="http://schemas.microsoft.com/office/powerpoint/2010/main" val="2678896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CD0F8-D6B2-336A-2FD8-AA85BEC8153E}"/>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9EC14809-29CE-5E71-89D6-F62C07FE3FBD}"/>
              </a:ext>
            </a:extLst>
          </p:cNvPr>
          <p:cNvPicPr>
            <a:picLocks noChangeAspect="1"/>
          </p:cNvPicPr>
          <p:nvPr/>
        </p:nvPicPr>
        <p:blipFill>
          <a:blip r:embed="rId2"/>
          <a:stretch>
            <a:fillRect/>
          </a:stretch>
        </p:blipFill>
        <p:spPr>
          <a:xfrm>
            <a:off x="5587774" y="733425"/>
            <a:ext cx="6604226" cy="3676650"/>
          </a:xfrm>
          <a:prstGeom prst="rect">
            <a:avLst/>
          </a:prstGeom>
        </p:spPr>
      </p:pic>
      <p:sp>
        <p:nvSpPr>
          <p:cNvPr id="2" name="文本框 1">
            <a:extLst>
              <a:ext uri="{FF2B5EF4-FFF2-40B4-BE49-F238E27FC236}">
                <a16:creationId xmlns:a16="http://schemas.microsoft.com/office/drawing/2014/main" id="{C8B55C65-182C-41C8-DA72-EC3998E24C90}"/>
              </a:ext>
            </a:extLst>
          </p:cNvPr>
          <p:cNvSpPr txBox="1"/>
          <p:nvPr/>
        </p:nvSpPr>
        <p:spPr>
          <a:xfrm>
            <a:off x="1142999" y="180975"/>
            <a:ext cx="2809875" cy="369332"/>
          </a:xfrm>
          <a:prstGeom prst="rect">
            <a:avLst/>
          </a:prstGeom>
          <a:noFill/>
        </p:spPr>
        <p:txBody>
          <a:bodyPr wrap="square" rtlCol="0">
            <a:spAutoFit/>
          </a:bodyPr>
          <a:lstStyle/>
          <a:p>
            <a:r>
              <a:rPr lang="en-US" altLang="zh-CN" b="1" dirty="0"/>
              <a:t>Conditioner - Arm</a:t>
            </a:r>
            <a:endParaRPr lang="zh-CN" altLang="en-US" b="1" dirty="0"/>
          </a:p>
        </p:txBody>
      </p:sp>
      <p:sp>
        <p:nvSpPr>
          <p:cNvPr id="3" name="文本框 2">
            <a:extLst>
              <a:ext uri="{FF2B5EF4-FFF2-40B4-BE49-F238E27FC236}">
                <a16:creationId xmlns:a16="http://schemas.microsoft.com/office/drawing/2014/main" id="{EF23B535-7F24-7246-F389-95075ABF1966}"/>
              </a:ext>
            </a:extLst>
          </p:cNvPr>
          <p:cNvSpPr txBox="1"/>
          <p:nvPr/>
        </p:nvSpPr>
        <p:spPr>
          <a:xfrm>
            <a:off x="95249" y="733425"/>
            <a:ext cx="5600701" cy="5615576"/>
          </a:xfrm>
          <a:prstGeom prst="rect">
            <a:avLst/>
          </a:prstGeom>
          <a:noFill/>
        </p:spPr>
        <p:txBody>
          <a:bodyPr wrap="square" rtlCol="0">
            <a:spAutoFit/>
          </a:bodyPr>
          <a:lstStyle/>
          <a:p>
            <a:pPr algn="l" fontAlgn="base">
              <a:lnSpc>
                <a:spcPts val="1800"/>
              </a:lnSpc>
              <a:buFont typeface="+mj-lt"/>
              <a:buAutoNum type="arabicPeriod"/>
            </a:pPr>
            <a:r>
              <a:rPr lang="zh-CN" altLang="en-US" sz="1200" b="1" i="0" dirty="0">
                <a:solidFill>
                  <a:srgbClr val="060607"/>
                </a:solidFill>
                <a:effectLst/>
                <a:latin typeface="inherit"/>
              </a:rPr>
              <a:t>训练数据定义</a:t>
            </a:r>
            <a:r>
              <a:rPr lang="zh-CN" altLang="en-US" sz="1200" b="0" i="0" dirty="0">
                <a:solidFill>
                  <a:srgbClr val="060607"/>
                </a:solidFill>
                <a:effectLst/>
                <a:latin typeface="inherit"/>
              </a:rPr>
              <a:t>：</a:t>
            </a:r>
          </a:p>
          <a:p>
            <a:pPr lvl="1" algn="l" fontAlgn="base">
              <a:lnSpc>
                <a:spcPts val="1800"/>
              </a:lnSpc>
            </a:pPr>
            <a:r>
              <a:rPr lang="zh-CN" altLang="en-US" sz="1200" b="0" i="0" dirty="0">
                <a:solidFill>
                  <a:srgbClr val="060607"/>
                </a:solidFill>
                <a:effectLst/>
                <a:latin typeface="inherit"/>
              </a:rPr>
              <a:t>训练数据集 </a:t>
            </a:r>
            <a:r>
              <a:rPr lang="en-US" altLang="zh-CN" sz="1200" b="0" i="1" dirty="0">
                <a:solidFill>
                  <a:srgbClr val="060607"/>
                </a:solidFill>
                <a:effectLst/>
                <a:latin typeface="KaTeX_Math"/>
              </a:rPr>
              <a:t>DT</a:t>
            </a:r>
            <a:r>
              <a:rPr lang="zh-CN" altLang="en-US" sz="1200" b="0" i="0" dirty="0">
                <a:solidFill>
                  <a:srgbClr val="060607"/>
                </a:solidFill>
                <a:effectLst/>
                <a:latin typeface="inherit"/>
              </a:rPr>
              <a:t>​ 包含 </a:t>
            </a:r>
            <a:r>
              <a:rPr lang="en-US" altLang="zh-CN" sz="1200" b="0" i="1" dirty="0">
                <a:solidFill>
                  <a:srgbClr val="060607"/>
                </a:solidFill>
                <a:effectLst/>
                <a:latin typeface="KaTeX_Math"/>
              </a:rPr>
              <a:t>N</a:t>
            </a:r>
            <a:r>
              <a:rPr lang="zh-CN" altLang="en-US" sz="1200" b="0" i="0" dirty="0">
                <a:solidFill>
                  <a:srgbClr val="060607"/>
                </a:solidFill>
                <a:effectLst/>
                <a:latin typeface="inherit"/>
              </a:rPr>
              <a:t> 对</a:t>
            </a:r>
            <a:r>
              <a:rPr lang="en-US" altLang="zh-CN" sz="1200" b="0" i="0" dirty="0">
                <a:solidFill>
                  <a:srgbClr val="060607"/>
                </a:solidFill>
                <a:effectLst/>
                <a:latin typeface="inherit"/>
              </a:rPr>
              <a:t>MRI</a:t>
            </a:r>
            <a:r>
              <a:rPr lang="zh-CN" altLang="en-US" sz="1200" b="0" i="0" dirty="0">
                <a:solidFill>
                  <a:srgbClr val="060607"/>
                </a:solidFill>
                <a:effectLst/>
                <a:latin typeface="inherit"/>
              </a:rPr>
              <a:t>和对应的</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a:t>
            </a:r>
            <a:r>
              <a:rPr lang="en-US" altLang="zh-CN" sz="1200" b="0" i="0" dirty="0">
                <a:solidFill>
                  <a:srgbClr val="060607"/>
                </a:solidFill>
                <a:effectLst/>
                <a:latin typeface="inherit"/>
              </a:rPr>
              <a:t>MRI</a:t>
            </a:r>
            <a:r>
              <a:rPr lang="zh-CN" altLang="en-US" sz="1200" b="0" i="0" dirty="0">
                <a:solidFill>
                  <a:srgbClr val="060607"/>
                </a:solidFill>
                <a:effectLst/>
                <a:latin typeface="inherit"/>
              </a:rPr>
              <a:t>图像 </a:t>
            </a:r>
            <a:r>
              <a:rPr lang="en-US" altLang="zh-CN" sz="1200" b="0" i="0" dirty="0">
                <a:solidFill>
                  <a:srgbClr val="060607"/>
                </a:solidFill>
                <a:effectLst/>
                <a:latin typeface="KaTeX_Caligraphic"/>
              </a:rPr>
              <a:t>M</a:t>
            </a:r>
            <a:r>
              <a:rPr lang="zh-CN" altLang="en-US" sz="1200" b="0" i="0" dirty="0">
                <a:solidFill>
                  <a:srgbClr val="060607"/>
                </a:solidFill>
                <a:effectLst/>
                <a:latin typeface="inherit"/>
              </a:rPr>
              <a:t> 的尺寸为 </a:t>
            </a:r>
            <a:r>
              <a:rPr lang="en-US" altLang="zh-CN" sz="1200" b="0" i="0" dirty="0">
                <a:solidFill>
                  <a:srgbClr val="060607"/>
                </a:solidFill>
                <a:effectLst/>
                <a:latin typeface="KaTeX_AMS"/>
              </a:rPr>
              <a:t>R</a:t>
            </a:r>
            <a:r>
              <a:rPr lang="en-US" altLang="zh-CN" sz="1200" b="0" i="1" baseline="30000" dirty="0">
                <a:solidFill>
                  <a:srgbClr val="060607"/>
                </a:solidFill>
                <a:effectLst/>
                <a:latin typeface="KaTeX_Math"/>
              </a:rPr>
              <a:t>H</a:t>
            </a:r>
            <a:r>
              <a:rPr lang="en-US" altLang="zh-CN" sz="1200" b="0" i="0" baseline="30000" dirty="0">
                <a:solidFill>
                  <a:srgbClr val="060607"/>
                </a:solidFill>
                <a:effectLst/>
                <a:latin typeface="inherit"/>
              </a:rPr>
              <a:t>×</a:t>
            </a:r>
            <a:r>
              <a:rPr lang="en-US" altLang="zh-CN" sz="1200" b="0" i="1" baseline="30000" dirty="0">
                <a:solidFill>
                  <a:srgbClr val="060607"/>
                </a:solidFill>
                <a:effectLst/>
                <a:latin typeface="KaTeX_Math"/>
              </a:rPr>
              <a:t>W</a:t>
            </a:r>
            <a:r>
              <a:rPr lang="en-US" altLang="zh-CN" sz="1200" b="0" i="0" baseline="30000" dirty="0">
                <a:solidFill>
                  <a:srgbClr val="060607"/>
                </a:solidFill>
                <a:effectLst/>
                <a:latin typeface="inherit"/>
              </a:rPr>
              <a:t>×</a:t>
            </a:r>
            <a:r>
              <a:rPr lang="en-US" altLang="zh-CN" sz="1200" b="0" i="1" baseline="30000" dirty="0">
                <a:solidFill>
                  <a:srgbClr val="060607"/>
                </a:solidFill>
                <a:effectLst/>
                <a:latin typeface="KaTeX_Math"/>
              </a:rPr>
              <a:t>D</a:t>
            </a:r>
            <a:r>
              <a:rPr lang="zh-CN" altLang="en-US" sz="1200" b="0" i="0" dirty="0">
                <a:solidFill>
                  <a:srgbClr val="060607"/>
                </a:solidFill>
                <a:effectLst/>
                <a:latin typeface="inherit"/>
              </a:rPr>
              <a:t>，而</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 </a:t>
            </a:r>
            <a:r>
              <a:rPr lang="en-US" altLang="zh-CN" sz="1200" b="0" i="0" dirty="0">
                <a:solidFill>
                  <a:srgbClr val="060607"/>
                </a:solidFill>
                <a:effectLst/>
                <a:latin typeface="KaTeX_Caligraphic"/>
              </a:rPr>
              <a:t>P</a:t>
            </a:r>
            <a:r>
              <a:rPr lang="zh-CN" altLang="en-US" sz="1200" b="0" i="0" dirty="0">
                <a:solidFill>
                  <a:srgbClr val="060607"/>
                </a:solidFill>
                <a:effectLst/>
                <a:latin typeface="inherit"/>
              </a:rPr>
              <a:t> 的尺寸为 </a:t>
            </a:r>
            <a:r>
              <a:rPr lang="en-US" altLang="zh-CN" sz="1200" b="0" i="0" dirty="0">
                <a:solidFill>
                  <a:srgbClr val="060607"/>
                </a:solidFill>
                <a:effectLst/>
                <a:latin typeface="KaTeX_AMS"/>
              </a:rPr>
              <a:t>R</a:t>
            </a:r>
            <a:r>
              <a:rPr lang="en-US" altLang="zh-CN" sz="1200" b="0" i="1" baseline="30000" dirty="0">
                <a:solidFill>
                  <a:srgbClr val="060607"/>
                </a:solidFill>
                <a:effectLst/>
                <a:latin typeface="KaTeX_Math"/>
              </a:rPr>
              <a:t>H</a:t>
            </a:r>
            <a:r>
              <a:rPr lang="en-US" altLang="zh-CN" sz="1200" b="0" i="0" baseline="30000" dirty="0">
                <a:solidFill>
                  <a:srgbClr val="060607"/>
                </a:solidFill>
                <a:effectLst/>
                <a:latin typeface="inherit"/>
              </a:rPr>
              <a:t>×</a:t>
            </a:r>
            <a:r>
              <a:rPr lang="en-US" altLang="zh-CN" sz="1200" b="0" i="1" baseline="30000" dirty="0">
                <a:solidFill>
                  <a:srgbClr val="060607"/>
                </a:solidFill>
                <a:effectLst/>
                <a:latin typeface="KaTeX_Math"/>
              </a:rPr>
              <a:t>W</a:t>
            </a:r>
            <a:r>
              <a:rPr lang="en-US" altLang="zh-CN" sz="1200" b="0" i="0" baseline="30000" dirty="0">
                <a:solidFill>
                  <a:srgbClr val="060607"/>
                </a:solidFill>
                <a:effectLst/>
                <a:latin typeface="inherit"/>
              </a:rPr>
              <a:t>×</a:t>
            </a:r>
            <a:r>
              <a:rPr lang="en-US" altLang="zh-CN" sz="1200" b="0" i="1" baseline="30000" dirty="0">
                <a:solidFill>
                  <a:srgbClr val="060607"/>
                </a:solidFill>
                <a:effectLst/>
                <a:latin typeface="KaTeX_Math"/>
              </a:rPr>
              <a:t>D</a:t>
            </a:r>
            <a:r>
              <a:rPr lang="zh-CN" altLang="en-US" sz="1200" b="0" i="0" dirty="0">
                <a:solidFill>
                  <a:srgbClr val="060607"/>
                </a:solidFill>
                <a:effectLst/>
                <a:latin typeface="inherit"/>
              </a:rPr>
              <a:t>。</a:t>
            </a:r>
          </a:p>
          <a:p>
            <a:pPr algn="l" fontAlgn="base">
              <a:lnSpc>
                <a:spcPts val="1800"/>
              </a:lnSpc>
              <a:buFont typeface="+mj-lt"/>
              <a:buAutoNum type="arabicPeriod"/>
            </a:pPr>
            <a:r>
              <a:rPr lang="zh-CN" altLang="en-US" sz="1200" b="1" i="0" dirty="0">
                <a:solidFill>
                  <a:srgbClr val="060607"/>
                </a:solidFill>
                <a:effectLst/>
                <a:latin typeface="inherit"/>
              </a:rPr>
              <a:t>目标</a:t>
            </a:r>
            <a:r>
              <a:rPr lang="zh-CN" altLang="en-US" sz="1200" b="0" i="0" dirty="0">
                <a:solidFill>
                  <a:srgbClr val="060607"/>
                </a:solidFill>
                <a:effectLst/>
                <a:latin typeface="inherit"/>
              </a:rPr>
              <a:t>：</a:t>
            </a:r>
          </a:p>
          <a:p>
            <a:pPr lvl="1" algn="l" fontAlgn="base">
              <a:lnSpc>
                <a:spcPts val="1800"/>
              </a:lnSpc>
            </a:pPr>
            <a:r>
              <a:rPr lang="zh-CN" altLang="en-US" sz="1200" b="0" i="0" dirty="0">
                <a:solidFill>
                  <a:srgbClr val="060607"/>
                </a:solidFill>
                <a:effectLst/>
                <a:latin typeface="inherit"/>
              </a:rPr>
              <a:t>学习一个模型 </a:t>
            </a:r>
            <a:r>
              <a:rPr lang="en-US" altLang="zh-CN" sz="1200" b="0" i="1" dirty="0">
                <a:solidFill>
                  <a:srgbClr val="060607"/>
                </a:solidFill>
                <a:effectLst/>
                <a:latin typeface="KaTeX_Math"/>
              </a:rPr>
              <a:t>G</a:t>
            </a:r>
            <a:r>
              <a:rPr lang="en-US" altLang="zh-CN" sz="1200" b="0" i="0" dirty="0">
                <a:solidFill>
                  <a:srgbClr val="060607"/>
                </a:solidFill>
                <a:effectLst/>
                <a:latin typeface="KaTeX_Main"/>
              </a:rPr>
              <a:t>(⋅)</a:t>
            </a:r>
            <a:r>
              <a:rPr lang="zh-CN" altLang="en-US" sz="1200" b="0" i="0" dirty="0">
                <a:solidFill>
                  <a:srgbClr val="060607"/>
                </a:solidFill>
                <a:effectLst/>
                <a:latin typeface="inherit"/>
              </a:rPr>
              <a:t>，该模型能够处理训练数据集 </a:t>
            </a:r>
            <a:r>
              <a:rPr lang="en-US" altLang="zh-CN" sz="1200" b="0" i="1" dirty="0">
                <a:solidFill>
                  <a:srgbClr val="060607"/>
                </a:solidFill>
                <a:effectLst/>
                <a:latin typeface="KaTeX_Math"/>
              </a:rPr>
              <a:t>DT</a:t>
            </a:r>
            <a:r>
              <a:rPr lang="zh-CN" altLang="en-US" sz="1200" b="0" i="0" dirty="0">
                <a:solidFill>
                  <a:srgbClr val="060607"/>
                </a:solidFill>
                <a:effectLst/>
                <a:latin typeface="inherit"/>
              </a:rPr>
              <a:t>​ 中的</a:t>
            </a:r>
            <a:r>
              <a:rPr lang="en-US" altLang="zh-CN" sz="1200" b="0" i="0" dirty="0">
                <a:solidFill>
                  <a:srgbClr val="060607"/>
                </a:solidFill>
                <a:effectLst/>
                <a:latin typeface="inherit"/>
              </a:rPr>
              <a:t>MRI</a:t>
            </a:r>
            <a:r>
              <a:rPr lang="zh-CN" altLang="en-US" sz="1200" b="0" i="0" dirty="0">
                <a:solidFill>
                  <a:srgbClr val="060607"/>
                </a:solidFill>
                <a:effectLst/>
                <a:latin typeface="inherit"/>
              </a:rPr>
              <a:t>图像，并在给定任何未见过的</a:t>
            </a:r>
            <a:r>
              <a:rPr lang="zh-CN" altLang="en-US" sz="1200" dirty="0">
                <a:solidFill>
                  <a:srgbClr val="060607"/>
                </a:solidFill>
                <a:latin typeface="KaTeX_Main"/>
              </a:rPr>
              <a:t>不属于</a:t>
            </a:r>
            <a:r>
              <a:rPr lang="en-US" altLang="zh-CN" sz="1200" b="0" i="1" dirty="0">
                <a:solidFill>
                  <a:srgbClr val="060607"/>
                </a:solidFill>
                <a:effectLst/>
                <a:latin typeface="KaTeX_Math"/>
              </a:rPr>
              <a:t>DT</a:t>
            </a:r>
            <a:r>
              <a:rPr lang="zh-CN" altLang="en-US" sz="1200" b="0" i="0" dirty="0">
                <a:solidFill>
                  <a:srgbClr val="060607"/>
                </a:solidFill>
                <a:effectLst/>
                <a:latin typeface="inherit"/>
              </a:rPr>
              <a:t>​ 的</a:t>
            </a:r>
            <a:r>
              <a:rPr lang="en-US" altLang="zh-CN" sz="1200" b="0" i="0" dirty="0">
                <a:solidFill>
                  <a:srgbClr val="060607"/>
                </a:solidFill>
                <a:effectLst/>
                <a:latin typeface="inherit"/>
              </a:rPr>
              <a:t>MRI</a:t>
            </a:r>
            <a:r>
              <a:rPr lang="zh-CN" altLang="en-US" sz="1200" b="0" i="0" dirty="0">
                <a:solidFill>
                  <a:srgbClr val="060607"/>
                </a:solidFill>
                <a:effectLst/>
                <a:latin typeface="inherit"/>
              </a:rPr>
              <a:t>输入时，推断出其对应的</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 </a:t>
            </a:r>
            <a:r>
              <a:rPr lang="en-US" altLang="zh-CN" sz="1200" b="0" i="0" dirty="0">
                <a:solidFill>
                  <a:srgbClr val="060607"/>
                </a:solidFill>
                <a:effectLst/>
                <a:latin typeface="KaTeX_Caligraphic"/>
              </a:rPr>
              <a:t>P</a:t>
            </a:r>
            <a:r>
              <a:rPr lang="en-US" altLang="zh-CN" sz="1200" b="0" i="1" baseline="-25000" dirty="0">
                <a:solidFill>
                  <a:srgbClr val="060607"/>
                </a:solidFill>
                <a:effectLst/>
                <a:latin typeface="KaTeX_Math"/>
              </a:rPr>
              <a:t>s</a:t>
            </a:r>
            <a:r>
              <a:rPr lang="zh-CN" altLang="en-US" sz="1200" b="0" i="0" baseline="-2500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G</a:t>
            </a:r>
            <a:r>
              <a:rPr lang="en-US" altLang="zh-CN" sz="1200" b="0" i="0" dirty="0">
                <a:solidFill>
                  <a:srgbClr val="060607"/>
                </a:solidFill>
                <a:effectLst/>
                <a:latin typeface="KaTeX_Main"/>
              </a:rPr>
              <a:t>(</a:t>
            </a:r>
            <a:r>
              <a:rPr lang="en-US" altLang="zh-CN" sz="1200" b="0" i="0" dirty="0">
                <a:solidFill>
                  <a:srgbClr val="060607"/>
                </a:solidFill>
                <a:effectLst/>
                <a:latin typeface="KaTeX_Caligraphic"/>
              </a:rPr>
              <a:t>M</a:t>
            </a:r>
            <a:r>
              <a:rPr lang="en-US" altLang="zh-CN" sz="1200" b="0" i="1" baseline="-25000" dirty="0">
                <a:solidFill>
                  <a:srgbClr val="060607"/>
                </a:solidFill>
                <a:effectLst/>
                <a:latin typeface="KaTeX_Math"/>
              </a:rPr>
              <a:t>s</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zh-CN" altLang="en-US" sz="1200" b="0" i="0" dirty="0">
                <a:solidFill>
                  <a:srgbClr val="060607"/>
                </a:solidFill>
                <a:effectLst/>
                <a:latin typeface="inherit"/>
              </a:rPr>
              <a:t>。</a:t>
            </a:r>
          </a:p>
          <a:p>
            <a:pPr algn="l" fontAlgn="base">
              <a:lnSpc>
                <a:spcPts val="1800"/>
              </a:lnSpc>
              <a:buFont typeface="+mj-lt"/>
              <a:buAutoNum type="arabicPeriod"/>
            </a:pPr>
            <a:r>
              <a:rPr lang="zh-CN" altLang="en-US" sz="1200" b="1" i="0" dirty="0">
                <a:solidFill>
                  <a:srgbClr val="060607"/>
                </a:solidFill>
                <a:effectLst/>
                <a:latin typeface="inherit"/>
              </a:rPr>
              <a:t>条件臂（</a:t>
            </a:r>
            <a:r>
              <a:rPr lang="en-US" altLang="zh-CN" sz="1200" b="1" i="0" dirty="0">
                <a:solidFill>
                  <a:srgbClr val="060607"/>
                </a:solidFill>
                <a:effectLst/>
                <a:latin typeface="inherit"/>
              </a:rPr>
              <a:t>Conditioner Arm</a:t>
            </a:r>
            <a:r>
              <a:rPr lang="zh-CN" altLang="en-US" sz="1200" b="1" i="0" dirty="0">
                <a:solidFill>
                  <a:srgbClr val="060607"/>
                </a:solidFill>
                <a:effectLst/>
                <a:latin typeface="inherit"/>
              </a:rPr>
              <a:t>）</a:t>
            </a:r>
            <a:r>
              <a:rPr lang="zh-CN" altLang="en-US" sz="1200" b="0" i="0" dirty="0">
                <a:solidFill>
                  <a:srgbClr val="060607"/>
                </a:solidFill>
                <a:effectLst/>
                <a:latin typeface="inherit"/>
              </a:rPr>
              <a:t>：</a:t>
            </a:r>
          </a:p>
          <a:p>
            <a:pPr lvl="1" algn="l" fontAlgn="base">
              <a:lnSpc>
                <a:spcPts val="1800"/>
              </a:lnSpc>
            </a:pPr>
            <a:r>
              <a:rPr lang="en-US" altLang="zh-CN" sz="1200" b="0" i="0" dirty="0">
                <a:solidFill>
                  <a:srgbClr val="060607"/>
                </a:solidFill>
                <a:effectLst/>
                <a:latin typeface="inherit"/>
              </a:rPr>
              <a:t>MRI</a:t>
            </a:r>
            <a:r>
              <a:rPr lang="zh-CN" altLang="en-US" sz="1200" b="0" i="0" dirty="0">
                <a:solidFill>
                  <a:srgbClr val="060607"/>
                </a:solidFill>
                <a:effectLst/>
                <a:latin typeface="inherit"/>
              </a:rPr>
              <a:t>输入 </a:t>
            </a:r>
            <a:r>
              <a:rPr lang="en-US" altLang="zh-CN" sz="1200" b="0" i="0" dirty="0">
                <a:solidFill>
                  <a:srgbClr val="060607"/>
                </a:solidFill>
                <a:effectLst/>
                <a:latin typeface="KaTeX_Caligraphic"/>
              </a:rPr>
              <a:t>M</a:t>
            </a:r>
            <a:r>
              <a:rPr lang="zh-CN" altLang="en-US" sz="1200" b="0" i="0" dirty="0">
                <a:solidFill>
                  <a:srgbClr val="060607"/>
                </a:solidFill>
                <a:effectLst/>
                <a:latin typeface="inherit"/>
              </a:rPr>
              <a:t> 首先通过条件臂，生成多尺度任务特定的表示 </a:t>
            </a:r>
            <a:r>
              <a:rPr lang="en-US" altLang="zh-CN" sz="1200" b="0" i="1" dirty="0">
                <a:solidFill>
                  <a:srgbClr val="060607"/>
                </a:solidFill>
                <a:effectLst/>
                <a:latin typeface="KaTeX_Math"/>
              </a:rPr>
              <a:t>h</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​，表示为 </a:t>
            </a:r>
            <a:r>
              <a:rPr lang="en-US" altLang="zh-CN" sz="1200" b="0" i="0" dirty="0">
                <a:solidFill>
                  <a:srgbClr val="060607"/>
                </a:solidFill>
                <a:effectLst/>
                <a:latin typeface="KaTeX_Caligraphic"/>
              </a:rPr>
              <a:t>M</a:t>
            </a:r>
            <a:r>
              <a:rPr lang="en-US" altLang="zh-CN" sz="1200" b="0" i="0" baseline="30000" dirty="0">
                <a:solidFill>
                  <a:srgbClr val="060607"/>
                </a:solidFill>
                <a:effectLst/>
                <a:latin typeface="KaTeX_Main"/>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ϕ</a:t>
            </a:r>
            <a:r>
              <a:rPr lang="en-US" altLang="zh-CN" sz="1200" b="0" i="1" baseline="-25000" dirty="0">
                <a:solidFill>
                  <a:srgbClr val="060607"/>
                </a:solidFill>
                <a:effectLst/>
                <a:latin typeface="KaTeX_Math"/>
              </a:rPr>
              <a:t>ω</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0" dirty="0">
                <a:solidFill>
                  <a:srgbClr val="060607"/>
                </a:solidFill>
                <a:effectLst/>
                <a:latin typeface="KaTeX_Caligraphic"/>
              </a:rPr>
              <a:t>M</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h</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zh-CN" altLang="en-US" sz="1200" b="0" i="0" dirty="0">
                <a:solidFill>
                  <a:srgbClr val="060607"/>
                </a:solidFill>
                <a:effectLst/>
                <a:latin typeface="inherit"/>
              </a:rPr>
              <a:t>，其中 </a:t>
            </a:r>
            <a:r>
              <a:rPr lang="en-US" altLang="zh-CN" sz="1200" b="0" i="1" dirty="0">
                <a:solidFill>
                  <a:srgbClr val="060607"/>
                </a:solidFill>
                <a:effectLst/>
                <a:latin typeface="KaTeX_Math"/>
              </a:rPr>
              <a:t>ϕ</a:t>
            </a:r>
            <a:r>
              <a:rPr lang="en-US" altLang="zh-CN" sz="1200" b="0" i="1" baseline="-25000" dirty="0">
                <a:solidFill>
                  <a:srgbClr val="060607"/>
                </a:solidFill>
                <a:effectLst/>
                <a:latin typeface="KaTeX_Math"/>
              </a:rPr>
              <a:t>ω</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zh-CN" altLang="en-US" sz="1200" b="0" i="0" dirty="0">
                <a:solidFill>
                  <a:srgbClr val="060607"/>
                </a:solidFill>
                <a:effectLst/>
                <a:latin typeface="inherit"/>
              </a:rPr>
              <a:t> 是由参数 </a:t>
            </a:r>
            <a:r>
              <a:rPr lang="en-US" altLang="zh-CN" sz="1200" b="0" i="1" dirty="0">
                <a:solidFill>
                  <a:srgbClr val="060607"/>
                </a:solidFill>
                <a:effectLst/>
                <a:latin typeface="KaTeX_Math"/>
              </a:rPr>
              <a:t>ω</a:t>
            </a:r>
            <a:r>
              <a:rPr lang="zh-CN" altLang="en-US" sz="1200" b="0" i="0" dirty="0">
                <a:solidFill>
                  <a:srgbClr val="060607"/>
                </a:solidFill>
                <a:effectLst/>
                <a:latin typeface="inherit"/>
              </a:rPr>
              <a:t> 定义的条件模型。</a:t>
            </a:r>
          </a:p>
          <a:p>
            <a:pPr lvl="1" algn="l" fontAlgn="base">
              <a:lnSpc>
                <a:spcPts val="1800"/>
              </a:lnSpc>
            </a:pPr>
            <a:r>
              <a:rPr lang="zh-CN" altLang="en-US" sz="1200" b="0" i="0" dirty="0">
                <a:solidFill>
                  <a:srgbClr val="060607"/>
                </a:solidFill>
                <a:effectLst/>
                <a:latin typeface="inherit"/>
              </a:rPr>
              <a:t>任务特定的表示 </a:t>
            </a:r>
            <a:r>
              <a:rPr lang="en-US" altLang="zh-CN" sz="1200" b="0" i="1" dirty="0">
                <a:solidFill>
                  <a:srgbClr val="060607"/>
                </a:solidFill>
                <a:effectLst/>
                <a:latin typeface="KaTeX_Math"/>
              </a:rPr>
              <a:t>hm</a:t>
            </a:r>
            <a:r>
              <a:rPr lang="zh-CN" altLang="en-US" sz="1200" b="0" i="0" dirty="0">
                <a:solidFill>
                  <a:srgbClr val="060607"/>
                </a:solidFill>
                <a:effectLst/>
                <a:latin typeface="inherit"/>
              </a:rPr>
              <a:t>​ 包括从 </a:t>
            </a:r>
            <a:r>
              <a:rPr lang="en-US" altLang="zh-CN" sz="1200" b="0" i="1" dirty="0">
                <a:solidFill>
                  <a:srgbClr val="060607"/>
                </a:solidFill>
                <a:effectLst/>
                <a:latin typeface="KaTeX_Math"/>
              </a:rPr>
              <a:t>ϕω</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zh-CN" altLang="en-US" sz="1200" b="0" i="0" dirty="0">
                <a:solidFill>
                  <a:srgbClr val="060607"/>
                </a:solidFill>
                <a:effectLst/>
                <a:latin typeface="inherit"/>
              </a:rPr>
              <a:t> 在多尺度上生成的中间特征图，其中 </a:t>
            </a:r>
            <a:r>
              <a:rPr lang="en-US" altLang="zh-CN" sz="1200" b="0" i="1" dirty="0">
                <a:solidFill>
                  <a:srgbClr val="060607"/>
                </a:solidFill>
                <a:effectLst/>
                <a:latin typeface="KaTeX_Math"/>
              </a:rPr>
              <a:t>n</a:t>
            </a:r>
            <a:r>
              <a:rPr lang="zh-CN" altLang="en-US" sz="1200" b="0" i="0" dirty="0">
                <a:solidFill>
                  <a:srgbClr val="060607"/>
                </a:solidFill>
                <a:effectLst/>
                <a:latin typeface="inherit"/>
              </a:rPr>
              <a:t> 是条件臂中残差块的数量。这些表示将有助于</a:t>
            </a:r>
            <a:r>
              <a:rPr lang="en-US" altLang="zh-CN" sz="1200" b="0" i="0" dirty="0">
                <a:solidFill>
                  <a:srgbClr val="060607"/>
                </a:solidFill>
                <a:effectLst/>
                <a:latin typeface="inherit"/>
              </a:rPr>
              <a:t>PET</a:t>
            </a:r>
            <a:r>
              <a:rPr lang="zh-CN" altLang="en-US" sz="1200" b="0" i="0" dirty="0">
                <a:solidFill>
                  <a:srgbClr val="060607"/>
                </a:solidFill>
                <a:effectLst/>
                <a:latin typeface="inherit"/>
              </a:rPr>
              <a:t>的合成。</a:t>
            </a:r>
          </a:p>
          <a:p>
            <a:pPr algn="l" fontAlgn="base">
              <a:lnSpc>
                <a:spcPts val="1800"/>
              </a:lnSpc>
              <a:buFont typeface="+mj-lt"/>
              <a:buAutoNum type="arabicPeriod"/>
            </a:pPr>
            <a:r>
              <a:rPr lang="zh-CN" altLang="en-US" sz="1200" b="1" i="0" dirty="0">
                <a:solidFill>
                  <a:srgbClr val="060607"/>
                </a:solidFill>
                <a:effectLst/>
                <a:latin typeface="inherit"/>
              </a:rPr>
              <a:t>条件臂的任务</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条件臂执行预定义的任务，将</a:t>
            </a:r>
            <a:r>
              <a:rPr lang="en-US" altLang="zh-CN" sz="1200" b="0" i="0" dirty="0">
                <a:solidFill>
                  <a:srgbClr val="060607"/>
                </a:solidFill>
                <a:effectLst/>
                <a:latin typeface="inherit"/>
              </a:rPr>
              <a:t>MRI</a:t>
            </a:r>
            <a:r>
              <a:rPr lang="zh-CN" altLang="en-US" sz="1200" b="0" i="0" dirty="0">
                <a:solidFill>
                  <a:srgbClr val="060607"/>
                </a:solidFill>
                <a:effectLst/>
                <a:latin typeface="inherit"/>
              </a:rPr>
              <a:t>转换为 </a:t>
            </a:r>
            <a:r>
              <a:rPr lang="en-US" altLang="zh-CN" sz="1200" b="0" i="1" dirty="0">
                <a:solidFill>
                  <a:srgbClr val="060607"/>
                </a:solidFill>
                <a:effectLst/>
                <a:latin typeface="KaTeX_Math"/>
              </a:rPr>
              <a:t>h</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​，包括</a:t>
            </a:r>
            <a:r>
              <a:rPr lang="en-US" altLang="zh-CN" sz="1200" b="0" i="0" dirty="0">
                <a:solidFill>
                  <a:srgbClr val="060607"/>
                </a:solidFill>
                <a:effectLst/>
                <a:latin typeface="inherit"/>
              </a:rPr>
              <a:t>MRI</a:t>
            </a:r>
            <a:r>
              <a:rPr lang="zh-CN" altLang="en-US" sz="1200" b="0" i="0" dirty="0">
                <a:solidFill>
                  <a:srgbClr val="060607"/>
                </a:solidFill>
                <a:effectLst/>
                <a:latin typeface="inherit"/>
              </a:rPr>
              <a:t>重建和</a:t>
            </a:r>
            <a:r>
              <a:rPr lang="en-US" altLang="zh-CN" sz="1200" b="0" i="0" dirty="0">
                <a:solidFill>
                  <a:srgbClr val="060607"/>
                </a:solidFill>
                <a:effectLst/>
                <a:latin typeface="inherit"/>
              </a:rPr>
              <a:t>MRI</a:t>
            </a:r>
            <a:r>
              <a:rPr lang="zh-CN" altLang="en-US" sz="1200" b="0" i="0" dirty="0">
                <a:solidFill>
                  <a:srgbClr val="060607"/>
                </a:solidFill>
                <a:effectLst/>
                <a:latin typeface="inherit"/>
              </a:rPr>
              <a:t>到</a:t>
            </a:r>
            <a:r>
              <a:rPr lang="en-US" altLang="zh-CN" sz="1200" b="0" i="0" dirty="0">
                <a:solidFill>
                  <a:srgbClr val="060607"/>
                </a:solidFill>
                <a:effectLst/>
                <a:latin typeface="inherit"/>
              </a:rPr>
              <a:t>PET</a:t>
            </a:r>
            <a:r>
              <a:rPr lang="zh-CN" altLang="en-US" sz="1200" b="0" i="0" dirty="0">
                <a:solidFill>
                  <a:srgbClr val="060607"/>
                </a:solidFill>
                <a:effectLst/>
                <a:latin typeface="inherit"/>
              </a:rPr>
              <a:t>的转换，每个任务都有其自身的训练目标。</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以</a:t>
            </a:r>
            <a:r>
              <a:rPr lang="en-US" altLang="zh-CN" sz="1200" b="0" i="0" dirty="0">
                <a:solidFill>
                  <a:srgbClr val="060607"/>
                </a:solidFill>
                <a:effectLst/>
                <a:latin typeface="inherit"/>
              </a:rPr>
              <a:t>MRI</a:t>
            </a:r>
            <a:r>
              <a:rPr lang="zh-CN" altLang="en-US" sz="1200" b="0" i="0" dirty="0">
                <a:solidFill>
                  <a:srgbClr val="060607"/>
                </a:solidFill>
                <a:effectLst/>
                <a:latin typeface="inherit"/>
              </a:rPr>
              <a:t>到</a:t>
            </a:r>
            <a:r>
              <a:rPr lang="en-US" altLang="zh-CN" sz="1200" b="0" i="0" dirty="0">
                <a:solidFill>
                  <a:srgbClr val="060607"/>
                </a:solidFill>
                <a:effectLst/>
                <a:latin typeface="inherit"/>
              </a:rPr>
              <a:t>PET</a:t>
            </a:r>
            <a:r>
              <a:rPr lang="zh-CN" altLang="en-US" sz="1200" b="0" i="0" dirty="0">
                <a:solidFill>
                  <a:srgbClr val="060607"/>
                </a:solidFill>
                <a:effectLst/>
                <a:latin typeface="inherit"/>
              </a:rPr>
              <a:t>转换为预定义任务为例，条件臂被训练以最小化原始</a:t>
            </a:r>
            <a:r>
              <a:rPr lang="en-US" altLang="zh-CN" sz="1200" b="0" i="0" dirty="0">
                <a:solidFill>
                  <a:srgbClr val="060607"/>
                </a:solidFill>
                <a:effectLst/>
                <a:latin typeface="inherit"/>
              </a:rPr>
              <a:t>PET</a:t>
            </a:r>
            <a:r>
              <a:rPr lang="zh-CN" altLang="en-US" sz="1200" b="0" i="0" dirty="0">
                <a:solidFill>
                  <a:srgbClr val="060607"/>
                </a:solidFill>
                <a:effectLst/>
                <a:latin typeface="inherit"/>
              </a:rPr>
              <a:t>和条件输出之间的像素级距离，使用距离度量 </a:t>
            </a:r>
            <a:r>
              <a:rPr lang="en-US" altLang="zh-CN" sz="1200" b="0" i="1" dirty="0">
                <a:solidFill>
                  <a:srgbClr val="060607"/>
                </a:solidFill>
                <a:effectLst/>
                <a:latin typeface="KaTeX_Math"/>
              </a:rPr>
              <a:t>disc</a:t>
            </a:r>
            <a:r>
              <a:rPr lang="en-US" altLang="zh-CN" sz="1200" b="0" i="0" dirty="0">
                <a:solidFill>
                  <a:srgbClr val="060607"/>
                </a:solidFill>
                <a:effectLst/>
                <a:latin typeface="KaTeX_Main"/>
              </a:rPr>
              <a:t>(⋅)</a:t>
            </a:r>
            <a:r>
              <a:rPr lang="zh-CN" altLang="en-US" sz="1200" b="0" i="0" dirty="0">
                <a:solidFill>
                  <a:srgbClr val="060607"/>
                </a:solidFill>
                <a:effectLst/>
                <a:latin typeface="inherit"/>
              </a:rPr>
              <a:t> 如 </a:t>
            </a:r>
            <a:r>
              <a:rPr lang="en-US" altLang="zh-CN" sz="1200" b="0" i="1" dirty="0">
                <a:solidFill>
                  <a:srgbClr val="060607"/>
                </a:solidFill>
                <a:effectLst/>
                <a:latin typeface="KaTeX_Math"/>
              </a:rPr>
              <a:t>L</a:t>
            </a:r>
            <a:r>
              <a:rPr lang="en-US" altLang="zh-CN" sz="1200" b="0" i="0" dirty="0">
                <a:solidFill>
                  <a:srgbClr val="060607"/>
                </a:solidFill>
                <a:effectLst/>
                <a:latin typeface="inherit"/>
              </a:rPr>
              <a:t>1​ </a:t>
            </a:r>
            <a:r>
              <a:rPr lang="zh-CN" altLang="en-US" sz="1200" b="0" i="0" dirty="0">
                <a:solidFill>
                  <a:srgbClr val="060607"/>
                </a:solidFill>
                <a:effectLst/>
                <a:latin typeface="inherit"/>
              </a:rPr>
              <a:t>或 </a:t>
            </a:r>
            <a:r>
              <a:rPr lang="en-US" altLang="zh-CN" sz="1200" b="0" i="1" dirty="0">
                <a:solidFill>
                  <a:srgbClr val="060607"/>
                </a:solidFill>
                <a:effectLst/>
                <a:latin typeface="KaTeX_Math"/>
              </a:rPr>
              <a:t>L</a:t>
            </a:r>
            <a:r>
              <a:rPr lang="en-US" altLang="zh-CN" sz="1200" b="0" i="0" dirty="0">
                <a:solidFill>
                  <a:srgbClr val="060607"/>
                </a:solidFill>
                <a:effectLst/>
                <a:latin typeface="inherit"/>
              </a:rPr>
              <a:t>2​</a:t>
            </a:r>
            <a:r>
              <a:rPr lang="zh-CN" altLang="en-US" sz="1200" b="0" i="0" dirty="0">
                <a:solidFill>
                  <a:srgbClr val="060607"/>
                </a:solidFill>
                <a:effectLst/>
                <a:latin typeface="inherit"/>
              </a:rPr>
              <a:t>。</a:t>
            </a:r>
          </a:p>
          <a:p>
            <a:pPr algn="l" fontAlgn="base">
              <a:lnSpc>
                <a:spcPts val="1800"/>
              </a:lnSpc>
              <a:buFont typeface="+mj-lt"/>
              <a:buAutoNum type="arabicPeriod"/>
            </a:pPr>
            <a:r>
              <a:rPr lang="zh-CN" altLang="en-US" sz="1200" b="1" i="0" dirty="0">
                <a:solidFill>
                  <a:srgbClr val="060607"/>
                </a:solidFill>
                <a:effectLst/>
                <a:latin typeface="inherit"/>
              </a:rPr>
              <a:t>损失函数</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损失函数 </a:t>
            </a:r>
            <a:r>
              <a:rPr lang="en-US" altLang="zh-CN" sz="1200" b="0" i="0" dirty="0">
                <a:solidFill>
                  <a:srgbClr val="060607"/>
                </a:solidFill>
                <a:effectLst/>
                <a:latin typeface="KaTeX_Caligraphic"/>
              </a:rPr>
              <a:t>L</a:t>
            </a:r>
            <a:r>
              <a:rPr lang="en-US" altLang="zh-CN" sz="1200" b="0" i="1" baseline="-25000" dirty="0">
                <a:solidFill>
                  <a:srgbClr val="060607"/>
                </a:solidFill>
                <a:effectLst/>
                <a:latin typeface="KaTeX_Math"/>
              </a:rPr>
              <a:t>task</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ω</a:t>
            </a:r>
            <a:r>
              <a:rPr lang="en-US" altLang="zh-CN" sz="1200" b="0" i="0" dirty="0">
                <a:solidFill>
                  <a:srgbClr val="060607"/>
                </a:solidFill>
                <a:effectLst/>
                <a:latin typeface="KaTeX_Main"/>
              </a:rPr>
              <a:t>)</a:t>
            </a:r>
            <a:r>
              <a:rPr lang="zh-CN" altLang="en-US" sz="1200" b="0" i="0" dirty="0">
                <a:solidFill>
                  <a:srgbClr val="060607"/>
                </a:solidFill>
                <a:effectLst/>
                <a:latin typeface="inherit"/>
              </a:rPr>
              <a:t> 表示为：</a:t>
            </a:r>
          </a:p>
          <a:p>
            <a:pPr marL="742950" lvl="1" indent="-285750" algn="l" fontAlgn="base">
              <a:lnSpc>
                <a:spcPts val="1800"/>
              </a:lnSpc>
              <a:buFont typeface="+mj-lt"/>
              <a:buAutoNum type="arabicPeriod"/>
            </a:pPr>
            <a:r>
              <a:rPr lang="en-US" altLang="zh-CN" sz="1200" b="0" i="0" dirty="0">
                <a:solidFill>
                  <a:srgbClr val="060607"/>
                </a:solidFill>
                <a:effectLst/>
                <a:latin typeface="KaTeX_Caligraphic"/>
              </a:rPr>
              <a:t>L</a:t>
            </a:r>
            <a:r>
              <a:rPr lang="en-US" altLang="zh-CN" sz="1200" b="0" i="1" baseline="-25000" dirty="0">
                <a:solidFill>
                  <a:srgbClr val="060607"/>
                </a:solidFill>
                <a:effectLst/>
                <a:latin typeface="KaTeX_Math"/>
              </a:rPr>
              <a:t>task</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ω</a:t>
            </a:r>
            <a:r>
              <a:rPr lang="en-US" altLang="zh-CN" sz="1200" b="0" i="0" dirty="0">
                <a:solidFill>
                  <a:srgbClr val="060607"/>
                </a:solidFill>
                <a:effectLst/>
                <a:latin typeface="KaTeX_Main"/>
              </a:rPr>
              <a:t>)=</a:t>
            </a:r>
            <a:r>
              <a:rPr lang="en-US" altLang="zh-CN" sz="1200" b="0" i="0" dirty="0">
                <a:solidFill>
                  <a:srgbClr val="060607"/>
                </a:solidFill>
                <a:effectLst/>
                <a:latin typeface="KaTeX_AMS"/>
              </a:rPr>
              <a:t>E</a:t>
            </a:r>
            <a:r>
              <a:rPr lang="en-US" altLang="zh-CN" sz="1200" b="0" i="0" dirty="0">
                <a:solidFill>
                  <a:srgbClr val="060607"/>
                </a:solidFill>
                <a:effectLst/>
                <a:latin typeface="KaTeX_Caligraphic"/>
              </a:rPr>
              <a:t>M</a:t>
            </a:r>
            <a:r>
              <a:rPr lang="en-US" altLang="zh-CN" sz="1200" b="0" i="0" dirty="0">
                <a:solidFill>
                  <a:srgbClr val="060607"/>
                </a:solidFill>
                <a:effectLst/>
                <a:latin typeface="inherit"/>
              </a:rPr>
              <a:t>,</a:t>
            </a:r>
            <a:r>
              <a:rPr lang="en-US" altLang="zh-CN" sz="1200" b="0" i="0" dirty="0">
                <a:solidFill>
                  <a:srgbClr val="060607"/>
                </a:solidFill>
                <a:effectLst/>
                <a:latin typeface="KaTeX_Caligraphic"/>
              </a:rPr>
              <a:t>P</a:t>
            </a:r>
            <a:r>
              <a:rPr lang="zh-CN" altLang="en-US" sz="1200" b="0" i="0" dirty="0">
                <a:solidFill>
                  <a:srgbClr val="060607"/>
                </a:solidFill>
                <a:effectLst/>
                <a:latin typeface="inherit"/>
              </a:rPr>
              <a:t>​</a:t>
            </a:r>
            <a:r>
              <a:rPr lang="en-US" altLang="zh-CN" sz="1200" b="0" i="1" baseline="-25000" dirty="0">
                <a:solidFill>
                  <a:srgbClr val="060607"/>
                </a:solidFill>
                <a:effectLst/>
                <a:latin typeface="KaTeX_Math"/>
              </a:rPr>
              <a:t>dist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ϕω</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0" dirty="0">
                <a:solidFill>
                  <a:srgbClr val="060607"/>
                </a:solidFill>
                <a:effectLst/>
                <a:latin typeface="KaTeX_Caligraphic"/>
              </a:rPr>
              <a:t>M</a:t>
            </a:r>
            <a:r>
              <a:rPr lang="en-US" altLang="zh-CN" sz="1200" b="0" i="0" dirty="0">
                <a:solidFill>
                  <a:srgbClr val="060607"/>
                </a:solidFill>
                <a:effectLst/>
                <a:latin typeface="KaTeX_Main"/>
              </a:rPr>
              <a:t>),</a:t>
            </a:r>
            <a:r>
              <a:rPr lang="en-US" altLang="zh-CN" sz="1200" b="0" i="0" dirty="0">
                <a:solidFill>
                  <a:srgbClr val="060607"/>
                </a:solidFill>
                <a:effectLst/>
                <a:latin typeface="KaTeX_Caligraphic"/>
              </a:rPr>
              <a:t>P</a:t>
            </a:r>
            <a:r>
              <a:rPr lang="en-US" altLang="zh-CN" sz="1200" b="0" i="0" dirty="0">
                <a:solidFill>
                  <a:srgbClr val="060607"/>
                </a:solidFill>
                <a:effectLst/>
                <a:latin typeface="KaTeX_Main"/>
              </a:rPr>
              <a:t>)</a:t>
            </a:r>
            <a:endParaRPr lang="zh-CN" altLang="en-US" sz="1200" b="0" i="0" dirty="0">
              <a:solidFill>
                <a:srgbClr val="060607"/>
              </a:solidFill>
              <a:effectLst/>
              <a:latin typeface="inherit"/>
            </a:endParaRPr>
          </a:p>
          <a:p>
            <a:pPr marL="742950" lvl="1" indent="-285750" algn="l" fontAlgn="base">
              <a:lnSpc>
                <a:spcPts val="1800"/>
              </a:lnSpc>
              <a:buFont typeface="+mj-lt"/>
              <a:buAutoNum type="arabicPeriod"/>
            </a:pPr>
            <a:r>
              <a:rPr lang="zh-CN" altLang="en-US" sz="1200" b="0" i="0" dirty="0">
                <a:solidFill>
                  <a:srgbClr val="060607"/>
                </a:solidFill>
                <a:effectLst/>
                <a:latin typeface="inherit"/>
              </a:rPr>
              <a:t>这表示模型参数 </a:t>
            </a:r>
            <a:r>
              <a:rPr lang="en-US" altLang="zh-CN" sz="1200" b="0" i="1" dirty="0">
                <a:solidFill>
                  <a:srgbClr val="060607"/>
                </a:solidFill>
                <a:effectLst/>
                <a:latin typeface="KaTeX_Math"/>
              </a:rPr>
              <a:t>ω</a:t>
            </a:r>
            <a:r>
              <a:rPr lang="zh-CN" altLang="en-US" sz="1200" b="0" i="0" dirty="0">
                <a:solidFill>
                  <a:srgbClr val="060607"/>
                </a:solidFill>
                <a:effectLst/>
                <a:latin typeface="inherit"/>
              </a:rPr>
              <a:t> 的期望损失，通过最小化条件输出和原始</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图像之间的距离来优化模型。</a:t>
            </a:r>
          </a:p>
          <a:p>
            <a:pPr algn="l" fontAlgn="base">
              <a:lnSpc>
                <a:spcPts val="1800"/>
              </a:lnSpc>
              <a:buFont typeface="+mj-lt"/>
              <a:buAutoNum type="arabicPeriod"/>
            </a:pPr>
            <a:r>
              <a:rPr lang="zh-CN" altLang="en-US" sz="1200" b="1" i="0" dirty="0">
                <a:solidFill>
                  <a:srgbClr val="060607"/>
                </a:solidFill>
                <a:effectLst/>
                <a:latin typeface="inherit"/>
              </a:rPr>
              <a:t>预定义任务</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文献中提到，</a:t>
            </a:r>
            <a:r>
              <a:rPr lang="en-US" altLang="zh-CN" sz="1200" b="0" i="0" dirty="0">
                <a:solidFill>
                  <a:srgbClr val="060607"/>
                </a:solidFill>
                <a:effectLst/>
                <a:latin typeface="inherit"/>
              </a:rPr>
              <a:t>MRI</a:t>
            </a:r>
            <a:r>
              <a:rPr lang="zh-CN" altLang="en-US" sz="1200" b="0" i="0" dirty="0">
                <a:solidFill>
                  <a:srgbClr val="060607"/>
                </a:solidFill>
                <a:effectLst/>
                <a:latin typeface="inherit"/>
              </a:rPr>
              <a:t>到</a:t>
            </a:r>
            <a:r>
              <a:rPr lang="en-US" altLang="zh-CN" sz="1200" b="0" i="0" dirty="0">
                <a:solidFill>
                  <a:srgbClr val="060607"/>
                </a:solidFill>
                <a:effectLst/>
                <a:latin typeface="inherit"/>
              </a:rPr>
              <a:t>PET</a:t>
            </a:r>
            <a:r>
              <a:rPr lang="zh-CN" altLang="en-US" sz="1200" b="0" i="0" dirty="0">
                <a:solidFill>
                  <a:srgbClr val="060607"/>
                </a:solidFill>
                <a:effectLst/>
                <a:latin typeface="inherit"/>
              </a:rPr>
              <a:t>转换被用作预定义任务，因为它在实验中表现最好。其他任务的有效性将在文献的第</a:t>
            </a:r>
            <a:r>
              <a:rPr lang="en-US" altLang="zh-CN" sz="1200" b="0" i="0" dirty="0">
                <a:solidFill>
                  <a:srgbClr val="060607"/>
                </a:solidFill>
                <a:effectLst/>
                <a:latin typeface="inherit"/>
              </a:rPr>
              <a:t>4</a:t>
            </a:r>
            <a:r>
              <a:rPr lang="zh-CN" altLang="en-US" sz="1200" b="0" i="0" dirty="0">
                <a:solidFill>
                  <a:srgbClr val="060607"/>
                </a:solidFill>
                <a:effectLst/>
                <a:latin typeface="inherit"/>
              </a:rPr>
              <a:t>节中进行研究。</a:t>
            </a:r>
            <a:r>
              <a:rPr lang="en-US" altLang="zh-CN" sz="1200" dirty="0">
                <a:solidFill>
                  <a:srgbClr val="0070C0"/>
                </a:solidFill>
                <a:latin typeface="inherit"/>
              </a:rPr>
              <a:t>[1]</a:t>
            </a:r>
            <a:endParaRPr lang="zh-CN" altLang="en-US" sz="1200" b="0" i="0" dirty="0">
              <a:solidFill>
                <a:srgbClr val="0070C0"/>
              </a:solidFill>
              <a:effectLst/>
              <a:latin typeface="inherit"/>
            </a:endParaRPr>
          </a:p>
        </p:txBody>
      </p:sp>
      <p:sp>
        <p:nvSpPr>
          <p:cNvPr id="6" name="文本框 5">
            <a:extLst>
              <a:ext uri="{FF2B5EF4-FFF2-40B4-BE49-F238E27FC236}">
                <a16:creationId xmlns:a16="http://schemas.microsoft.com/office/drawing/2014/main" id="{5E9769A2-CAB2-5BEE-463E-60FE0BD236EA}"/>
              </a:ext>
            </a:extLst>
          </p:cNvPr>
          <p:cNvSpPr txBox="1"/>
          <p:nvPr/>
        </p:nvSpPr>
        <p:spPr>
          <a:xfrm>
            <a:off x="10401300" y="180975"/>
            <a:ext cx="1552575" cy="369332"/>
          </a:xfrm>
          <a:prstGeom prst="rect">
            <a:avLst/>
          </a:prstGeom>
          <a:noFill/>
        </p:spPr>
        <p:txBody>
          <a:bodyPr wrap="square" rtlCol="0">
            <a:spAutoFit/>
          </a:bodyPr>
          <a:lstStyle/>
          <a:p>
            <a:r>
              <a:rPr lang="zh-CN" altLang="en-US" b="1" dirty="0"/>
              <a:t>模型架构</a:t>
            </a:r>
            <a:endParaRPr lang="en-US" altLang="zh-CN" b="1" dirty="0"/>
          </a:p>
        </p:txBody>
      </p:sp>
      <p:sp>
        <p:nvSpPr>
          <p:cNvPr id="4" name="文本框 3">
            <a:extLst>
              <a:ext uri="{FF2B5EF4-FFF2-40B4-BE49-F238E27FC236}">
                <a16:creationId xmlns:a16="http://schemas.microsoft.com/office/drawing/2014/main" id="{14CE1B2B-3B8D-9013-4DF3-137FC2710F28}"/>
              </a:ext>
            </a:extLst>
          </p:cNvPr>
          <p:cNvSpPr txBox="1"/>
          <p:nvPr/>
        </p:nvSpPr>
        <p:spPr>
          <a:xfrm>
            <a:off x="6667500" y="4593193"/>
            <a:ext cx="4295775" cy="1477328"/>
          </a:xfrm>
          <a:prstGeom prst="rect">
            <a:avLst/>
          </a:prstGeom>
          <a:noFill/>
        </p:spPr>
        <p:txBody>
          <a:bodyPr wrap="square" rtlCol="0">
            <a:spAutoFit/>
          </a:bodyPr>
          <a:lstStyle/>
          <a:p>
            <a:r>
              <a:rPr lang="zh-CN" altLang="en-US" dirty="0"/>
              <a:t>在训练集上训练条件臂，核心</a:t>
            </a:r>
            <a:r>
              <a:rPr lang="zh-CN" altLang="en-US"/>
              <a:t>就是训练</a:t>
            </a:r>
            <a:r>
              <a:rPr lang="zh-CN" altLang="en-US" b="0" i="0">
                <a:solidFill>
                  <a:srgbClr val="060607"/>
                </a:solidFill>
                <a:effectLst/>
                <a:latin typeface="-apple-system"/>
              </a:rPr>
              <a:t>由</a:t>
            </a:r>
            <a:r>
              <a:rPr lang="zh-CN" altLang="en-US" b="0" i="0" dirty="0">
                <a:solidFill>
                  <a:srgbClr val="060607"/>
                </a:solidFill>
                <a:effectLst/>
                <a:latin typeface="-apple-system"/>
              </a:rPr>
              <a:t>参数 </a:t>
            </a:r>
            <a:r>
              <a:rPr lang="en-US" altLang="zh-CN" b="0" i="1" dirty="0">
                <a:solidFill>
                  <a:srgbClr val="060607"/>
                </a:solidFill>
                <a:effectLst/>
                <a:latin typeface="KaTeX_Math"/>
              </a:rPr>
              <a:t>ω</a:t>
            </a:r>
            <a:r>
              <a:rPr lang="zh-CN" altLang="en-US" b="0" i="0" dirty="0">
                <a:solidFill>
                  <a:srgbClr val="060607"/>
                </a:solidFill>
                <a:effectLst/>
                <a:latin typeface="-apple-system"/>
              </a:rPr>
              <a:t> 定义的条件模型</a:t>
            </a:r>
            <a:r>
              <a:rPr lang="en-US" altLang="zh-CN" sz="1800" b="0" i="1" dirty="0">
                <a:solidFill>
                  <a:srgbClr val="060607"/>
                </a:solidFill>
                <a:effectLst/>
                <a:latin typeface="KaTeX_Math"/>
              </a:rPr>
              <a:t>ϕ</a:t>
            </a:r>
            <a:r>
              <a:rPr lang="en-US" altLang="zh-CN" sz="1800" b="0" i="1" baseline="-25000" dirty="0">
                <a:solidFill>
                  <a:srgbClr val="060607"/>
                </a:solidFill>
                <a:effectLst/>
                <a:latin typeface="KaTeX_Math"/>
              </a:rPr>
              <a:t>ω</a:t>
            </a:r>
            <a:r>
              <a:rPr lang="zh-CN" altLang="en-US" sz="1800" b="0" i="0" dirty="0">
                <a:solidFill>
                  <a:srgbClr val="060607"/>
                </a:solidFill>
                <a:effectLst/>
                <a:latin typeface="inherit"/>
              </a:rPr>
              <a:t>​</a:t>
            </a:r>
            <a:r>
              <a:rPr lang="en-US" altLang="zh-CN" sz="1800" b="0" i="0" dirty="0">
                <a:solidFill>
                  <a:srgbClr val="060607"/>
                </a:solidFill>
                <a:effectLst/>
                <a:latin typeface="KaTeX_Main"/>
              </a:rPr>
              <a:t>(⋅)</a:t>
            </a:r>
            <a:r>
              <a:rPr lang="zh-CN" altLang="en-US" sz="1800" b="0" i="0" dirty="0">
                <a:solidFill>
                  <a:srgbClr val="060607"/>
                </a:solidFill>
                <a:effectLst/>
                <a:latin typeface="inherit"/>
              </a:rPr>
              <a:t> ，而这个模型可以将</a:t>
            </a:r>
            <a:r>
              <a:rPr lang="en-US" altLang="zh-CN" sz="1800" b="0" i="0" dirty="0">
                <a:solidFill>
                  <a:srgbClr val="060607"/>
                </a:solidFill>
                <a:effectLst/>
                <a:latin typeface="inherit"/>
              </a:rPr>
              <a:t>MRI</a:t>
            </a:r>
            <a:r>
              <a:rPr lang="zh-CN" altLang="en-US" sz="1800" b="0" i="0" dirty="0">
                <a:solidFill>
                  <a:srgbClr val="060607"/>
                </a:solidFill>
                <a:effectLst/>
                <a:latin typeface="inherit"/>
              </a:rPr>
              <a:t>输入表示为相应的</a:t>
            </a:r>
            <a:r>
              <a:rPr lang="en-US" altLang="zh-CN" sz="1800" b="0" i="1" dirty="0">
                <a:solidFill>
                  <a:srgbClr val="060607"/>
                </a:solidFill>
                <a:effectLst/>
                <a:latin typeface="KaTeX_Math"/>
              </a:rPr>
              <a:t>h</a:t>
            </a:r>
            <a:r>
              <a:rPr lang="en-US" altLang="zh-CN" sz="1800" b="0" i="1" baseline="-25000" dirty="0">
                <a:solidFill>
                  <a:srgbClr val="060607"/>
                </a:solidFill>
                <a:effectLst/>
                <a:latin typeface="KaTeX_Math"/>
              </a:rPr>
              <a:t>m</a:t>
            </a:r>
          </a:p>
          <a:p>
            <a:r>
              <a:rPr lang="zh-CN" altLang="en-US" sz="1800" b="0" dirty="0">
                <a:solidFill>
                  <a:srgbClr val="060607"/>
                </a:solidFill>
                <a:effectLst/>
                <a:latin typeface="KaTeX_Math"/>
              </a:rPr>
              <a:t>（</a:t>
            </a:r>
            <a:r>
              <a:rPr lang="zh-CN" altLang="en-US" sz="1800" b="1" dirty="0">
                <a:solidFill>
                  <a:srgbClr val="060607"/>
                </a:solidFill>
                <a:effectLst/>
                <a:latin typeface="KaTeX_Math"/>
              </a:rPr>
              <a:t>也就是说条件臂是为了让</a:t>
            </a:r>
            <a:r>
              <a:rPr lang="en-US" altLang="zh-CN" sz="1800" b="1" dirty="0">
                <a:solidFill>
                  <a:srgbClr val="060607"/>
                </a:solidFill>
                <a:effectLst/>
                <a:latin typeface="KaTeX_Math"/>
              </a:rPr>
              <a:t>MRI</a:t>
            </a:r>
            <a:r>
              <a:rPr lang="zh-CN" altLang="en-US" b="1" dirty="0">
                <a:solidFill>
                  <a:srgbClr val="060607"/>
                </a:solidFill>
                <a:latin typeface="KaTeX_Math"/>
              </a:rPr>
              <a:t>通过</a:t>
            </a:r>
            <a:r>
              <a:rPr lang="en-US" altLang="zh-CN" sz="1800" b="1" i="1" dirty="0">
                <a:solidFill>
                  <a:srgbClr val="060607"/>
                </a:solidFill>
                <a:effectLst/>
                <a:latin typeface="KaTeX_Math"/>
              </a:rPr>
              <a:t>ϕ</a:t>
            </a:r>
            <a:r>
              <a:rPr lang="en-US" altLang="zh-CN" sz="1800" b="1" i="1" baseline="-25000" dirty="0">
                <a:solidFill>
                  <a:srgbClr val="060607"/>
                </a:solidFill>
                <a:effectLst/>
                <a:latin typeface="KaTeX_Math"/>
              </a:rPr>
              <a:t>ω</a:t>
            </a:r>
            <a:r>
              <a:rPr lang="zh-CN" altLang="en-US" sz="1800" b="1" i="0" dirty="0">
                <a:solidFill>
                  <a:srgbClr val="060607"/>
                </a:solidFill>
                <a:effectLst/>
                <a:latin typeface="inherit"/>
              </a:rPr>
              <a:t>​</a:t>
            </a:r>
            <a:r>
              <a:rPr lang="en-US" altLang="zh-CN" sz="1800" b="1" i="0" dirty="0">
                <a:solidFill>
                  <a:srgbClr val="060607"/>
                </a:solidFill>
                <a:effectLst/>
                <a:latin typeface="KaTeX_Main"/>
              </a:rPr>
              <a:t>(⋅) </a:t>
            </a:r>
            <a:r>
              <a:rPr lang="zh-CN" altLang="en-US" sz="1800" b="1" i="0" dirty="0">
                <a:solidFill>
                  <a:srgbClr val="060607"/>
                </a:solidFill>
                <a:effectLst/>
                <a:latin typeface="KaTeX_Main"/>
              </a:rPr>
              <a:t>转化为</a:t>
            </a:r>
            <a:r>
              <a:rPr lang="en-US" altLang="zh-CN" sz="1800" b="1" i="1" dirty="0">
                <a:solidFill>
                  <a:srgbClr val="060607"/>
                </a:solidFill>
                <a:effectLst/>
                <a:latin typeface="KaTeX_Math"/>
              </a:rPr>
              <a:t>h</a:t>
            </a:r>
            <a:r>
              <a:rPr lang="en-US" altLang="zh-CN" sz="1800" b="1" i="1" baseline="-25000" dirty="0">
                <a:solidFill>
                  <a:srgbClr val="060607"/>
                </a:solidFill>
                <a:effectLst/>
                <a:latin typeface="KaTeX_Math"/>
              </a:rPr>
              <a:t>m </a:t>
            </a:r>
            <a:r>
              <a:rPr lang="zh-CN" altLang="en-US" sz="1800" b="0" dirty="0">
                <a:solidFill>
                  <a:srgbClr val="060607"/>
                </a:solidFill>
                <a:effectLst/>
                <a:latin typeface="KaTeX_Math"/>
              </a:rPr>
              <a:t>）</a:t>
            </a:r>
            <a:endParaRPr lang="zh-CN" altLang="en-US" dirty="0"/>
          </a:p>
        </p:txBody>
      </p:sp>
    </p:spTree>
    <p:extLst>
      <p:ext uri="{BB962C8B-B14F-4D97-AF65-F5344CB8AC3E}">
        <p14:creationId xmlns:p14="http://schemas.microsoft.com/office/powerpoint/2010/main" val="4239619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05A34-2A21-81D0-C069-A6F903E9F8A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AE88027-2608-40A0-A008-0E93C44A911B}"/>
              </a:ext>
            </a:extLst>
          </p:cNvPr>
          <p:cNvSpPr txBox="1"/>
          <p:nvPr/>
        </p:nvSpPr>
        <p:spPr>
          <a:xfrm>
            <a:off x="1142999" y="180975"/>
            <a:ext cx="3676651" cy="369332"/>
          </a:xfrm>
          <a:prstGeom prst="rect">
            <a:avLst/>
          </a:prstGeom>
          <a:noFill/>
        </p:spPr>
        <p:txBody>
          <a:bodyPr wrap="square" rtlCol="0">
            <a:spAutoFit/>
          </a:bodyPr>
          <a:lstStyle/>
          <a:p>
            <a:r>
              <a:rPr lang="en-US" altLang="zh-CN" b="1" dirty="0"/>
              <a:t>Adaptive Conditional Module</a:t>
            </a:r>
          </a:p>
        </p:txBody>
      </p:sp>
      <p:sp>
        <p:nvSpPr>
          <p:cNvPr id="3" name="文本框 2">
            <a:extLst>
              <a:ext uri="{FF2B5EF4-FFF2-40B4-BE49-F238E27FC236}">
                <a16:creationId xmlns:a16="http://schemas.microsoft.com/office/drawing/2014/main" id="{84C3ABDA-CBA1-2B50-1A9C-4E05ECF341F4}"/>
              </a:ext>
            </a:extLst>
          </p:cNvPr>
          <p:cNvSpPr txBox="1"/>
          <p:nvPr/>
        </p:nvSpPr>
        <p:spPr>
          <a:xfrm>
            <a:off x="0" y="593802"/>
            <a:ext cx="6648450" cy="6077241"/>
          </a:xfrm>
          <a:prstGeom prst="rect">
            <a:avLst/>
          </a:prstGeom>
          <a:noFill/>
        </p:spPr>
        <p:txBody>
          <a:bodyPr wrap="square" rtlCol="0">
            <a:spAutoFit/>
          </a:bodyPr>
          <a:lstStyle/>
          <a:p>
            <a:pPr algn="l" fontAlgn="base">
              <a:lnSpc>
                <a:spcPts val="1800"/>
              </a:lnSpc>
              <a:buFont typeface="+mj-lt"/>
              <a:buAutoNum type="arabicPeriod"/>
            </a:pPr>
            <a:r>
              <a:rPr lang="zh-CN" altLang="en-US" sz="1200" b="1" i="0" dirty="0">
                <a:solidFill>
                  <a:srgbClr val="060607"/>
                </a:solidFill>
                <a:effectLst/>
                <a:latin typeface="inherit"/>
              </a:rPr>
              <a:t>自适应条件模块（</a:t>
            </a:r>
            <a:r>
              <a:rPr lang="en-US" altLang="zh-CN" sz="1200" b="1" i="0" dirty="0">
                <a:solidFill>
                  <a:srgbClr val="060607"/>
                </a:solidFill>
                <a:effectLst/>
                <a:latin typeface="inherit"/>
              </a:rPr>
              <a:t>AdaGN</a:t>
            </a:r>
            <a:r>
              <a:rPr lang="zh-CN" altLang="en-US" sz="1200" b="1" i="0" dirty="0">
                <a:solidFill>
                  <a:srgbClr val="060607"/>
                </a:solidFill>
                <a:effectLst/>
                <a:latin typeface="inherit"/>
              </a:rPr>
              <a:t>）</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en-US" altLang="zh-CN" sz="1200" b="0" i="0" dirty="0">
                <a:solidFill>
                  <a:srgbClr val="060607"/>
                </a:solidFill>
                <a:effectLst/>
                <a:latin typeface="inherit"/>
              </a:rPr>
              <a:t>AdaGN</a:t>
            </a:r>
            <a:r>
              <a:rPr lang="zh-CN" altLang="en-US" sz="1200" b="0" i="0" dirty="0">
                <a:solidFill>
                  <a:srgbClr val="060607"/>
                </a:solidFill>
                <a:effectLst/>
                <a:latin typeface="inherit"/>
              </a:rPr>
              <a:t>层用于在去噪器臂的每个残差块中对特征图 </a:t>
            </a:r>
            <a:r>
              <a:rPr lang="en-US" altLang="zh-CN" sz="1200" b="0" i="1" dirty="0">
                <a:solidFill>
                  <a:srgbClr val="060607"/>
                </a:solidFill>
                <a:effectLst/>
                <a:latin typeface="KaTeX_Math"/>
              </a:rPr>
              <a:t>h</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h</a:t>
            </a:r>
            <a:r>
              <a:rPr lang="en-US" altLang="zh-CN" sz="1200" b="0" i="0" dirty="0">
                <a:solidFill>
                  <a:srgbClr val="060607"/>
                </a:solidFill>
                <a:effectLst/>
                <a:latin typeface="inherit"/>
              </a:rPr>
              <a:t>1</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h</a:t>
            </a:r>
            <a:r>
              <a:rPr lang="en-US" altLang="zh-CN" sz="1200" b="0" i="1" baseline="-25000" dirty="0">
                <a:solidFill>
                  <a:srgbClr val="060607"/>
                </a:solidFill>
                <a:effectLst/>
                <a:latin typeface="KaTeX_Math"/>
              </a:rPr>
              <a:t>n</a:t>
            </a:r>
            <a:r>
              <a:rPr lang="en-US" altLang="zh-CN" sz="1200" b="0" i="0" dirty="0">
                <a:solidFill>
                  <a:srgbClr val="060607"/>
                </a:solidFill>
                <a:effectLst/>
                <a:latin typeface="KaTeX_Main"/>
              </a:rPr>
              <a:t>}</a:t>
            </a:r>
            <a:r>
              <a:rPr lang="zh-CN" altLang="en-US" sz="1200" b="0" i="0" dirty="0">
                <a:solidFill>
                  <a:srgbClr val="060607"/>
                </a:solidFill>
                <a:effectLst/>
                <a:latin typeface="inherit"/>
              </a:rPr>
              <a:t> 进行</a:t>
            </a:r>
            <a:r>
              <a:rPr lang="zh-CN" altLang="en-US" sz="1200" b="1" i="0" dirty="0">
                <a:solidFill>
                  <a:srgbClr val="060607"/>
                </a:solidFill>
                <a:effectLst/>
                <a:latin typeface="inherit"/>
              </a:rPr>
              <a:t>多模态条件</a:t>
            </a:r>
            <a:r>
              <a:rPr lang="zh-CN" altLang="en-US" sz="1200" b="0" i="0" dirty="0">
                <a:solidFill>
                  <a:srgbClr val="060607"/>
                </a:solidFill>
                <a:effectLst/>
                <a:latin typeface="inherit"/>
              </a:rPr>
              <a:t>处理。</a:t>
            </a:r>
          </a:p>
          <a:p>
            <a:pPr marL="742950" lvl="1" indent="-285750" algn="l" fontAlgn="base">
              <a:lnSpc>
                <a:spcPts val="1800"/>
              </a:lnSpc>
              <a:buFont typeface="+mj-lt"/>
              <a:buAutoNum type="arabicPeriod"/>
            </a:pPr>
            <a:r>
              <a:rPr lang="en-US" altLang="zh-CN" sz="1200" b="0" i="0" dirty="0">
                <a:solidFill>
                  <a:srgbClr val="060607"/>
                </a:solidFill>
                <a:effectLst/>
                <a:latin typeface="inherit"/>
              </a:rPr>
              <a:t>AdaGN</a:t>
            </a:r>
            <a:r>
              <a:rPr lang="zh-CN" altLang="en-US" sz="1200" b="0" i="0" dirty="0">
                <a:solidFill>
                  <a:srgbClr val="060607"/>
                </a:solidFill>
                <a:effectLst/>
                <a:latin typeface="inherit"/>
              </a:rPr>
              <a:t>层适应以下三种条件：</a:t>
            </a:r>
          </a:p>
          <a:p>
            <a:pPr marL="1143000" lvl="2" indent="-228600" algn="l" fontAlgn="base">
              <a:lnSpc>
                <a:spcPts val="1800"/>
              </a:lnSpc>
              <a:buFont typeface="+mj-lt"/>
              <a:buAutoNum type="arabicPeriod"/>
            </a:pPr>
            <a:r>
              <a:rPr lang="zh-CN" altLang="en-US" sz="1200" b="1" i="0" dirty="0">
                <a:solidFill>
                  <a:srgbClr val="060607"/>
                </a:solidFill>
                <a:effectLst/>
                <a:latin typeface="inherit"/>
              </a:rPr>
              <a:t>扩散过程中的时间步 </a:t>
            </a:r>
            <a:r>
              <a:rPr lang="en-US" altLang="zh-CN" sz="1200" b="0" i="1" dirty="0">
                <a:solidFill>
                  <a:srgbClr val="060607"/>
                </a:solidFill>
                <a:effectLst/>
                <a:latin typeface="KaTeX_Math"/>
              </a:rPr>
              <a:t>t</a:t>
            </a:r>
            <a:r>
              <a:rPr lang="zh-CN" altLang="en-US" sz="1200" b="0" i="0" dirty="0">
                <a:solidFill>
                  <a:srgbClr val="060607"/>
                </a:solidFill>
                <a:effectLst/>
                <a:latin typeface="inherit"/>
              </a:rPr>
              <a:t>：时间步 </a:t>
            </a:r>
            <a:r>
              <a:rPr lang="en-US" altLang="zh-CN" sz="1200" b="0" i="1" dirty="0">
                <a:solidFill>
                  <a:srgbClr val="060607"/>
                </a:solidFill>
                <a:effectLst/>
                <a:latin typeface="KaTeX_Math"/>
              </a:rPr>
              <a:t>t</a:t>
            </a:r>
            <a:r>
              <a:rPr lang="zh-CN" altLang="en-US" sz="1200" b="0" i="0" dirty="0">
                <a:solidFill>
                  <a:srgbClr val="060607"/>
                </a:solidFill>
                <a:effectLst/>
                <a:latin typeface="inherit"/>
              </a:rPr>
              <a:t> 表示扩散过程的某个阶段。</a:t>
            </a:r>
          </a:p>
          <a:p>
            <a:pPr marL="1143000" lvl="2" indent="-228600" algn="l" fontAlgn="base">
              <a:lnSpc>
                <a:spcPts val="1800"/>
              </a:lnSpc>
              <a:buFont typeface="+mj-lt"/>
              <a:buAutoNum type="arabicPeriod"/>
            </a:pPr>
            <a:r>
              <a:rPr lang="zh-CN" altLang="en-US" sz="1200" b="1" i="0" dirty="0">
                <a:solidFill>
                  <a:srgbClr val="060607"/>
                </a:solidFill>
                <a:effectLst/>
                <a:latin typeface="inherit"/>
              </a:rPr>
              <a:t>任务特定表示 </a:t>
            </a:r>
            <a:r>
              <a:rPr lang="en-US" altLang="zh-CN" sz="1200" b="0" i="1" dirty="0">
                <a:solidFill>
                  <a:srgbClr val="060607"/>
                </a:solidFill>
                <a:effectLst/>
                <a:latin typeface="KaTeX_Math"/>
              </a:rPr>
              <a:t>h</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​：来自条件臂的多尺度任务特定表示，用于指导</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图像的合成。</a:t>
            </a:r>
          </a:p>
          <a:p>
            <a:pPr marL="1143000" lvl="2" indent="-228600" algn="l" fontAlgn="base">
              <a:lnSpc>
                <a:spcPts val="1800"/>
              </a:lnSpc>
              <a:buFont typeface="+mj-lt"/>
              <a:buAutoNum type="arabicPeriod"/>
            </a:pPr>
            <a:r>
              <a:rPr lang="zh-CN" altLang="en-US" sz="1200" b="1" i="0" dirty="0">
                <a:solidFill>
                  <a:srgbClr val="060607"/>
                </a:solidFill>
                <a:effectLst/>
                <a:latin typeface="inherit"/>
              </a:rPr>
              <a:t>临床数据 </a:t>
            </a:r>
            <a:r>
              <a:rPr lang="en-US" altLang="zh-CN" sz="1200" b="0" i="1" dirty="0">
                <a:solidFill>
                  <a:srgbClr val="060607"/>
                </a:solidFill>
                <a:effectLst/>
                <a:latin typeface="KaTeX_Math"/>
              </a:rPr>
              <a:t>c</a:t>
            </a:r>
            <a:r>
              <a:rPr lang="zh-CN" altLang="en-US" sz="1200" b="0" i="0" dirty="0">
                <a:solidFill>
                  <a:srgbClr val="060607"/>
                </a:solidFill>
                <a:effectLst/>
                <a:latin typeface="inherit"/>
              </a:rPr>
              <a:t>：个体受试者的临床数据，包括人口统计信息（年龄、性别、教育）、认知评分（</a:t>
            </a:r>
            <a:r>
              <a:rPr lang="en-US" altLang="zh-CN" sz="1200" b="0" i="0" dirty="0">
                <a:solidFill>
                  <a:srgbClr val="060607"/>
                </a:solidFill>
                <a:effectLst/>
                <a:latin typeface="inherit"/>
              </a:rPr>
              <a:t>MMSE</a:t>
            </a:r>
            <a:r>
              <a:rPr lang="zh-CN" altLang="en-US" sz="1200" b="0" i="0" dirty="0">
                <a:solidFill>
                  <a:srgbClr val="060607"/>
                </a:solidFill>
                <a:effectLst/>
                <a:latin typeface="inherit"/>
              </a:rPr>
              <a:t>、</a:t>
            </a:r>
            <a:r>
              <a:rPr lang="en-US" altLang="zh-CN" sz="1200" b="0" i="0" dirty="0">
                <a:solidFill>
                  <a:srgbClr val="060607"/>
                </a:solidFill>
                <a:effectLst/>
                <a:latin typeface="inherit"/>
              </a:rPr>
              <a:t>ADAS-Cog-13</a:t>
            </a:r>
            <a:r>
              <a:rPr lang="zh-CN" altLang="en-US" sz="1200" b="0" i="0" dirty="0">
                <a:solidFill>
                  <a:srgbClr val="060607"/>
                </a:solidFill>
                <a:effectLst/>
                <a:latin typeface="inherit"/>
              </a:rPr>
              <a:t>）和</a:t>
            </a:r>
            <a:r>
              <a:rPr lang="en-US" altLang="zh-CN" sz="1200" b="0" i="0" dirty="0">
                <a:solidFill>
                  <a:srgbClr val="060607"/>
                </a:solidFill>
                <a:effectLst/>
                <a:latin typeface="inherit"/>
              </a:rPr>
              <a:t>AD</a:t>
            </a:r>
            <a:r>
              <a:rPr lang="zh-CN" altLang="en-US" sz="1200" b="0" i="0" dirty="0">
                <a:solidFill>
                  <a:srgbClr val="060607"/>
                </a:solidFill>
                <a:effectLst/>
                <a:latin typeface="inherit"/>
              </a:rPr>
              <a:t>生物标志物（</a:t>
            </a:r>
            <a:r>
              <a:rPr lang="en-US" altLang="zh-CN" sz="1200" b="0" i="0" dirty="0">
                <a:solidFill>
                  <a:srgbClr val="060607"/>
                </a:solidFill>
                <a:effectLst/>
                <a:latin typeface="inherit"/>
              </a:rPr>
              <a:t>ApoE4</a:t>
            </a:r>
            <a:r>
              <a:rPr lang="zh-CN" altLang="en-US" sz="1200" b="0" i="0" dirty="0">
                <a:solidFill>
                  <a:srgbClr val="060607"/>
                </a:solidFill>
                <a:effectLst/>
                <a:latin typeface="inherit"/>
              </a:rPr>
              <a:t>）。</a:t>
            </a:r>
          </a:p>
          <a:p>
            <a:pPr algn="l" fontAlgn="base">
              <a:lnSpc>
                <a:spcPts val="1800"/>
              </a:lnSpc>
              <a:buFont typeface="+mj-lt"/>
              <a:buAutoNum type="arabicPeriod"/>
            </a:pPr>
            <a:r>
              <a:rPr lang="en-US" altLang="zh-CN" sz="1200" b="1" i="0" dirty="0">
                <a:solidFill>
                  <a:srgbClr val="060607"/>
                </a:solidFill>
                <a:effectLst/>
                <a:latin typeface="inherit"/>
              </a:rPr>
              <a:t>AdaGN</a:t>
            </a:r>
            <a:r>
              <a:rPr lang="zh-CN" altLang="en-US" sz="1200" b="1" i="0" dirty="0">
                <a:solidFill>
                  <a:srgbClr val="060607"/>
                </a:solidFill>
                <a:effectLst/>
                <a:latin typeface="inherit"/>
              </a:rPr>
              <a:t>的定义</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en-US" altLang="zh-CN" sz="1200" b="0" i="0" dirty="0">
                <a:solidFill>
                  <a:srgbClr val="060607"/>
                </a:solidFill>
                <a:effectLst/>
                <a:latin typeface="inherit"/>
              </a:rPr>
              <a:t>AdaGN</a:t>
            </a:r>
            <a:r>
              <a:rPr lang="zh-CN" altLang="en-US" sz="1200" b="0" i="0" dirty="0">
                <a:solidFill>
                  <a:srgbClr val="060607"/>
                </a:solidFill>
                <a:effectLst/>
                <a:latin typeface="inherit"/>
              </a:rPr>
              <a:t>的数学定义如下：</a:t>
            </a:r>
          </a:p>
          <a:p>
            <a:pPr marL="742950" lvl="1" indent="-285750" algn="l" fontAlgn="base">
              <a:lnSpc>
                <a:spcPts val="1800"/>
              </a:lnSpc>
              <a:buFont typeface="+mj-lt"/>
              <a:buAutoNum type="arabicPeriod"/>
            </a:pPr>
            <a:r>
              <a:rPr lang="en-US" altLang="zh-CN" sz="1200" b="0" i="0" dirty="0">
                <a:solidFill>
                  <a:srgbClr val="060607"/>
                </a:solidFill>
                <a:effectLst/>
                <a:latin typeface="KaTeX_Main"/>
              </a:rPr>
              <a:t>AdaGN(</a:t>
            </a:r>
            <a:r>
              <a:rPr lang="en-US" altLang="zh-CN" sz="1200" b="0" i="1" dirty="0">
                <a:solidFill>
                  <a:srgbClr val="060607"/>
                </a:solidFill>
                <a:effectLst/>
                <a:latin typeface="KaTeX_Math"/>
              </a:rPr>
              <a:t>h</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c</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h</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c</a:t>
            </a:r>
            <a:r>
              <a:rPr lang="en-US" altLang="zh-CN" sz="1200" b="0" i="1" baseline="-25000" dirty="0">
                <a:solidFill>
                  <a:srgbClr val="060607"/>
                </a:solidFill>
                <a:effectLst/>
                <a:latin typeface="KaTeX_Math"/>
              </a:rPr>
              <a:t>s</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h</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t</a:t>
            </a:r>
            <a:r>
              <a:rPr lang="en-US" altLang="zh-CN" sz="1200" b="0" i="1" baseline="-25000" dirty="0">
                <a:solidFill>
                  <a:srgbClr val="060607"/>
                </a:solidFill>
                <a:effectLst/>
                <a:latin typeface="KaTeX_Math"/>
              </a:rPr>
              <a:t>s</a:t>
            </a:r>
            <a:r>
              <a:rPr lang="zh-CN" altLang="en-US" sz="1200" b="0" i="0" dirty="0">
                <a:solidFill>
                  <a:srgbClr val="060607"/>
                </a:solidFill>
                <a:effectLst/>
                <a:latin typeface="inherit"/>
              </a:rPr>
              <a:t>​</a:t>
            </a:r>
            <a:r>
              <a:rPr lang="en-US" altLang="zh-CN" sz="1200" b="0" i="0" dirty="0">
                <a:solidFill>
                  <a:srgbClr val="060607"/>
                </a:solidFill>
                <a:effectLst/>
                <a:latin typeface="KaTeX_Main"/>
              </a:rPr>
              <a:t>GroupNorm(</a:t>
            </a:r>
            <a:r>
              <a:rPr lang="en-US" altLang="zh-CN" sz="1200" b="0" i="1" dirty="0">
                <a:solidFill>
                  <a:srgbClr val="060607"/>
                </a:solidFill>
                <a:effectLst/>
                <a:latin typeface="KaTeX_Math"/>
              </a:rPr>
              <a:t>h</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t</a:t>
            </a:r>
            <a:r>
              <a:rPr lang="en-US" altLang="zh-CN" sz="1200" b="0" i="1" baseline="-25000" dirty="0">
                <a:solidFill>
                  <a:srgbClr val="060607"/>
                </a:solidFill>
                <a:effectLst/>
                <a:latin typeface="KaTeX_Math"/>
              </a:rPr>
              <a:t>b</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endParaRPr lang="zh-CN" altLang="en-US" sz="1200" b="0" i="0" dirty="0">
              <a:solidFill>
                <a:srgbClr val="060607"/>
              </a:solidFill>
              <a:effectLst/>
              <a:latin typeface="inherit"/>
            </a:endParaRPr>
          </a:p>
          <a:p>
            <a:pPr marL="742950" lvl="1" indent="-285750" algn="l" fontAlgn="base">
              <a:lnSpc>
                <a:spcPts val="1800"/>
              </a:lnSpc>
              <a:buFont typeface="+mj-lt"/>
              <a:buAutoNum type="arabicPeriod"/>
            </a:pPr>
            <a:r>
              <a:rPr lang="zh-CN" altLang="en-US" sz="1200" b="0" i="0" dirty="0">
                <a:solidFill>
                  <a:srgbClr val="060607"/>
                </a:solidFill>
                <a:effectLst/>
                <a:latin typeface="inherit"/>
              </a:rPr>
              <a:t>其中：</a:t>
            </a:r>
          </a:p>
          <a:p>
            <a:pPr lvl="2" algn="l" fontAlgn="base">
              <a:lnSpc>
                <a:spcPts val="1800"/>
              </a:lnSpc>
            </a:pPr>
            <a:r>
              <a:rPr lang="en-US" altLang="zh-CN" sz="1200" b="0" i="0" dirty="0">
                <a:solidFill>
                  <a:srgbClr val="060607"/>
                </a:solidFill>
                <a:effectLst/>
                <a:latin typeface="KaTeX_Main"/>
              </a:rPr>
              <a:t>(</a:t>
            </a:r>
            <a:r>
              <a:rPr lang="en-US" altLang="zh-CN" sz="1200" b="0" i="1" dirty="0">
                <a:solidFill>
                  <a:srgbClr val="060607"/>
                </a:solidFill>
                <a:effectLst/>
                <a:latin typeface="KaTeX_Math"/>
              </a:rPr>
              <a:t>t</a:t>
            </a:r>
            <a:r>
              <a:rPr lang="en-US" altLang="zh-CN" sz="1200" b="0" i="1" baseline="-25000" dirty="0">
                <a:solidFill>
                  <a:srgbClr val="060607"/>
                </a:solidFill>
                <a:effectLst/>
                <a:latin typeface="KaTeX_Math"/>
              </a:rPr>
              <a:t>s</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t</a:t>
            </a:r>
            <a:r>
              <a:rPr lang="en-US" altLang="zh-CN" sz="1200" b="0" i="1" baseline="-25000" dirty="0">
                <a:solidFill>
                  <a:srgbClr val="060607"/>
                </a:solidFill>
                <a:effectLst/>
                <a:latin typeface="KaTeX_Math"/>
              </a:rPr>
              <a:t>b</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0" dirty="0">
                <a:solidFill>
                  <a:srgbClr val="060607"/>
                </a:solidFill>
                <a:effectLst/>
                <a:latin typeface="KaTeX_AMS"/>
              </a:rPr>
              <a:t>R</a:t>
            </a:r>
            <a:r>
              <a:rPr lang="en-US" altLang="zh-CN" sz="1200" b="0" i="0" dirty="0">
                <a:solidFill>
                  <a:srgbClr val="060607"/>
                </a:solidFill>
                <a:effectLst/>
                <a:latin typeface="inherit"/>
              </a:rPr>
              <a:t>2×</a:t>
            </a:r>
            <a:r>
              <a:rPr lang="en-US" altLang="zh-CN" sz="1200" b="0" i="1" dirty="0">
                <a:solidFill>
                  <a:srgbClr val="060607"/>
                </a:solidFill>
                <a:effectLst/>
                <a:latin typeface="KaTeX_Math"/>
              </a:rPr>
              <a:t>c</a:t>
            </a:r>
            <a:r>
              <a:rPr lang="en-US" altLang="zh-CN" sz="1200" b="0" i="0" dirty="0">
                <a:solidFill>
                  <a:srgbClr val="060607"/>
                </a:solidFill>
                <a:effectLst/>
                <a:latin typeface="KaTeX_Main"/>
              </a:rPr>
              <a:t>=MLP(</a:t>
            </a:r>
            <a:r>
              <a:rPr lang="en-US" altLang="zh-CN" sz="1200" b="0" i="1" dirty="0">
                <a:solidFill>
                  <a:srgbClr val="060607"/>
                </a:solidFill>
                <a:effectLst/>
                <a:latin typeface="KaTeX_Math"/>
              </a:rPr>
              <a:t>pos</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t</a:t>
            </a:r>
            <a:r>
              <a:rPr lang="en-US" altLang="zh-CN" sz="1200" b="0" i="0" dirty="0">
                <a:solidFill>
                  <a:srgbClr val="060607"/>
                </a:solidFill>
                <a:effectLst/>
                <a:latin typeface="KaTeX_Main"/>
              </a:rPr>
              <a:t>))</a:t>
            </a:r>
            <a:r>
              <a:rPr lang="zh-CN" altLang="en-US" sz="1200" b="0" i="0" dirty="0">
                <a:solidFill>
                  <a:srgbClr val="060607"/>
                </a:solidFill>
                <a:effectLst/>
                <a:latin typeface="inherit"/>
              </a:rPr>
              <a:t> 是多层感知器（</a:t>
            </a:r>
            <a:r>
              <a:rPr lang="en-US" altLang="zh-CN" sz="1200" b="0" i="0" dirty="0">
                <a:solidFill>
                  <a:srgbClr val="060607"/>
                </a:solidFill>
                <a:effectLst/>
                <a:latin typeface="inherit"/>
              </a:rPr>
              <a:t>MLP</a:t>
            </a:r>
            <a:r>
              <a:rPr lang="zh-CN" altLang="en-US" sz="1200" b="0" i="0" dirty="0">
                <a:solidFill>
                  <a:srgbClr val="060607"/>
                </a:solidFill>
                <a:effectLst/>
                <a:latin typeface="inherit"/>
              </a:rPr>
              <a:t>）的输出，</a:t>
            </a:r>
            <a:r>
              <a:rPr lang="en-US" altLang="zh-CN" sz="1200" b="0" i="0" dirty="0">
                <a:solidFill>
                  <a:srgbClr val="060607"/>
                </a:solidFill>
                <a:effectLst/>
                <a:latin typeface="inherit"/>
              </a:rPr>
              <a:t>MLP</a:t>
            </a:r>
            <a:r>
              <a:rPr lang="zh-CN" altLang="en-US" sz="1200" b="0" i="0" dirty="0">
                <a:solidFill>
                  <a:srgbClr val="060607"/>
                </a:solidFill>
                <a:effectLst/>
                <a:latin typeface="inherit"/>
              </a:rPr>
              <a:t>使用正弦编码函数 </a:t>
            </a:r>
            <a:r>
              <a:rPr lang="en-US" altLang="zh-CN" sz="1200" b="0" i="1" dirty="0">
                <a:solidFill>
                  <a:srgbClr val="060607"/>
                </a:solidFill>
                <a:effectLst/>
                <a:latin typeface="KaTeX_Math"/>
              </a:rPr>
              <a:t>pos</a:t>
            </a:r>
            <a:r>
              <a:rPr lang="en-US" altLang="zh-CN" sz="1200" b="0" i="0" dirty="0">
                <a:solidFill>
                  <a:srgbClr val="060607"/>
                </a:solidFill>
                <a:effectLst/>
                <a:latin typeface="KaTeX_Main"/>
              </a:rPr>
              <a:t>(⋅)</a:t>
            </a:r>
            <a:r>
              <a:rPr lang="zh-CN" altLang="en-US" sz="1200" b="0" i="0" dirty="0">
                <a:solidFill>
                  <a:srgbClr val="060607"/>
                </a:solidFill>
                <a:effectLst/>
                <a:latin typeface="inherit"/>
              </a:rPr>
              <a:t> 对时间步 </a:t>
            </a:r>
            <a:r>
              <a:rPr lang="en-US" altLang="zh-CN" sz="1200" b="0" i="1" dirty="0">
                <a:solidFill>
                  <a:srgbClr val="060607"/>
                </a:solidFill>
                <a:effectLst/>
                <a:latin typeface="KaTeX_Math"/>
              </a:rPr>
              <a:t>t</a:t>
            </a:r>
            <a:r>
              <a:rPr lang="zh-CN" altLang="en-US" sz="1200" b="0" i="0" dirty="0">
                <a:solidFill>
                  <a:srgbClr val="060607"/>
                </a:solidFill>
                <a:effectLst/>
                <a:latin typeface="inherit"/>
              </a:rPr>
              <a:t> 进行编码。</a:t>
            </a:r>
          </a:p>
          <a:p>
            <a:pPr lvl="2" algn="l" fontAlgn="base">
              <a:lnSpc>
                <a:spcPts val="1800"/>
              </a:lnSpc>
            </a:pPr>
            <a:r>
              <a:rPr lang="en-US" altLang="zh-CN" sz="1200" b="0" i="1" dirty="0">
                <a:solidFill>
                  <a:srgbClr val="060607"/>
                </a:solidFill>
                <a:effectLst/>
                <a:latin typeface="KaTeX_Math"/>
              </a:rPr>
              <a:t>c</a:t>
            </a:r>
            <a:r>
              <a:rPr lang="en-US" altLang="zh-CN" sz="1200" b="0" i="1" baseline="-25000" dirty="0">
                <a:solidFill>
                  <a:srgbClr val="060607"/>
                </a:solidFill>
                <a:effectLst/>
                <a:latin typeface="KaTeX_Math"/>
              </a:rPr>
              <a:t>s</a:t>
            </a:r>
            <a:r>
              <a:rPr lang="zh-CN" altLang="en-US" sz="1200" b="0" i="0" baseline="-25000" dirty="0">
                <a:solidFill>
                  <a:srgbClr val="060607"/>
                </a:solidFill>
                <a:effectLst/>
                <a:latin typeface="inherit"/>
              </a:rPr>
              <a:t>​</a:t>
            </a:r>
            <a:r>
              <a:rPr lang="en-US" altLang="zh-CN" sz="1200" b="0" i="0" dirty="0">
                <a:solidFill>
                  <a:srgbClr val="060607"/>
                </a:solidFill>
                <a:effectLst/>
                <a:latin typeface="KaTeX_Main"/>
              </a:rPr>
              <a:t>=MLP(</a:t>
            </a:r>
            <a:r>
              <a:rPr lang="en-US" altLang="zh-CN" sz="1200" b="0" i="1" dirty="0">
                <a:solidFill>
                  <a:srgbClr val="060607"/>
                </a:solidFill>
                <a:effectLst/>
                <a:latin typeface="KaTeX_Math"/>
              </a:rPr>
              <a:t>c</a:t>
            </a:r>
            <a:r>
              <a:rPr lang="en-US" altLang="zh-CN" sz="1200" b="0" i="0" dirty="0">
                <a:solidFill>
                  <a:srgbClr val="060607"/>
                </a:solidFill>
                <a:effectLst/>
                <a:latin typeface="KaTeX_Main"/>
              </a:rPr>
              <a:t>)</a:t>
            </a:r>
            <a:r>
              <a:rPr lang="zh-CN" altLang="en-US" sz="1200" b="0" i="0" dirty="0">
                <a:solidFill>
                  <a:srgbClr val="060607"/>
                </a:solidFill>
                <a:effectLst/>
                <a:latin typeface="inherit"/>
              </a:rPr>
              <a:t> 是对临床数据 </a:t>
            </a:r>
            <a:r>
              <a:rPr lang="en-US" altLang="zh-CN" sz="1200" b="0" i="1" dirty="0">
                <a:solidFill>
                  <a:srgbClr val="060607"/>
                </a:solidFill>
                <a:effectLst/>
                <a:latin typeface="KaTeX_Math"/>
              </a:rPr>
              <a:t>c</a:t>
            </a:r>
            <a:r>
              <a:rPr lang="zh-CN" altLang="en-US" sz="1200" b="0" i="0" dirty="0">
                <a:solidFill>
                  <a:srgbClr val="060607"/>
                </a:solidFill>
                <a:effectLst/>
                <a:latin typeface="inherit"/>
              </a:rPr>
              <a:t> 进行处理的</a:t>
            </a:r>
            <a:r>
              <a:rPr lang="en-US" altLang="zh-CN" sz="1200" b="0" i="0" dirty="0">
                <a:solidFill>
                  <a:srgbClr val="060607"/>
                </a:solidFill>
                <a:effectLst/>
                <a:latin typeface="inherit"/>
              </a:rPr>
              <a:t>MLP</a:t>
            </a:r>
            <a:r>
              <a:rPr lang="zh-CN" altLang="en-US" sz="1200" b="0" i="0" dirty="0">
                <a:solidFill>
                  <a:srgbClr val="060607"/>
                </a:solidFill>
                <a:effectLst/>
                <a:latin typeface="inherit"/>
              </a:rPr>
              <a:t>输出。</a:t>
            </a:r>
          </a:p>
          <a:p>
            <a:pPr lvl="2" algn="l" fontAlgn="base">
              <a:lnSpc>
                <a:spcPts val="1800"/>
              </a:lnSpc>
            </a:pPr>
            <a:r>
              <a:rPr lang="en-US" altLang="zh-CN" sz="1200" b="0" i="0" dirty="0">
                <a:solidFill>
                  <a:srgbClr val="060607"/>
                </a:solidFill>
                <a:effectLst/>
                <a:latin typeface="KaTeX_Main"/>
              </a:rPr>
              <a:t>GroupNorm(</a:t>
            </a:r>
            <a:r>
              <a:rPr lang="en-US" altLang="zh-CN" sz="1200" b="0" i="1" dirty="0">
                <a:solidFill>
                  <a:srgbClr val="060607"/>
                </a:solidFill>
                <a:effectLst/>
                <a:latin typeface="KaTeX_Math"/>
              </a:rPr>
              <a:t>h</a:t>
            </a:r>
            <a:r>
              <a:rPr lang="en-US" altLang="zh-CN" sz="1200" b="0" i="0" dirty="0">
                <a:solidFill>
                  <a:srgbClr val="060607"/>
                </a:solidFill>
                <a:effectLst/>
                <a:latin typeface="KaTeX_Main"/>
              </a:rPr>
              <a:t>)</a:t>
            </a:r>
            <a:r>
              <a:rPr lang="zh-CN" altLang="en-US" sz="1200" b="0" i="0" dirty="0">
                <a:solidFill>
                  <a:srgbClr val="060607"/>
                </a:solidFill>
                <a:effectLst/>
                <a:latin typeface="inherit"/>
              </a:rPr>
              <a:t> 是对特征图 </a:t>
            </a:r>
            <a:r>
              <a:rPr lang="en-US" altLang="zh-CN" sz="1200" b="0" i="1" dirty="0">
                <a:solidFill>
                  <a:srgbClr val="060607"/>
                </a:solidFill>
                <a:effectLst/>
                <a:latin typeface="KaTeX_Math"/>
              </a:rPr>
              <a:t>h</a:t>
            </a:r>
            <a:r>
              <a:rPr lang="zh-CN" altLang="en-US" sz="1200" b="0" i="0" dirty="0">
                <a:solidFill>
                  <a:srgbClr val="060607"/>
                </a:solidFill>
                <a:effectLst/>
                <a:latin typeface="inherit"/>
              </a:rPr>
              <a:t> 进行的组归一化操作。</a:t>
            </a:r>
          </a:p>
          <a:p>
            <a:pPr algn="l" fontAlgn="base">
              <a:lnSpc>
                <a:spcPts val="1800"/>
              </a:lnSpc>
              <a:buFont typeface="+mj-lt"/>
              <a:buAutoNum type="arabicPeriod"/>
            </a:pPr>
            <a:r>
              <a:rPr lang="en-US" altLang="zh-CN" sz="1200" b="1" i="0" dirty="0">
                <a:solidFill>
                  <a:srgbClr val="060607"/>
                </a:solidFill>
                <a:effectLst/>
                <a:latin typeface="inherit"/>
              </a:rPr>
              <a:t>AdaGN</a:t>
            </a:r>
            <a:r>
              <a:rPr lang="zh-CN" altLang="en-US" sz="1200" b="1" i="0" dirty="0">
                <a:solidFill>
                  <a:srgbClr val="060607"/>
                </a:solidFill>
                <a:effectLst/>
                <a:latin typeface="inherit"/>
              </a:rPr>
              <a:t>的作用</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en-US" altLang="zh-CN" sz="1200" b="0" i="0" dirty="0">
                <a:solidFill>
                  <a:srgbClr val="060607"/>
                </a:solidFill>
                <a:effectLst/>
                <a:latin typeface="inherit"/>
              </a:rPr>
              <a:t>AdaGN</a:t>
            </a:r>
            <a:r>
              <a:rPr lang="zh-CN" altLang="en-US" sz="1200" b="0" i="0" dirty="0">
                <a:solidFill>
                  <a:srgbClr val="060607"/>
                </a:solidFill>
                <a:effectLst/>
                <a:latin typeface="inherit"/>
              </a:rPr>
              <a:t>层通过融合时间步、任务特定表示和临床数据，增强了生成</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图像的准确性和病理保留。</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通过结合这些多模态条件，</a:t>
            </a:r>
            <a:r>
              <a:rPr lang="en-US" altLang="zh-CN" sz="1200" b="0" i="0" dirty="0">
                <a:solidFill>
                  <a:srgbClr val="060607"/>
                </a:solidFill>
                <a:effectLst/>
                <a:latin typeface="inherit"/>
              </a:rPr>
              <a:t>AdaGN</a:t>
            </a:r>
            <a:r>
              <a:rPr lang="zh-CN" altLang="en-US" sz="1200" b="0" i="0" dirty="0">
                <a:solidFill>
                  <a:srgbClr val="060607"/>
                </a:solidFill>
                <a:effectLst/>
                <a:latin typeface="inherit"/>
              </a:rPr>
              <a:t>层能够更好地利用结构和病理证据，从而生成更符合临床需求的</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a:t>
            </a:r>
          </a:p>
          <a:p>
            <a:pPr algn="l" fontAlgn="base">
              <a:lnSpc>
                <a:spcPts val="1800"/>
              </a:lnSpc>
              <a:buFont typeface="+mj-lt"/>
              <a:buAutoNum type="arabicPeriod"/>
            </a:pPr>
            <a:r>
              <a:rPr lang="zh-CN" altLang="en-US" sz="1200" b="1" i="0" dirty="0">
                <a:solidFill>
                  <a:srgbClr val="060607"/>
                </a:solidFill>
                <a:effectLst/>
                <a:latin typeface="inherit"/>
              </a:rPr>
              <a:t>临床数据的使用</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为了提高生成</a:t>
            </a:r>
            <a:r>
              <a:rPr lang="en-US" altLang="zh-CN" sz="1200" b="0" i="0" dirty="0">
                <a:solidFill>
                  <a:srgbClr val="060607"/>
                </a:solidFill>
                <a:effectLst/>
                <a:latin typeface="inherit"/>
              </a:rPr>
              <a:t>PET</a:t>
            </a:r>
            <a:r>
              <a:rPr lang="zh-CN" altLang="en-US" sz="1200" b="0" i="0" dirty="0">
                <a:solidFill>
                  <a:srgbClr val="060607"/>
                </a:solidFill>
                <a:effectLst/>
                <a:latin typeface="inherit"/>
              </a:rPr>
              <a:t>扫描的准确性和病理保留，模型中结合了可用的临床数据，包括：</a:t>
            </a:r>
          </a:p>
          <a:p>
            <a:pPr marL="1143000" lvl="2" indent="-228600" algn="l" fontAlgn="base">
              <a:lnSpc>
                <a:spcPts val="1800"/>
              </a:lnSpc>
              <a:buFont typeface="+mj-lt"/>
              <a:buAutoNum type="arabicPeriod"/>
            </a:pPr>
            <a:r>
              <a:rPr lang="zh-CN" altLang="en-US" sz="1200" b="0" i="0" dirty="0">
                <a:solidFill>
                  <a:srgbClr val="060607"/>
                </a:solidFill>
                <a:effectLst/>
                <a:latin typeface="inherit"/>
              </a:rPr>
              <a:t>人口统计信息（年龄、性别、教育）。</a:t>
            </a:r>
          </a:p>
          <a:p>
            <a:pPr marL="1143000" lvl="2" indent="-228600" algn="l" fontAlgn="base">
              <a:lnSpc>
                <a:spcPts val="1800"/>
              </a:lnSpc>
              <a:buFont typeface="+mj-lt"/>
              <a:buAutoNum type="arabicPeriod"/>
            </a:pPr>
            <a:r>
              <a:rPr lang="zh-CN" altLang="en-US" sz="1200" b="0" i="0" dirty="0">
                <a:solidFill>
                  <a:srgbClr val="060607"/>
                </a:solidFill>
                <a:effectLst/>
                <a:latin typeface="inherit"/>
              </a:rPr>
              <a:t>认知评分（</a:t>
            </a:r>
            <a:r>
              <a:rPr lang="en-US" altLang="zh-CN" sz="1200" b="0" i="0" dirty="0">
                <a:solidFill>
                  <a:srgbClr val="060607"/>
                </a:solidFill>
                <a:effectLst/>
                <a:latin typeface="inherit"/>
              </a:rPr>
              <a:t>MMSE</a:t>
            </a:r>
            <a:r>
              <a:rPr lang="zh-CN" altLang="en-US" sz="1200" b="0" i="0" dirty="0">
                <a:solidFill>
                  <a:srgbClr val="060607"/>
                </a:solidFill>
                <a:effectLst/>
                <a:latin typeface="inherit"/>
              </a:rPr>
              <a:t>、</a:t>
            </a:r>
            <a:r>
              <a:rPr lang="en-US" altLang="zh-CN" sz="1200" b="0" i="0" dirty="0">
                <a:solidFill>
                  <a:srgbClr val="060607"/>
                </a:solidFill>
                <a:effectLst/>
                <a:latin typeface="inherit"/>
              </a:rPr>
              <a:t>ADAS-Cog-13</a:t>
            </a:r>
            <a:r>
              <a:rPr lang="zh-CN" altLang="en-US" sz="1200" b="0" i="0" dirty="0">
                <a:solidFill>
                  <a:srgbClr val="060607"/>
                </a:solidFill>
                <a:effectLst/>
                <a:latin typeface="inherit"/>
              </a:rPr>
              <a:t>）。</a:t>
            </a:r>
          </a:p>
          <a:p>
            <a:pPr marL="1143000" lvl="2" indent="-228600" algn="l" fontAlgn="base">
              <a:lnSpc>
                <a:spcPts val="1800"/>
              </a:lnSpc>
              <a:buFont typeface="+mj-lt"/>
              <a:buAutoNum type="arabicPeriod"/>
            </a:pPr>
            <a:r>
              <a:rPr lang="en-US" altLang="zh-CN" sz="1200" b="0" i="0" dirty="0">
                <a:solidFill>
                  <a:srgbClr val="060607"/>
                </a:solidFill>
                <a:effectLst/>
                <a:latin typeface="inherit"/>
              </a:rPr>
              <a:t>AD</a:t>
            </a:r>
            <a:r>
              <a:rPr lang="zh-CN" altLang="en-US" sz="1200" b="0" i="0" dirty="0">
                <a:solidFill>
                  <a:srgbClr val="060607"/>
                </a:solidFill>
                <a:effectLst/>
                <a:latin typeface="inherit"/>
              </a:rPr>
              <a:t>生物标志物（</a:t>
            </a:r>
            <a:r>
              <a:rPr lang="en-US" altLang="zh-CN" sz="1200" b="0" i="0" dirty="0">
                <a:solidFill>
                  <a:srgbClr val="060607"/>
                </a:solidFill>
                <a:effectLst/>
                <a:latin typeface="inherit"/>
              </a:rPr>
              <a:t>ApoE4</a:t>
            </a:r>
            <a:r>
              <a:rPr lang="zh-CN" altLang="en-US" sz="1200" b="0" i="0" dirty="0">
                <a:solidFill>
                  <a:srgbClr val="060607"/>
                </a:solidFill>
                <a:effectLst/>
                <a:latin typeface="inherit"/>
              </a:rPr>
              <a:t>）。</a:t>
            </a:r>
            <a:r>
              <a:rPr lang="en-US" altLang="zh-CN" sz="1200" b="0" i="0" dirty="0">
                <a:solidFill>
                  <a:srgbClr val="0070C0"/>
                </a:solidFill>
                <a:effectLst/>
                <a:latin typeface="inherit"/>
              </a:rPr>
              <a:t>[1]</a:t>
            </a:r>
          </a:p>
        </p:txBody>
      </p:sp>
      <p:sp>
        <p:nvSpPr>
          <p:cNvPr id="6" name="文本框 5">
            <a:extLst>
              <a:ext uri="{FF2B5EF4-FFF2-40B4-BE49-F238E27FC236}">
                <a16:creationId xmlns:a16="http://schemas.microsoft.com/office/drawing/2014/main" id="{5F91D491-17C8-DAC3-F39A-430C9EBD73C4}"/>
              </a:ext>
            </a:extLst>
          </p:cNvPr>
          <p:cNvSpPr txBox="1"/>
          <p:nvPr/>
        </p:nvSpPr>
        <p:spPr>
          <a:xfrm>
            <a:off x="10401300" y="180975"/>
            <a:ext cx="1552575" cy="369332"/>
          </a:xfrm>
          <a:prstGeom prst="rect">
            <a:avLst/>
          </a:prstGeom>
          <a:noFill/>
        </p:spPr>
        <p:txBody>
          <a:bodyPr wrap="square" rtlCol="0">
            <a:spAutoFit/>
          </a:bodyPr>
          <a:lstStyle/>
          <a:p>
            <a:r>
              <a:rPr lang="zh-CN" altLang="en-US" b="1" dirty="0"/>
              <a:t>模型架构</a:t>
            </a:r>
            <a:endParaRPr lang="en-US" altLang="zh-CN" b="1" dirty="0"/>
          </a:p>
        </p:txBody>
      </p:sp>
      <p:pic>
        <p:nvPicPr>
          <p:cNvPr id="5" name="图片 4">
            <a:extLst>
              <a:ext uri="{FF2B5EF4-FFF2-40B4-BE49-F238E27FC236}">
                <a16:creationId xmlns:a16="http://schemas.microsoft.com/office/drawing/2014/main" id="{7C2D8107-EC3A-A2E6-BAC7-7FB9EF777819}"/>
              </a:ext>
            </a:extLst>
          </p:cNvPr>
          <p:cNvPicPr>
            <a:picLocks noChangeAspect="1"/>
          </p:cNvPicPr>
          <p:nvPr/>
        </p:nvPicPr>
        <p:blipFill>
          <a:blip r:embed="rId2"/>
          <a:stretch>
            <a:fillRect/>
          </a:stretch>
        </p:blipFill>
        <p:spPr>
          <a:xfrm>
            <a:off x="6604226" y="704850"/>
            <a:ext cx="5587774" cy="3110780"/>
          </a:xfrm>
          <a:prstGeom prst="rect">
            <a:avLst/>
          </a:prstGeom>
        </p:spPr>
      </p:pic>
      <p:sp>
        <p:nvSpPr>
          <p:cNvPr id="4" name="文本框 3">
            <a:extLst>
              <a:ext uri="{FF2B5EF4-FFF2-40B4-BE49-F238E27FC236}">
                <a16:creationId xmlns:a16="http://schemas.microsoft.com/office/drawing/2014/main" id="{9C0FFB3D-C852-F1D2-E1C2-4271F4056C34}"/>
              </a:ext>
            </a:extLst>
          </p:cNvPr>
          <p:cNvSpPr txBox="1"/>
          <p:nvPr/>
        </p:nvSpPr>
        <p:spPr>
          <a:xfrm>
            <a:off x="7778863" y="4295775"/>
            <a:ext cx="3238500" cy="1200329"/>
          </a:xfrm>
          <a:prstGeom prst="rect">
            <a:avLst/>
          </a:prstGeom>
          <a:noFill/>
        </p:spPr>
        <p:txBody>
          <a:bodyPr wrap="square" rtlCol="0">
            <a:spAutoFit/>
          </a:bodyPr>
          <a:lstStyle/>
          <a:p>
            <a:r>
              <a:rPr lang="zh-CN" altLang="en-US" dirty="0"/>
              <a:t>在</a:t>
            </a:r>
            <a:r>
              <a:rPr lang="en-US" altLang="zh-CN" dirty="0"/>
              <a:t>MRI</a:t>
            </a:r>
            <a:r>
              <a:rPr lang="zh-CN" altLang="en-US" dirty="0"/>
              <a:t>经过条件臂生成</a:t>
            </a:r>
            <a:r>
              <a:rPr lang="en-US" altLang="zh-CN" dirty="0"/>
              <a:t>h</a:t>
            </a:r>
            <a:r>
              <a:rPr lang="en-US" altLang="zh-CN" baseline="-25000" dirty="0"/>
              <a:t>m</a:t>
            </a:r>
            <a:r>
              <a:rPr lang="zh-CN" altLang="en-US" dirty="0"/>
              <a:t>后，将</a:t>
            </a:r>
            <a:r>
              <a:rPr lang="en-US" altLang="zh-CN" dirty="0"/>
              <a:t>MRI</a:t>
            </a:r>
            <a:r>
              <a:rPr lang="zh-CN" altLang="en-US" dirty="0"/>
              <a:t>中的特征结合临床特征和时间步进行归一化后代入公式转变成下一步能用的数据</a:t>
            </a:r>
          </a:p>
        </p:txBody>
      </p:sp>
    </p:spTree>
    <p:extLst>
      <p:ext uri="{BB962C8B-B14F-4D97-AF65-F5344CB8AC3E}">
        <p14:creationId xmlns:p14="http://schemas.microsoft.com/office/powerpoint/2010/main" val="4073836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4B6A8-7BF7-C9F9-E4EE-B642DB04825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D848278-8A30-55C7-6CDF-AAD453E62843}"/>
              </a:ext>
            </a:extLst>
          </p:cNvPr>
          <p:cNvSpPr txBox="1"/>
          <p:nvPr/>
        </p:nvSpPr>
        <p:spPr>
          <a:xfrm>
            <a:off x="1142999" y="180975"/>
            <a:ext cx="3676651" cy="369332"/>
          </a:xfrm>
          <a:prstGeom prst="rect">
            <a:avLst/>
          </a:prstGeom>
          <a:noFill/>
        </p:spPr>
        <p:txBody>
          <a:bodyPr wrap="square" rtlCol="0">
            <a:spAutoFit/>
          </a:bodyPr>
          <a:lstStyle/>
          <a:p>
            <a:r>
              <a:rPr lang="en-US" altLang="zh-CN" b="1" dirty="0"/>
              <a:t>Denoiser Arm</a:t>
            </a:r>
          </a:p>
        </p:txBody>
      </p:sp>
      <p:sp>
        <p:nvSpPr>
          <p:cNvPr id="3" name="文本框 2">
            <a:extLst>
              <a:ext uri="{FF2B5EF4-FFF2-40B4-BE49-F238E27FC236}">
                <a16:creationId xmlns:a16="http://schemas.microsoft.com/office/drawing/2014/main" id="{2347229C-ED78-1A01-9330-A14155620642}"/>
              </a:ext>
            </a:extLst>
          </p:cNvPr>
          <p:cNvSpPr txBox="1"/>
          <p:nvPr/>
        </p:nvSpPr>
        <p:spPr>
          <a:xfrm>
            <a:off x="65312" y="657225"/>
            <a:ext cx="6538914" cy="6047809"/>
          </a:xfrm>
          <a:prstGeom prst="rect">
            <a:avLst/>
          </a:prstGeom>
          <a:noFill/>
        </p:spPr>
        <p:txBody>
          <a:bodyPr wrap="square" rtlCol="0">
            <a:spAutoFit/>
          </a:bodyPr>
          <a:lstStyle/>
          <a:p>
            <a:pPr algn="l" fontAlgn="base">
              <a:lnSpc>
                <a:spcPts val="1800"/>
              </a:lnSpc>
              <a:buFont typeface="+mj-lt"/>
              <a:buAutoNum type="arabicPeriod"/>
            </a:pPr>
            <a:r>
              <a:rPr lang="zh-CN" altLang="en-US" sz="1200" b="1" i="0" dirty="0">
                <a:solidFill>
                  <a:srgbClr val="060607"/>
                </a:solidFill>
                <a:effectLst/>
                <a:latin typeface="inherit"/>
              </a:rPr>
              <a:t>扩散模型的逆过程</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扩散模型的逆过程是从噪声中恢复出干净的</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 </a:t>
            </a:r>
            <a:r>
              <a:rPr lang="en-US" altLang="zh-CN" sz="1200" b="0" i="1" dirty="0">
                <a:solidFill>
                  <a:srgbClr val="060607"/>
                </a:solidFill>
                <a:effectLst/>
                <a:latin typeface="KaTeX_Math"/>
              </a:rPr>
              <a:t>P</a:t>
            </a:r>
            <a:r>
              <a:rPr lang="en-US" altLang="zh-CN" sz="1200" b="0" i="0" baseline="-25000" dirty="0">
                <a:solidFill>
                  <a:srgbClr val="060607"/>
                </a:solidFill>
                <a:effectLst/>
                <a:latin typeface="inherit"/>
              </a:rPr>
              <a:t>0​</a:t>
            </a:r>
            <a:r>
              <a:rPr lang="zh-CN" altLang="en-US" sz="1200" b="0" i="0" dirty="0">
                <a:solidFill>
                  <a:srgbClr val="060607"/>
                </a:solidFill>
                <a:effectLst/>
                <a:latin typeface="inherit"/>
              </a:rPr>
              <a:t>。这个过程从高斯噪声 </a:t>
            </a:r>
            <a:r>
              <a:rPr lang="en-US" altLang="zh-CN" sz="1200" b="0" i="1" dirty="0">
                <a:solidFill>
                  <a:srgbClr val="060607"/>
                </a:solidFill>
                <a:effectLst/>
                <a:latin typeface="KaTeX_Math"/>
              </a:rPr>
              <a:t>ϵ</a:t>
            </a:r>
            <a:r>
              <a:rPr lang="zh-CN" altLang="en-US" sz="1200" b="0" i="0" dirty="0">
                <a:solidFill>
                  <a:srgbClr val="060607"/>
                </a:solidFill>
                <a:effectLst/>
                <a:latin typeface="inherit"/>
              </a:rPr>
              <a:t> 开始，逐步去噪，直到得到干净的</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在每个扩散时间步 </a:t>
            </a:r>
            <a:r>
              <a:rPr lang="en-US" altLang="zh-CN" sz="1200" b="0" i="1" dirty="0">
                <a:solidFill>
                  <a:srgbClr val="060607"/>
                </a:solidFill>
                <a:effectLst/>
                <a:latin typeface="KaTeX_Math"/>
              </a:rPr>
              <a:t>t</a:t>
            </a:r>
            <a:r>
              <a:rPr lang="zh-CN" altLang="en-US" sz="1200" b="0" i="0" dirty="0">
                <a:solidFill>
                  <a:srgbClr val="060607"/>
                </a:solidFill>
                <a:effectLst/>
                <a:latin typeface="inherit"/>
              </a:rPr>
              <a:t>，生成一个中间图像 </a:t>
            </a:r>
            <a:r>
              <a:rPr lang="en-US" altLang="zh-CN" sz="1200" b="0" i="1" dirty="0">
                <a:solidFill>
                  <a:srgbClr val="060607"/>
                </a:solidFill>
                <a:effectLst/>
                <a:latin typeface="KaTeX_Math"/>
              </a:rPr>
              <a:t>P</a:t>
            </a:r>
            <a:r>
              <a:rPr lang="en-US" altLang="zh-CN" sz="1200" b="0" i="1" baseline="-25000" dirty="0">
                <a:solidFill>
                  <a:srgbClr val="060607"/>
                </a:solidFill>
                <a:effectLst/>
                <a:latin typeface="KaTeX_Math"/>
              </a:rPr>
              <a:t>t</a:t>
            </a:r>
            <a:r>
              <a:rPr lang="zh-CN" altLang="en-US" sz="1200" b="0" i="0" baseline="-25000" dirty="0">
                <a:solidFill>
                  <a:srgbClr val="060607"/>
                </a:solidFill>
                <a:effectLst/>
                <a:latin typeface="inherit"/>
              </a:rPr>
              <a:t>​</a:t>
            </a:r>
            <a:r>
              <a:rPr lang="zh-CN" altLang="en-US" sz="1200" b="0" i="0" dirty="0">
                <a:solidFill>
                  <a:srgbClr val="060607"/>
                </a:solidFill>
                <a:effectLst/>
                <a:latin typeface="inherit"/>
              </a:rPr>
              <a:t>，这个过程从 </a:t>
            </a:r>
            <a:r>
              <a:rPr lang="en-US" altLang="zh-CN" sz="1200" b="0" i="1" dirty="0">
                <a:solidFill>
                  <a:srgbClr val="060607"/>
                </a:solidFill>
                <a:effectLst/>
                <a:latin typeface="KaTeX_Math"/>
              </a:rPr>
              <a:t>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T</a:t>
            </a:r>
            <a:r>
              <a:rPr lang="zh-CN" altLang="en-US" sz="1200" b="0" i="0" dirty="0">
                <a:solidFill>
                  <a:srgbClr val="060607"/>
                </a:solidFill>
                <a:effectLst/>
                <a:latin typeface="inherit"/>
              </a:rPr>
              <a:t> 开始，直到 </a:t>
            </a:r>
            <a:r>
              <a:rPr lang="en-US" altLang="zh-CN" sz="1200" b="0" i="1" dirty="0">
                <a:solidFill>
                  <a:srgbClr val="060607"/>
                </a:solidFill>
                <a:effectLst/>
                <a:latin typeface="KaTeX_Math"/>
              </a:rPr>
              <a:t>t</a:t>
            </a:r>
            <a:r>
              <a:rPr lang="en-US" altLang="zh-CN" sz="1200" b="0" i="0" dirty="0">
                <a:solidFill>
                  <a:srgbClr val="060607"/>
                </a:solidFill>
                <a:effectLst/>
                <a:latin typeface="KaTeX_Main"/>
              </a:rPr>
              <a:t>=1</a:t>
            </a:r>
            <a:r>
              <a:rPr lang="zh-CN" altLang="en-US" sz="1200" b="0" i="0" dirty="0">
                <a:solidFill>
                  <a:srgbClr val="060607"/>
                </a:solidFill>
                <a:effectLst/>
                <a:latin typeface="inherit"/>
              </a:rPr>
              <a:t>。</a:t>
            </a:r>
          </a:p>
          <a:p>
            <a:pPr algn="l" fontAlgn="base">
              <a:lnSpc>
                <a:spcPts val="1800"/>
              </a:lnSpc>
              <a:buFont typeface="+mj-lt"/>
              <a:buAutoNum type="arabicPeriod"/>
            </a:pPr>
            <a:r>
              <a:rPr lang="zh-CN" altLang="en-US" sz="1200" b="1" i="0" dirty="0">
                <a:solidFill>
                  <a:srgbClr val="060607"/>
                </a:solidFill>
                <a:effectLst/>
                <a:latin typeface="inherit"/>
              </a:rPr>
              <a:t>条件化去噪模型</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去噪模型 </a:t>
            </a:r>
            <a:r>
              <a:rPr lang="en-US" altLang="zh-CN" sz="1200" b="0" i="1" dirty="0">
                <a:solidFill>
                  <a:srgbClr val="060607"/>
                </a:solidFill>
                <a:effectLst/>
                <a:latin typeface="KaTeX_Math"/>
              </a:rPr>
              <a:t>x</a:t>
            </a:r>
            <a:r>
              <a:rPr lang="en-US" altLang="zh-CN" sz="1200" b="0" i="1" baseline="-25000" dirty="0">
                <a:solidFill>
                  <a:srgbClr val="060607"/>
                </a:solidFill>
                <a:effectLst/>
                <a:latin typeface="KaTeX_Math"/>
              </a:rPr>
              <a:t>θ</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zh-CN" altLang="en-US" sz="1200" b="0" i="0" dirty="0">
                <a:solidFill>
                  <a:srgbClr val="060607"/>
                </a:solidFill>
                <a:effectLst/>
                <a:latin typeface="inherit"/>
              </a:rPr>
              <a:t> 通过</a:t>
            </a:r>
            <a:r>
              <a:rPr lang="en-US" altLang="zh-CN" sz="1200" b="0" i="0" dirty="0">
                <a:solidFill>
                  <a:srgbClr val="060607"/>
                </a:solidFill>
                <a:effectLst/>
                <a:latin typeface="inherit"/>
              </a:rPr>
              <a:t>AdaGN</a:t>
            </a:r>
            <a:r>
              <a:rPr lang="zh-CN" altLang="en-US" sz="1200" b="0" i="0" dirty="0">
                <a:solidFill>
                  <a:srgbClr val="060607"/>
                </a:solidFill>
                <a:effectLst/>
                <a:latin typeface="inherit"/>
              </a:rPr>
              <a:t>层条件化于多模态变量，包括任务特定表示 </a:t>
            </a:r>
            <a:r>
              <a:rPr lang="en-US" altLang="zh-CN" sz="1200" b="0" i="1" dirty="0">
                <a:solidFill>
                  <a:srgbClr val="060607"/>
                </a:solidFill>
                <a:effectLst/>
                <a:latin typeface="KaTeX_Math"/>
              </a:rPr>
              <a:t>h</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 和临床数据 </a:t>
            </a:r>
            <a:r>
              <a:rPr lang="en-US" altLang="zh-CN" sz="1200" b="0" i="1" dirty="0">
                <a:solidFill>
                  <a:srgbClr val="060607"/>
                </a:solidFill>
                <a:effectLst/>
                <a:latin typeface="KaTeX_Math"/>
              </a:rPr>
              <a:t>c</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en-US" altLang="zh-CN" sz="1200" b="0" i="0" dirty="0">
                <a:solidFill>
                  <a:srgbClr val="060607"/>
                </a:solidFill>
                <a:effectLst/>
                <a:latin typeface="inherit"/>
              </a:rPr>
              <a:t>AdaGN</a:t>
            </a:r>
            <a:r>
              <a:rPr lang="zh-CN" altLang="en-US" sz="1200" b="0" i="0" dirty="0">
                <a:solidFill>
                  <a:srgbClr val="060607"/>
                </a:solidFill>
                <a:effectLst/>
                <a:latin typeface="inherit"/>
              </a:rPr>
              <a:t>层适应以下条件：</a:t>
            </a:r>
          </a:p>
          <a:p>
            <a:pPr marL="1143000" lvl="2" indent="-228600" algn="l" fontAlgn="base">
              <a:lnSpc>
                <a:spcPts val="1800"/>
              </a:lnSpc>
              <a:buFont typeface="+mj-lt"/>
              <a:buAutoNum type="arabicPeriod"/>
            </a:pPr>
            <a:r>
              <a:rPr lang="zh-CN" altLang="en-US" sz="1200" b="0" i="0" dirty="0">
                <a:solidFill>
                  <a:srgbClr val="060607"/>
                </a:solidFill>
                <a:effectLst/>
                <a:latin typeface="inherit"/>
              </a:rPr>
              <a:t>扩散过程中的时间步 </a:t>
            </a:r>
            <a:r>
              <a:rPr lang="en-US" altLang="zh-CN" sz="1200" b="0" i="1" dirty="0">
                <a:solidFill>
                  <a:srgbClr val="060607"/>
                </a:solidFill>
                <a:effectLst/>
                <a:latin typeface="KaTeX_Math"/>
              </a:rPr>
              <a:t>t</a:t>
            </a:r>
            <a:r>
              <a:rPr lang="zh-CN" altLang="en-US" sz="1200" b="0" i="0" dirty="0">
                <a:solidFill>
                  <a:srgbClr val="060607"/>
                </a:solidFill>
                <a:effectLst/>
                <a:latin typeface="inherit"/>
              </a:rPr>
              <a:t>。</a:t>
            </a:r>
          </a:p>
          <a:p>
            <a:pPr marL="1143000" lvl="2" indent="-228600" algn="l" fontAlgn="base">
              <a:lnSpc>
                <a:spcPts val="1800"/>
              </a:lnSpc>
              <a:buFont typeface="+mj-lt"/>
              <a:buAutoNum type="arabicPeriod"/>
            </a:pPr>
            <a:r>
              <a:rPr lang="zh-CN" altLang="en-US" sz="1200" b="0" i="0" dirty="0">
                <a:solidFill>
                  <a:srgbClr val="060607"/>
                </a:solidFill>
                <a:effectLst/>
                <a:latin typeface="inherit"/>
              </a:rPr>
              <a:t>来自条件臂的多尺度任务特定表示 </a:t>
            </a:r>
            <a:r>
              <a:rPr lang="en-US" altLang="zh-CN" sz="1200" b="0" i="1" dirty="0">
                <a:solidFill>
                  <a:srgbClr val="060607"/>
                </a:solidFill>
                <a:effectLst/>
                <a:latin typeface="KaTeX_Math"/>
              </a:rPr>
              <a:t>h</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a:t>
            </a:r>
          </a:p>
          <a:p>
            <a:pPr marL="1143000" lvl="2" indent="-228600" algn="l" fontAlgn="base">
              <a:lnSpc>
                <a:spcPts val="1800"/>
              </a:lnSpc>
              <a:buFont typeface="+mj-lt"/>
              <a:buAutoNum type="arabicPeriod"/>
            </a:pPr>
            <a:r>
              <a:rPr lang="zh-CN" altLang="en-US" sz="1200" b="0" i="0" dirty="0">
                <a:solidFill>
                  <a:srgbClr val="060607"/>
                </a:solidFill>
                <a:effectLst/>
                <a:latin typeface="inherit"/>
              </a:rPr>
              <a:t>个体受试者的临床数据 </a:t>
            </a:r>
            <a:r>
              <a:rPr lang="en-US" altLang="zh-CN" sz="1200" b="0" i="1" dirty="0">
                <a:solidFill>
                  <a:srgbClr val="060607"/>
                </a:solidFill>
                <a:effectLst/>
                <a:latin typeface="KaTeX_Math"/>
              </a:rPr>
              <a:t>c</a:t>
            </a:r>
            <a:r>
              <a:rPr lang="zh-CN" altLang="en-US" sz="1200" b="0" i="0" dirty="0">
                <a:solidFill>
                  <a:srgbClr val="060607"/>
                </a:solidFill>
                <a:effectLst/>
                <a:latin typeface="inherit"/>
              </a:rPr>
              <a:t>。</a:t>
            </a:r>
          </a:p>
          <a:p>
            <a:pPr algn="l" fontAlgn="base">
              <a:lnSpc>
                <a:spcPts val="1800"/>
              </a:lnSpc>
              <a:buFont typeface="+mj-lt"/>
              <a:buAutoNum type="arabicPeriod"/>
            </a:pPr>
            <a:r>
              <a:rPr lang="en-US" altLang="zh-CN" sz="1200" b="1" i="0" dirty="0">
                <a:solidFill>
                  <a:srgbClr val="060607"/>
                </a:solidFill>
                <a:effectLst/>
                <a:latin typeface="inherit"/>
              </a:rPr>
              <a:t>PASTA</a:t>
            </a:r>
            <a:r>
              <a:rPr lang="zh-CN" altLang="en-US" sz="1200" b="1" i="0" dirty="0">
                <a:solidFill>
                  <a:srgbClr val="060607"/>
                </a:solidFill>
                <a:effectLst/>
                <a:latin typeface="inherit"/>
              </a:rPr>
              <a:t>的对称布局</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en-US" altLang="zh-CN" sz="1200" b="0" i="0" dirty="0">
                <a:solidFill>
                  <a:srgbClr val="060607"/>
                </a:solidFill>
                <a:effectLst/>
                <a:latin typeface="inherit"/>
              </a:rPr>
              <a:t>PASTA</a:t>
            </a:r>
            <a:r>
              <a:rPr lang="zh-CN" altLang="en-US" sz="1200" b="0" i="0" dirty="0">
                <a:solidFill>
                  <a:srgbClr val="060607"/>
                </a:solidFill>
                <a:effectLst/>
                <a:latin typeface="inherit"/>
              </a:rPr>
              <a:t>的对称布局允许去噪模型 </a:t>
            </a:r>
            <a:r>
              <a:rPr lang="en-US" altLang="zh-CN" sz="1200" b="0" i="1" dirty="0">
                <a:solidFill>
                  <a:srgbClr val="060607"/>
                </a:solidFill>
                <a:effectLst/>
                <a:latin typeface="KaTeX_Math"/>
              </a:rPr>
              <a:t>x</a:t>
            </a:r>
            <a:r>
              <a:rPr lang="en-US" altLang="zh-CN" sz="1200" b="0" i="1" baseline="-25000" dirty="0">
                <a:solidFill>
                  <a:srgbClr val="060607"/>
                </a:solidFill>
                <a:effectLst/>
                <a:latin typeface="KaTeX_Math"/>
              </a:rPr>
              <a:t>θ</a:t>
            </a:r>
            <a:r>
              <a:rPr lang="zh-CN" altLang="en-US" sz="1200" b="0" i="0" baseline="-25000" dirty="0">
                <a:solidFill>
                  <a:srgbClr val="060607"/>
                </a:solidFill>
                <a:effectLst/>
                <a:latin typeface="inherit"/>
              </a:rPr>
              <a:t>​ </a:t>
            </a:r>
            <a:r>
              <a:rPr lang="zh-CN" altLang="en-US" sz="1200" b="0" i="0" dirty="0">
                <a:solidFill>
                  <a:srgbClr val="060607"/>
                </a:solidFill>
                <a:effectLst/>
                <a:latin typeface="inherit"/>
              </a:rPr>
              <a:t>在每个尺度上的特征图被条件臂的相应尺度的任务表示所调节。这种布局增强了条件模态的影响。</a:t>
            </a:r>
          </a:p>
          <a:p>
            <a:pPr algn="l" fontAlgn="base">
              <a:lnSpc>
                <a:spcPts val="1800"/>
              </a:lnSpc>
              <a:buFont typeface="+mj-lt"/>
              <a:buAutoNum type="arabicPeriod"/>
            </a:pPr>
            <a:r>
              <a:rPr lang="en-US" altLang="zh-CN" sz="1200" b="1" i="0" dirty="0">
                <a:solidFill>
                  <a:srgbClr val="060607"/>
                </a:solidFill>
                <a:effectLst/>
                <a:latin typeface="inherit"/>
              </a:rPr>
              <a:t>MetaROIs</a:t>
            </a:r>
            <a:r>
              <a:rPr lang="zh-CN" altLang="en-US" sz="1200" b="1" i="0" dirty="0">
                <a:solidFill>
                  <a:srgbClr val="060607"/>
                </a:solidFill>
                <a:effectLst/>
                <a:latin typeface="inherit"/>
              </a:rPr>
              <a:t>作为病理先验</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为了进一步增强病理意识，模型中整合了</a:t>
            </a:r>
            <a:r>
              <a:rPr lang="en-US" altLang="zh-CN" sz="1200" b="0" i="0" dirty="0">
                <a:solidFill>
                  <a:srgbClr val="060607"/>
                </a:solidFill>
                <a:effectLst/>
                <a:latin typeface="inherit"/>
              </a:rPr>
              <a:t>MetaROIs</a:t>
            </a:r>
            <a:r>
              <a:rPr lang="zh-CN" altLang="en-US" sz="1200" b="0" i="0" dirty="0">
                <a:solidFill>
                  <a:srgbClr val="060607"/>
                </a:solidFill>
                <a:effectLst/>
                <a:latin typeface="inherit"/>
              </a:rPr>
              <a:t>作为病理先验。</a:t>
            </a:r>
            <a:r>
              <a:rPr lang="en-US" altLang="zh-CN" sz="1200" b="0" i="0" dirty="0">
                <a:solidFill>
                  <a:srgbClr val="060607"/>
                </a:solidFill>
                <a:effectLst/>
                <a:latin typeface="inherit"/>
              </a:rPr>
              <a:t>MetaROIs</a:t>
            </a:r>
            <a:r>
              <a:rPr lang="zh-CN" altLang="en-US" sz="1200" b="0" i="0" dirty="0">
                <a:solidFill>
                  <a:srgbClr val="060607"/>
                </a:solidFill>
                <a:effectLst/>
                <a:latin typeface="inherit"/>
              </a:rPr>
              <a:t>是一组基于坐标预定义的兴趣区域，这些坐标在比较</a:t>
            </a:r>
            <a:r>
              <a:rPr lang="en-US" altLang="zh-CN" sz="1200" b="0" i="0" dirty="0">
                <a:solidFill>
                  <a:srgbClr val="060607"/>
                </a:solidFill>
                <a:effectLst/>
                <a:latin typeface="inherit"/>
              </a:rPr>
              <a:t>AD</a:t>
            </a:r>
            <a:r>
              <a:rPr lang="zh-CN" altLang="en-US" sz="1200" b="0" i="0" dirty="0">
                <a:solidFill>
                  <a:srgbClr val="060607"/>
                </a:solidFill>
                <a:effectLst/>
                <a:latin typeface="inherit"/>
              </a:rPr>
              <a:t>患者和正常受试者的</a:t>
            </a:r>
            <a:r>
              <a:rPr lang="en-US" altLang="zh-CN" sz="1200" b="0" i="0" dirty="0">
                <a:solidFill>
                  <a:srgbClr val="060607"/>
                </a:solidFill>
                <a:effectLst/>
                <a:latin typeface="inherit"/>
              </a:rPr>
              <a:t>PET</a:t>
            </a:r>
            <a:r>
              <a:rPr lang="zh-CN" altLang="en-US" sz="1200" b="0" i="0" dirty="0">
                <a:solidFill>
                  <a:srgbClr val="060607"/>
                </a:solidFill>
                <a:effectLst/>
                <a:latin typeface="inherit"/>
              </a:rPr>
              <a:t>研究中经常被引用。</a:t>
            </a:r>
          </a:p>
          <a:p>
            <a:pPr marL="742950" lvl="1" indent="-285750" algn="l" fontAlgn="base">
              <a:lnSpc>
                <a:spcPts val="1800"/>
              </a:lnSpc>
              <a:buFont typeface="+mj-lt"/>
              <a:buAutoNum type="arabicPeriod"/>
            </a:pPr>
            <a:r>
              <a:rPr lang="en-US" altLang="zh-CN" sz="1200" b="0" i="0" dirty="0">
                <a:solidFill>
                  <a:srgbClr val="060607"/>
                </a:solidFill>
                <a:effectLst/>
                <a:latin typeface="inherit"/>
              </a:rPr>
              <a:t>MetaROIs</a:t>
            </a:r>
            <a:r>
              <a:rPr lang="zh-CN" altLang="en-US" sz="1200" b="0" i="0" dirty="0">
                <a:solidFill>
                  <a:srgbClr val="060607"/>
                </a:solidFill>
                <a:effectLst/>
                <a:latin typeface="inherit"/>
              </a:rPr>
              <a:t>被转换为损失加权图 </a:t>
            </a:r>
            <a:r>
              <a:rPr lang="en-US" altLang="zh-CN" sz="1200" b="0" i="1" dirty="0">
                <a:solidFill>
                  <a:srgbClr val="060607"/>
                </a:solidFill>
                <a:effectLst/>
                <a:latin typeface="KaTeX_Math"/>
              </a:rPr>
              <a:t>λ</a:t>
            </a:r>
            <a:r>
              <a:rPr lang="en-US" altLang="zh-CN" sz="1200" b="0" i="1" baseline="-25000" dirty="0">
                <a:solidFill>
                  <a:srgbClr val="060607"/>
                </a:solidFill>
                <a:effectLst/>
                <a:latin typeface="KaTeX_Math"/>
              </a:rPr>
              <a:t>R</a:t>
            </a:r>
            <a:r>
              <a:rPr lang="zh-CN" altLang="en-US" sz="1200" b="0" i="0" dirty="0">
                <a:solidFill>
                  <a:srgbClr val="060607"/>
                </a:solidFill>
                <a:effectLst/>
                <a:latin typeface="inherit"/>
              </a:rPr>
              <a:t>​</a:t>
            </a:r>
            <a:r>
              <a:rPr lang="zh-CN" altLang="en-US" sz="1200" b="0" i="0" dirty="0">
                <a:solidFill>
                  <a:srgbClr val="060607"/>
                </a:solidFill>
                <a:effectLst/>
                <a:latin typeface="KaTeX_Main"/>
              </a:rPr>
              <a:t>∈</a:t>
            </a:r>
            <a:r>
              <a:rPr lang="en-US" altLang="zh-CN" sz="1200" b="0" i="0" dirty="0">
                <a:solidFill>
                  <a:srgbClr val="060607"/>
                </a:solidFill>
                <a:effectLst/>
                <a:latin typeface="KaTeX_AMS"/>
              </a:rPr>
              <a:t>R</a:t>
            </a:r>
            <a:r>
              <a:rPr lang="en-US" altLang="zh-CN" sz="1200" b="0" i="1" baseline="30000" dirty="0">
                <a:solidFill>
                  <a:srgbClr val="060607"/>
                </a:solidFill>
                <a:effectLst/>
                <a:latin typeface="KaTeX_Math"/>
              </a:rPr>
              <a:t>H</a:t>
            </a:r>
            <a:r>
              <a:rPr lang="en-US" altLang="zh-CN" sz="1200" b="0" i="0" baseline="30000" dirty="0">
                <a:solidFill>
                  <a:srgbClr val="060607"/>
                </a:solidFill>
                <a:effectLst/>
                <a:latin typeface="inherit"/>
              </a:rPr>
              <a:t>×</a:t>
            </a:r>
            <a:r>
              <a:rPr lang="en-US" altLang="zh-CN" sz="1200" b="0" i="1" baseline="30000" dirty="0">
                <a:solidFill>
                  <a:srgbClr val="060607"/>
                </a:solidFill>
                <a:effectLst/>
                <a:latin typeface="KaTeX_Math"/>
              </a:rPr>
              <a:t>W</a:t>
            </a:r>
            <a:r>
              <a:rPr lang="en-US" altLang="zh-CN" sz="1200" b="0" i="0" baseline="30000" dirty="0">
                <a:solidFill>
                  <a:srgbClr val="060607"/>
                </a:solidFill>
                <a:effectLst/>
                <a:latin typeface="inherit"/>
              </a:rPr>
              <a:t>×</a:t>
            </a:r>
            <a:r>
              <a:rPr lang="en-US" altLang="zh-CN" sz="1200" b="0" i="1" baseline="30000" dirty="0">
                <a:solidFill>
                  <a:srgbClr val="060607"/>
                </a:solidFill>
                <a:effectLst/>
                <a:latin typeface="KaTeX_Math"/>
              </a:rPr>
              <a:t>D</a:t>
            </a:r>
            <a:r>
              <a:rPr lang="zh-CN" altLang="en-US" sz="1200" b="0" i="0" dirty="0">
                <a:solidFill>
                  <a:srgbClr val="060607"/>
                </a:solidFill>
                <a:effectLst/>
                <a:latin typeface="inherit"/>
              </a:rPr>
              <a:t>，并添加到去噪器臂中。</a:t>
            </a:r>
          </a:p>
          <a:p>
            <a:pPr algn="l" fontAlgn="base">
              <a:lnSpc>
                <a:spcPts val="1800"/>
              </a:lnSpc>
              <a:buFont typeface="+mj-lt"/>
              <a:buAutoNum type="arabicPeriod"/>
            </a:pPr>
            <a:r>
              <a:rPr lang="zh-CN" altLang="en-US" sz="1200" b="1" i="0" dirty="0">
                <a:solidFill>
                  <a:srgbClr val="060607"/>
                </a:solidFill>
                <a:effectLst/>
                <a:latin typeface="inherit"/>
              </a:rPr>
              <a:t>损失函数</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在训练过程中，当去噪的</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图像的</a:t>
            </a:r>
            <a:r>
              <a:rPr lang="en-US" altLang="zh-CN" sz="1200" b="0" i="0" dirty="0">
                <a:solidFill>
                  <a:srgbClr val="060607"/>
                </a:solidFill>
                <a:effectLst/>
                <a:latin typeface="inherit"/>
              </a:rPr>
              <a:t>MetaROIs</a:t>
            </a:r>
            <a:r>
              <a:rPr lang="zh-CN" altLang="en-US" sz="1200" b="0" i="0" dirty="0">
                <a:solidFill>
                  <a:srgbClr val="060607"/>
                </a:solidFill>
                <a:effectLst/>
                <a:latin typeface="inherit"/>
              </a:rPr>
              <a:t>偏离真实</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图像时，会受到更大的惩罚。损失函数定义为：</a:t>
            </a:r>
          </a:p>
          <a:p>
            <a:pPr marL="742950" lvl="1" indent="-285750" algn="l" fontAlgn="base">
              <a:lnSpc>
                <a:spcPts val="1800"/>
              </a:lnSpc>
              <a:buFont typeface="+mj-lt"/>
              <a:buAutoNum type="arabicPeriod"/>
            </a:pPr>
            <a:r>
              <a:rPr lang="en-US" altLang="zh-CN" sz="1200" b="0" i="1" dirty="0">
                <a:solidFill>
                  <a:srgbClr val="060607"/>
                </a:solidFill>
                <a:effectLst/>
                <a:latin typeface="KaTeX_Math"/>
              </a:rPr>
              <a:t>1</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其中，</a:t>
            </a:r>
            <a:r>
              <a:rPr lang="en-US" altLang="zh-CN" sz="1200" b="0" i="1" dirty="0">
                <a:solidFill>
                  <a:srgbClr val="060607"/>
                </a:solidFill>
                <a:effectLst/>
                <a:latin typeface="KaTeX_Math"/>
              </a:rPr>
              <a:t>α</a:t>
            </a:r>
            <a:r>
              <a:rPr lang="en-US" altLang="zh-CN" sz="1200" b="0" i="1" baseline="-25000" dirty="0">
                <a:solidFill>
                  <a:srgbClr val="060607"/>
                </a:solidFill>
                <a:effectLst/>
                <a:latin typeface="KaTeX_Math"/>
              </a:rPr>
              <a:t>t</a:t>
            </a:r>
            <a:r>
              <a:rPr lang="zh-CN" altLang="en-US" sz="1200" b="0" i="0" baseline="-25000" dirty="0">
                <a:solidFill>
                  <a:srgbClr val="060607"/>
                </a:solidFill>
                <a:effectLst/>
                <a:latin typeface="inherit"/>
              </a:rPr>
              <a:t>​ </a:t>
            </a:r>
            <a:r>
              <a:rPr lang="zh-CN" altLang="en-US" sz="1200" b="0" i="0" dirty="0">
                <a:solidFill>
                  <a:srgbClr val="060607"/>
                </a:solidFill>
                <a:effectLst/>
                <a:latin typeface="inherit"/>
              </a:rPr>
              <a:t>和 </a:t>
            </a:r>
            <a:r>
              <a:rPr lang="en-US" altLang="zh-CN" sz="1200" b="0" i="1" dirty="0">
                <a:solidFill>
                  <a:srgbClr val="060607"/>
                </a:solidFill>
                <a:effectLst/>
                <a:latin typeface="KaTeX_Math"/>
              </a:rPr>
              <a:t>σ</a:t>
            </a:r>
            <a:r>
              <a:rPr lang="en-US" altLang="zh-CN" sz="1200" b="0" i="1" baseline="-25000" dirty="0">
                <a:solidFill>
                  <a:srgbClr val="060607"/>
                </a:solidFill>
                <a:effectLst/>
                <a:latin typeface="KaTeX_Math"/>
              </a:rPr>
              <a:t>t</a:t>
            </a:r>
            <a:r>
              <a:rPr lang="zh-CN" altLang="en-US" sz="1200" b="0" i="0" baseline="-25000" dirty="0">
                <a:solidFill>
                  <a:srgbClr val="060607"/>
                </a:solidFill>
                <a:effectLst/>
                <a:latin typeface="inherit"/>
              </a:rPr>
              <a:t>​ </a:t>
            </a:r>
            <a:r>
              <a:rPr lang="zh-CN" altLang="en-US" sz="1200" b="0" i="0" dirty="0">
                <a:solidFill>
                  <a:srgbClr val="060607"/>
                </a:solidFill>
                <a:effectLst/>
                <a:latin typeface="inherit"/>
              </a:rPr>
              <a:t>是扩散过程中的参数，控制噪声的添加程度。</a:t>
            </a:r>
            <a:r>
              <a:rPr lang="en-US" altLang="zh-CN" sz="1200" b="0" i="0" dirty="0">
                <a:solidFill>
                  <a:srgbClr val="0070C0"/>
                </a:solidFill>
                <a:effectLst/>
                <a:latin typeface="inherit"/>
              </a:rPr>
              <a:t>[1]</a:t>
            </a:r>
            <a:endParaRPr lang="zh-CN" altLang="en-US" sz="1200" b="0" i="0" dirty="0">
              <a:solidFill>
                <a:srgbClr val="0070C0"/>
              </a:solidFill>
              <a:effectLst/>
              <a:latin typeface="inherit"/>
            </a:endParaRPr>
          </a:p>
          <a:p>
            <a:endParaRPr lang="zh-CN" altLang="en-US" sz="1200" dirty="0"/>
          </a:p>
        </p:txBody>
      </p:sp>
      <p:sp>
        <p:nvSpPr>
          <p:cNvPr id="6" name="文本框 5">
            <a:extLst>
              <a:ext uri="{FF2B5EF4-FFF2-40B4-BE49-F238E27FC236}">
                <a16:creationId xmlns:a16="http://schemas.microsoft.com/office/drawing/2014/main" id="{19ADDD5B-F43D-0841-596D-796C143578F4}"/>
              </a:ext>
            </a:extLst>
          </p:cNvPr>
          <p:cNvSpPr txBox="1"/>
          <p:nvPr/>
        </p:nvSpPr>
        <p:spPr>
          <a:xfrm>
            <a:off x="10401300" y="180975"/>
            <a:ext cx="1552575" cy="369332"/>
          </a:xfrm>
          <a:prstGeom prst="rect">
            <a:avLst/>
          </a:prstGeom>
          <a:noFill/>
        </p:spPr>
        <p:txBody>
          <a:bodyPr wrap="square" rtlCol="0">
            <a:spAutoFit/>
          </a:bodyPr>
          <a:lstStyle/>
          <a:p>
            <a:r>
              <a:rPr lang="zh-CN" altLang="en-US" b="1" dirty="0"/>
              <a:t>模型架构</a:t>
            </a:r>
            <a:endParaRPr lang="en-US" altLang="zh-CN" b="1" dirty="0"/>
          </a:p>
        </p:txBody>
      </p:sp>
      <p:pic>
        <p:nvPicPr>
          <p:cNvPr id="5" name="图片 4">
            <a:extLst>
              <a:ext uri="{FF2B5EF4-FFF2-40B4-BE49-F238E27FC236}">
                <a16:creationId xmlns:a16="http://schemas.microsoft.com/office/drawing/2014/main" id="{AE3D80FB-2005-42EB-61B3-961079E79907}"/>
              </a:ext>
            </a:extLst>
          </p:cNvPr>
          <p:cNvPicPr>
            <a:picLocks noChangeAspect="1"/>
          </p:cNvPicPr>
          <p:nvPr/>
        </p:nvPicPr>
        <p:blipFill>
          <a:blip r:embed="rId2"/>
          <a:stretch>
            <a:fillRect/>
          </a:stretch>
        </p:blipFill>
        <p:spPr>
          <a:xfrm>
            <a:off x="6604226" y="657225"/>
            <a:ext cx="5587774" cy="3110780"/>
          </a:xfrm>
          <a:prstGeom prst="rect">
            <a:avLst/>
          </a:prstGeom>
        </p:spPr>
      </p:pic>
      <p:pic>
        <p:nvPicPr>
          <p:cNvPr id="7" name="图片 6">
            <a:extLst>
              <a:ext uri="{FF2B5EF4-FFF2-40B4-BE49-F238E27FC236}">
                <a16:creationId xmlns:a16="http://schemas.microsoft.com/office/drawing/2014/main" id="{A19A61EE-E01F-91A0-F0C3-7B7FFA33048F}"/>
              </a:ext>
            </a:extLst>
          </p:cNvPr>
          <p:cNvPicPr>
            <a:picLocks noChangeAspect="1"/>
          </p:cNvPicPr>
          <p:nvPr/>
        </p:nvPicPr>
        <p:blipFill>
          <a:blip r:embed="rId3"/>
          <a:stretch>
            <a:fillRect/>
          </a:stretch>
        </p:blipFill>
        <p:spPr>
          <a:xfrm>
            <a:off x="896369" y="5715501"/>
            <a:ext cx="2438400" cy="256674"/>
          </a:xfrm>
          <a:prstGeom prst="rect">
            <a:avLst/>
          </a:prstGeom>
        </p:spPr>
      </p:pic>
      <p:sp>
        <p:nvSpPr>
          <p:cNvPr id="8" name="文本框 7">
            <a:extLst>
              <a:ext uri="{FF2B5EF4-FFF2-40B4-BE49-F238E27FC236}">
                <a16:creationId xmlns:a16="http://schemas.microsoft.com/office/drawing/2014/main" id="{5AD5BA34-9BAD-7761-ED97-BE8C863481FE}"/>
              </a:ext>
            </a:extLst>
          </p:cNvPr>
          <p:cNvSpPr txBox="1"/>
          <p:nvPr/>
        </p:nvSpPr>
        <p:spPr>
          <a:xfrm>
            <a:off x="6991350" y="4429125"/>
            <a:ext cx="4524375" cy="1200329"/>
          </a:xfrm>
          <a:prstGeom prst="rect">
            <a:avLst/>
          </a:prstGeom>
          <a:noFill/>
        </p:spPr>
        <p:txBody>
          <a:bodyPr wrap="square" rtlCol="0">
            <a:spAutoFit/>
          </a:bodyPr>
          <a:lstStyle/>
          <a:p>
            <a:r>
              <a:rPr lang="zh-CN" altLang="en-US" dirty="0"/>
              <a:t>先将真实的</a:t>
            </a:r>
            <a:r>
              <a:rPr lang="en-US" altLang="zh-CN" dirty="0"/>
              <a:t>PET</a:t>
            </a:r>
            <a:r>
              <a:rPr lang="zh-CN" altLang="en-US" dirty="0"/>
              <a:t>图像进行噪声化，随后通过去噪声臂进行去噪，去噪后的图像与原始图像进行对比，优化参数，最终训练出</a:t>
            </a:r>
            <a:r>
              <a:rPr lang="en-US" altLang="zh-CN" sz="1800" b="0" i="1" dirty="0">
                <a:solidFill>
                  <a:srgbClr val="060607"/>
                </a:solidFill>
                <a:effectLst/>
                <a:latin typeface="KaTeX_Math"/>
              </a:rPr>
              <a:t>x</a:t>
            </a:r>
            <a:r>
              <a:rPr lang="en-US" altLang="zh-CN" sz="1800" b="0" i="1" baseline="-25000" dirty="0">
                <a:solidFill>
                  <a:srgbClr val="060607"/>
                </a:solidFill>
                <a:effectLst/>
                <a:latin typeface="KaTeX_Math"/>
              </a:rPr>
              <a:t>θ</a:t>
            </a:r>
            <a:r>
              <a:rPr lang="zh-CN" altLang="en-US" sz="1800" b="0" i="0" dirty="0">
                <a:solidFill>
                  <a:srgbClr val="060607"/>
                </a:solidFill>
                <a:effectLst/>
                <a:latin typeface="inherit"/>
              </a:rPr>
              <a:t>​</a:t>
            </a:r>
            <a:r>
              <a:rPr lang="en-US" altLang="zh-CN" sz="1800" b="0" i="0" dirty="0">
                <a:solidFill>
                  <a:srgbClr val="060607"/>
                </a:solidFill>
                <a:effectLst/>
                <a:latin typeface="KaTeX_Main"/>
              </a:rPr>
              <a:t>(⋅)</a:t>
            </a:r>
          </a:p>
          <a:p>
            <a:r>
              <a:rPr lang="zh-CN" altLang="en-US" dirty="0">
                <a:solidFill>
                  <a:srgbClr val="060607"/>
                </a:solidFill>
                <a:latin typeface="KaTeX_Main"/>
              </a:rPr>
              <a:t>我对</a:t>
            </a:r>
            <a:r>
              <a:rPr lang="en-US" altLang="zh-CN" dirty="0">
                <a:solidFill>
                  <a:srgbClr val="060607"/>
                </a:solidFill>
                <a:latin typeface="KaTeX_Main"/>
              </a:rPr>
              <a:t>AdaGN</a:t>
            </a:r>
            <a:r>
              <a:rPr lang="zh-CN" altLang="en-US" dirty="0">
                <a:solidFill>
                  <a:srgbClr val="060607"/>
                </a:solidFill>
                <a:latin typeface="KaTeX_Main"/>
              </a:rPr>
              <a:t>如何帮助去噪器臂产生了疑问</a:t>
            </a:r>
            <a:endParaRPr lang="zh-CN" altLang="en-US" dirty="0"/>
          </a:p>
        </p:txBody>
      </p:sp>
    </p:spTree>
    <p:extLst>
      <p:ext uri="{BB962C8B-B14F-4D97-AF65-F5344CB8AC3E}">
        <p14:creationId xmlns:p14="http://schemas.microsoft.com/office/powerpoint/2010/main" val="1683184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6096-6798-9C2D-B12C-79F8E040FE7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6985B2C-6BB0-D5CA-DA78-7338F73C508F}"/>
              </a:ext>
            </a:extLst>
          </p:cNvPr>
          <p:cNvSpPr txBox="1"/>
          <p:nvPr/>
        </p:nvSpPr>
        <p:spPr>
          <a:xfrm>
            <a:off x="1142999" y="180975"/>
            <a:ext cx="3676651" cy="369332"/>
          </a:xfrm>
          <a:prstGeom prst="rect">
            <a:avLst/>
          </a:prstGeom>
          <a:noFill/>
        </p:spPr>
        <p:txBody>
          <a:bodyPr wrap="square" rtlCol="0">
            <a:spAutoFit/>
          </a:bodyPr>
          <a:lstStyle/>
          <a:p>
            <a:r>
              <a:rPr lang="en-US" altLang="zh-CN" b="1" dirty="0"/>
              <a:t>Denoiser Arm</a:t>
            </a:r>
          </a:p>
        </p:txBody>
      </p:sp>
      <p:sp>
        <p:nvSpPr>
          <p:cNvPr id="3" name="文本框 2">
            <a:extLst>
              <a:ext uri="{FF2B5EF4-FFF2-40B4-BE49-F238E27FC236}">
                <a16:creationId xmlns:a16="http://schemas.microsoft.com/office/drawing/2014/main" id="{0E7FD0A5-C527-12A1-47C7-203982BD3909}"/>
              </a:ext>
            </a:extLst>
          </p:cNvPr>
          <p:cNvSpPr txBox="1"/>
          <p:nvPr/>
        </p:nvSpPr>
        <p:spPr>
          <a:xfrm>
            <a:off x="65312" y="657225"/>
            <a:ext cx="6538914" cy="5846409"/>
          </a:xfrm>
          <a:prstGeom prst="rect">
            <a:avLst/>
          </a:prstGeom>
          <a:noFill/>
        </p:spPr>
        <p:txBody>
          <a:bodyPr wrap="square" rtlCol="0">
            <a:spAutoFit/>
          </a:bodyPr>
          <a:lstStyle/>
          <a:p>
            <a:pPr algn="l" fontAlgn="base">
              <a:lnSpc>
                <a:spcPts val="1800"/>
              </a:lnSpc>
            </a:pPr>
            <a:r>
              <a:rPr lang="zh-CN" altLang="en-US" sz="1200" b="0" i="0" dirty="0">
                <a:solidFill>
                  <a:srgbClr val="060607"/>
                </a:solidFill>
                <a:effectLst/>
                <a:latin typeface="inherit"/>
              </a:rPr>
              <a:t>在</a:t>
            </a:r>
            <a:r>
              <a:rPr lang="en-US" altLang="zh-CN" sz="1200" b="0" i="0" dirty="0">
                <a:solidFill>
                  <a:srgbClr val="060607"/>
                </a:solidFill>
                <a:effectLst/>
                <a:latin typeface="inherit"/>
              </a:rPr>
              <a:t>PASTA</a:t>
            </a:r>
            <a:r>
              <a:rPr lang="zh-CN" altLang="en-US" sz="1200" b="0" i="0" dirty="0">
                <a:solidFill>
                  <a:srgbClr val="060607"/>
                </a:solidFill>
                <a:effectLst/>
                <a:latin typeface="inherit"/>
              </a:rPr>
              <a:t>模型中，</a:t>
            </a:r>
            <a:r>
              <a:rPr lang="en-US" altLang="zh-CN" sz="1200" b="0" i="0" dirty="0">
                <a:solidFill>
                  <a:srgbClr val="060607"/>
                </a:solidFill>
                <a:effectLst/>
                <a:latin typeface="inherit"/>
              </a:rPr>
              <a:t>AdaGN</a:t>
            </a:r>
            <a:r>
              <a:rPr lang="zh-CN" altLang="en-US" sz="1200" b="0" i="0" dirty="0">
                <a:solidFill>
                  <a:srgbClr val="060607"/>
                </a:solidFill>
                <a:effectLst/>
                <a:latin typeface="inherit"/>
              </a:rPr>
              <a:t>（自适应组归一化）通过动态调整归一化参数，显著增强了</a:t>
            </a:r>
            <a:r>
              <a:rPr lang="en-US" altLang="zh-CN" sz="1200" b="0" i="0" dirty="0">
                <a:solidFill>
                  <a:srgbClr val="060607"/>
                </a:solidFill>
                <a:effectLst/>
                <a:latin typeface="inherit"/>
              </a:rPr>
              <a:t>Denoiser Arm</a:t>
            </a:r>
            <a:r>
              <a:rPr lang="zh-CN" altLang="en-US" sz="1200" b="0" i="0" dirty="0">
                <a:solidFill>
                  <a:srgbClr val="060607"/>
                </a:solidFill>
                <a:effectLst/>
                <a:latin typeface="inherit"/>
              </a:rPr>
              <a:t>的去噪能力，具体作用如下：</a:t>
            </a:r>
          </a:p>
          <a:p>
            <a:pPr algn="l" fontAlgn="base">
              <a:lnSpc>
                <a:spcPts val="1800"/>
              </a:lnSpc>
            </a:pPr>
            <a:r>
              <a:rPr lang="en-US" altLang="zh-CN" sz="1200" b="0" i="0" dirty="0">
                <a:solidFill>
                  <a:srgbClr val="060607"/>
                </a:solidFill>
                <a:effectLst/>
                <a:latin typeface="inherit"/>
              </a:rPr>
              <a:t>1. </a:t>
            </a:r>
            <a:r>
              <a:rPr lang="zh-CN" altLang="en-US" sz="1200" b="0" i="0" dirty="0">
                <a:solidFill>
                  <a:srgbClr val="060607"/>
                </a:solidFill>
                <a:effectLst/>
                <a:latin typeface="inherit"/>
              </a:rPr>
              <a:t>条件自适应归一化</a:t>
            </a:r>
          </a:p>
          <a:p>
            <a:pPr algn="l" fontAlgn="base">
              <a:lnSpc>
                <a:spcPts val="1800"/>
              </a:lnSpc>
            </a:pPr>
            <a:r>
              <a:rPr lang="zh-CN" altLang="en-US" sz="1200" b="0" i="0" dirty="0">
                <a:solidFill>
                  <a:srgbClr val="060607"/>
                </a:solidFill>
                <a:effectLst/>
                <a:latin typeface="inherit"/>
              </a:rPr>
              <a:t>   </a:t>
            </a:r>
            <a:r>
              <a:rPr lang="en-US" altLang="zh-CN" sz="1200" b="0" i="0" dirty="0">
                <a:solidFill>
                  <a:srgbClr val="060607"/>
                </a:solidFill>
                <a:effectLst/>
                <a:latin typeface="inherit"/>
              </a:rPr>
              <a:t>AdaGN</a:t>
            </a:r>
            <a:r>
              <a:rPr lang="zh-CN" altLang="en-US" sz="1200" b="0" i="0" dirty="0">
                <a:solidFill>
                  <a:srgbClr val="060607"/>
                </a:solidFill>
                <a:effectLst/>
                <a:latin typeface="inherit"/>
              </a:rPr>
              <a:t>将条件信息（如扩散时间步、噪声级别或外部嵌入）编码为缩放（</a:t>
            </a:r>
            <a:r>
              <a:rPr lang="en-US" altLang="zh-CN" sz="1200" b="0" i="0" dirty="0">
                <a:solidFill>
                  <a:srgbClr val="060607"/>
                </a:solidFill>
                <a:effectLst/>
                <a:latin typeface="inherit"/>
              </a:rPr>
              <a:t>scale</a:t>
            </a:r>
            <a:r>
              <a:rPr lang="zh-CN" altLang="en-US" sz="1200" b="0" i="0" dirty="0">
                <a:solidFill>
                  <a:srgbClr val="060607"/>
                </a:solidFill>
                <a:effectLst/>
                <a:latin typeface="inherit"/>
              </a:rPr>
              <a:t>）和偏移（</a:t>
            </a:r>
            <a:r>
              <a:rPr lang="en-US" altLang="zh-CN" sz="1200" b="0" i="0" dirty="0">
                <a:solidFill>
                  <a:srgbClr val="060607"/>
                </a:solidFill>
                <a:effectLst/>
                <a:latin typeface="inherit"/>
              </a:rPr>
              <a:t>shift</a:t>
            </a:r>
            <a:r>
              <a:rPr lang="zh-CN" altLang="en-US" sz="1200" b="0" i="0" dirty="0">
                <a:solidFill>
                  <a:srgbClr val="060607"/>
                </a:solidFill>
                <a:effectLst/>
                <a:latin typeface="inherit"/>
              </a:rPr>
              <a:t>）参数，注入到</a:t>
            </a:r>
            <a:r>
              <a:rPr lang="en-US" altLang="zh-CN" sz="1200" b="0" i="0" dirty="0">
                <a:solidFill>
                  <a:srgbClr val="060607"/>
                </a:solidFill>
                <a:effectLst/>
                <a:latin typeface="inherit"/>
              </a:rPr>
              <a:t>Group Normalization</a:t>
            </a:r>
            <a:r>
              <a:rPr lang="zh-CN" altLang="en-US" sz="1200" b="0" i="0" dirty="0">
                <a:solidFill>
                  <a:srgbClr val="060607"/>
                </a:solidFill>
                <a:effectLst/>
                <a:latin typeface="inherit"/>
              </a:rPr>
              <a:t>层中。这使得</a:t>
            </a:r>
            <a:r>
              <a:rPr lang="en-US" altLang="zh-CN" sz="1200" b="0" i="0" dirty="0">
                <a:solidFill>
                  <a:srgbClr val="060607"/>
                </a:solidFill>
                <a:effectLst/>
                <a:latin typeface="inherit"/>
              </a:rPr>
              <a:t>Denoiser</a:t>
            </a:r>
            <a:r>
              <a:rPr lang="zh-CN" altLang="en-US" sz="1200" b="0" i="0" dirty="0">
                <a:solidFill>
                  <a:srgbClr val="060607"/>
                </a:solidFill>
                <a:effectLst/>
                <a:latin typeface="inherit"/>
              </a:rPr>
              <a:t>能够根据当前去噪阶段动态调整特征分布，例如在扩散模型中，不同时间步对应不同噪声强度，</a:t>
            </a:r>
            <a:r>
              <a:rPr lang="en-US" altLang="zh-CN" sz="1200" b="0" i="0" dirty="0">
                <a:solidFill>
                  <a:srgbClr val="060607"/>
                </a:solidFill>
                <a:effectLst/>
                <a:latin typeface="inherit"/>
              </a:rPr>
              <a:t>AdaGN</a:t>
            </a:r>
            <a:r>
              <a:rPr lang="zh-CN" altLang="en-US" sz="1200" b="0" i="0" dirty="0">
                <a:solidFill>
                  <a:srgbClr val="060607"/>
                </a:solidFill>
                <a:effectLst/>
                <a:latin typeface="inherit"/>
              </a:rPr>
              <a:t>通过时间步嵌入生成对应的归一化参数，使网络适应特定噪声水平。</a:t>
            </a:r>
          </a:p>
          <a:p>
            <a:pPr algn="l" fontAlgn="base">
              <a:lnSpc>
                <a:spcPts val="1800"/>
              </a:lnSpc>
            </a:pPr>
            <a:r>
              <a:rPr lang="en-US" altLang="zh-CN" sz="1200" b="0" i="0" dirty="0">
                <a:solidFill>
                  <a:srgbClr val="060607"/>
                </a:solidFill>
                <a:effectLst/>
                <a:latin typeface="inherit"/>
              </a:rPr>
              <a:t>2. </a:t>
            </a:r>
            <a:r>
              <a:rPr lang="zh-CN" altLang="en-US" sz="1200" b="0" i="0" dirty="0">
                <a:solidFill>
                  <a:srgbClr val="060607"/>
                </a:solidFill>
                <a:effectLst/>
                <a:latin typeface="inherit"/>
              </a:rPr>
              <a:t>提升特征表达灵活性 </a:t>
            </a:r>
          </a:p>
          <a:p>
            <a:pPr algn="l" fontAlgn="base">
              <a:lnSpc>
                <a:spcPts val="1800"/>
              </a:lnSpc>
            </a:pPr>
            <a:r>
              <a:rPr lang="zh-CN" altLang="en-US" sz="1200" b="0" i="0" dirty="0">
                <a:solidFill>
                  <a:srgbClr val="060607"/>
                </a:solidFill>
                <a:effectLst/>
                <a:latin typeface="inherit"/>
              </a:rPr>
              <a:t>   传统的归一化方法（如</a:t>
            </a:r>
            <a:r>
              <a:rPr lang="en-US" altLang="zh-CN" sz="1200" b="0" i="0" dirty="0">
                <a:solidFill>
                  <a:srgbClr val="060607"/>
                </a:solidFill>
                <a:effectLst/>
                <a:latin typeface="inherit"/>
              </a:rPr>
              <a:t>Batch Norm</a:t>
            </a:r>
            <a:r>
              <a:rPr lang="zh-CN" altLang="en-US" sz="1200" b="0" i="0" dirty="0">
                <a:solidFill>
                  <a:srgbClr val="060607"/>
                </a:solidFill>
                <a:effectLst/>
                <a:latin typeface="inherit"/>
              </a:rPr>
              <a:t>）使用固定统计量，而</a:t>
            </a:r>
            <a:r>
              <a:rPr lang="en-US" altLang="zh-CN" sz="1200" b="0" i="0" dirty="0">
                <a:solidFill>
                  <a:srgbClr val="060607"/>
                </a:solidFill>
                <a:effectLst/>
                <a:latin typeface="inherit"/>
              </a:rPr>
              <a:t>AdaGN</a:t>
            </a:r>
            <a:r>
              <a:rPr lang="zh-CN" altLang="en-US" sz="1200" b="0" i="0" dirty="0">
                <a:solidFill>
                  <a:srgbClr val="060607"/>
                </a:solidFill>
                <a:effectLst/>
                <a:latin typeface="inherit"/>
              </a:rPr>
              <a:t>通过条件依赖的参数，允许网络在不同去噪步骤中灵活调整特征尺度和平移。这种动态调整增强了模型对复杂噪声分布的建模能力，使</a:t>
            </a:r>
            <a:r>
              <a:rPr lang="en-US" altLang="zh-CN" sz="1200" b="0" i="0" dirty="0">
                <a:solidFill>
                  <a:srgbClr val="060607"/>
                </a:solidFill>
                <a:effectLst/>
                <a:latin typeface="inherit"/>
              </a:rPr>
              <a:t>Denoiser</a:t>
            </a:r>
            <a:r>
              <a:rPr lang="zh-CN" altLang="en-US" sz="1200" b="0" i="0" dirty="0">
                <a:solidFill>
                  <a:srgbClr val="060607"/>
                </a:solidFill>
                <a:effectLst/>
                <a:latin typeface="inherit"/>
              </a:rPr>
              <a:t>在每一步更精准地分离噪声与信号。</a:t>
            </a:r>
          </a:p>
          <a:p>
            <a:pPr algn="l" fontAlgn="base">
              <a:lnSpc>
                <a:spcPts val="1800"/>
              </a:lnSpc>
            </a:pPr>
            <a:r>
              <a:rPr lang="en-US" altLang="zh-CN" sz="1200" b="0" i="0" dirty="0">
                <a:solidFill>
                  <a:srgbClr val="060607"/>
                </a:solidFill>
                <a:effectLst/>
                <a:latin typeface="inherit"/>
              </a:rPr>
              <a:t>3. </a:t>
            </a:r>
            <a:r>
              <a:rPr lang="zh-CN" altLang="en-US" sz="1200" b="0" i="0" dirty="0">
                <a:solidFill>
                  <a:srgbClr val="060607"/>
                </a:solidFill>
                <a:effectLst/>
                <a:latin typeface="inherit"/>
              </a:rPr>
              <a:t>多模态条件融合  </a:t>
            </a:r>
          </a:p>
          <a:p>
            <a:pPr algn="l" fontAlgn="base">
              <a:lnSpc>
                <a:spcPts val="1800"/>
              </a:lnSpc>
            </a:pPr>
            <a:r>
              <a:rPr lang="zh-CN" altLang="en-US" sz="1200" b="0" i="0" dirty="0">
                <a:solidFill>
                  <a:srgbClr val="060607"/>
                </a:solidFill>
                <a:effectLst/>
                <a:latin typeface="inherit"/>
              </a:rPr>
              <a:t>   在需要多条件控制的场景（如文本到图像生成），</a:t>
            </a:r>
            <a:r>
              <a:rPr lang="en-US" altLang="zh-CN" sz="1200" b="0" i="0" dirty="0">
                <a:solidFill>
                  <a:srgbClr val="060607"/>
                </a:solidFill>
                <a:effectLst/>
                <a:latin typeface="inherit"/>
              </a:rPr>
              <a:t>AdaGN</a:t>
            </a:r>
            <a:r>
              <a:rPr lang="zh-CN" altLang="en-US" sz="1200" b="0" i="0" dirty="0">
                <a:solidFill>
                  <a:srgbClr val="060607"/>
                </a:solidFill>
                <a:effectLst/>
                <a:latin typeface="inherit"/>
              </a:rPr>
              <a:t>可融合文本嵌入等外部信息，进一步引导生成过程。例如，将文本特征与时间步信息结合，生成针对性的归一化参数，确保去噪过程同时满足语义和结构约束。</a:t>
            </a:r>
          </a:p>
          <a:p>
            <a:pPr algn="l" fontAlgn="base">
              <a:lnSpc>
                <a:spcPts val="1800"/>
              </a:lnSpc>
            </a:pPr>
            <a:r>
              <a:rPr lang="en-US" altLang="zh-CN" sz="1200" b="0" i="0" dirty="0">
                <a:solidFill>
                  <a:srgbClr val="060607"/>
                </a:solidFill>
                <a:effectLst/>
                <a:latin typeface="inherit"/>
              </a:rPr>
              <a:t>4. </a:t>
            </a:r>
            <a:r>
              <a:rPr lang="zh-CN" altLang="en-US" sz="1200" b="0" i="0" dirty="0">
                <a:solidFill>
                  <a:srgbClr val="060607"/>
                </a:solidFill>
                <a:effectLst/>
                <a:latin typeface="inherit"/>
              </a:rPr>
              <a:t>训练稳定性与收敛加速</a:t>
            </a:r>
          </a:p>
          <a:p>
            <a:pPr algn="l" fontAlgn="base">
              <a:lnSpc>
                <a:spcPts val="1800"/>
              </a:lnSpc>
            </a:pPr>
            <a:r>
              <a:rPr lang="zh-CN" altLang="en-US" sz="1200" b="0" i="0" dirty="0">
                <a:solidFill>
                  <a:srgbClr val="060607"/>
                </a:solidFill>
                <a:effectLst/>
                <a:latin typeface="inherit"/>
              </a:rPr>
              <a:t>   自适应归一化通过显式引入条件先验，缓解了梯度不稳定问题。尤其在</a:t>
            </a:r>
            <a:r>
              <a:rPr lang="en-US" altLang="zh-CN" sz="1200" b="0" i="0" dirty="0">
                <a:solidFill>
                  <a:srgbClr val="060607"/>
                </a:solidFill>
                <a:effectLst/>
                <a:latin typeface="inherit"/>
              </a:rPr>
              <a:t>PASTA</a:t>
            </a:r>
            <a:r>
              <a:rPr lang="zh-CN" altLang="en-US" sz="1200" b="0" i="0" dirty="0">
                <a:solidFill>
                  <a:srgbClr val="060607"/>
                </a:solidFill>
                <a:effectLst/>
                <a:latin typeface="inherit"/>
              </a:rPr>
              <a:t>这类多阶段生成模型中，</a:t>
            </a:r>
            <a:r>
              <a:rPr lang="en-US" altLang="zh-CN" sz="1200" b="0" i="0" dirty="0">
                <a:solidFill>
                  <a:srgbClr val="060607"/>
                </a:solidFill>
                <a:effectLst/>
                <a:latin typeface="inherit"/>
              </a:rPr>
              <a:t>AdaGN</a:t>
            </a:r>
            <a:r>
              <a:rPr lang="zh-CN" altLang="en-US" sz="1200" b="0" i="0" dirty="0">
                <a:solidFill>
                  <a:srgbClr val="060607"/>
                </a:solidFill>
                <a:effectLst/>
                <a:latin typeface="inherit"/>
              </a:rPr>
              <a:t>帮助</a:t>
            </a:r>
            <a:r>
              <a:rPr lang="en-US" altLang="zh-CN" sz="1200" b="0" i="0" dirty="0">
                <a:solidFill>
                  <a:srgbClr val="060607"/>
                </a:solidFill>
                <a:effectLst/>
                <a:latin typeface="inherit"/>
              </a:rPr>
              <a:t>Denoiser</a:t>
            </a:r>
            <a:r>
              <a:rPr lang="zh-CN" altLang="en-US" sz="1200" b="0" i="0" dirty="0">
                <a:solidFill>
                  <a:srgbClr val="060607"/>
                </a:solidFill>
                <a:effectLst/>
                <a:latin typeface="inherit"/>
              </a:rPr>
              <a:t>在不同噪声级别间平滑过渡，减少模式崩溃风险，加速模型收敛。</a:t>
            </a:r>
          </a:p>
          <a:p>
            <a:pPr algn="l" fontAlgn="base">
              <a:lnSpc>
                <a:spcPts val="1800"/>
              </a:lnSpc>
            </a:pPr>
            <a:r>
              <a:rPr lang="zh-CN" altLang="en-US" sz="1200" b="0" i="0" dirty="0">
                <a:solidFill>
                  <a:srgbClr val="060607"/>
                </a:solidFill>
                <a:effectLst/>
                <a:latin typeface="inherit"/>
              </a:rPr>
              <a:t>实例说明</a:t>
            </a:r>
          </a:p>
          <a:p>
            <a:pPr algn="l" fontAlgn="base">
              <a:lnSpc>
                <a:spcPts val="1800"/>
              </a:lnSpc>
            </a:pPr>
            <a:r>
              <a:rPr lang="zh-CN" altLang="en-US" sz="1200" b="0" i="0" dirty="0">
                <a:solidFill>
                  <a:srgbClr val="060607"/>
                </a:solidFill>
                <a:effectLst/>
                <a:latin typeface="inherit"/>
              </a:rPr>
              <a:t>假设</a:t>
            </a:r>
            <a:r>
              <a:rPr lang="en-US" altLang="zh-CN" sz="1200" b="0" i="0" dirty="0">
                <a:solidFill>
                  <a:srgbClr val="060607"/>
                </a:solidFill>
                <a:effectLst/>
                <a:latin typeface="inherit"/>
              </a:rPr>
              <a:t>PASTA</a:t>
            </a:r>
            <a:r>
              <a:rPr lang="zh-CN" altLang="en-US" sz="1200" b="0" i="0" dirty="0">
                <a:solidFill>
                  <a:srgbClr val="060607"/>
                </a:solidFill>
                <a:effectLst/>
                <a:latin typeface="inherit"/>
              </a:rPr>
              <a:t>采用扩散模型框架，</a:t>
            </a:r>
            <a:r>
              <a:rPr lang="en-US" altLang="zh-CN" sz="1200" b="0" i="0" dirty="0">
                <a:solidFill>
                  <a:srgbClr val="060607"/>
                </a:solidFill>
                <a:effectLst/>
                <a:latin typeface="inherit"/>
              </a:rPr>
              <a:t>Denoiser Arm</a:t>
            </a:r>
            <a:r>
              <a:rPr lang="zh-CN" altLang="en-US" sz="1200" b="0" i="0" dirty="0">
                <a:solidFill>
                  <a:srgbClr val="060607"/>
                </a:solidFill>
                <a:effectLst/>
                <a:latin typeface="inherit"/>
              </a:rPr>
              <a:t>需预测第</a:t>
            </a:r>
            <a:r>
              <a:rPr lang="en-US" altLang="zh-CN" sz="1200" b="0" i="0" dirty="0">
                <a:solidFill>
                  <a:srgbClr val="060607"/>
                </a:solidFill>
                <a:effectLst/>
                <a:latin typeface="inherit"/>
              </a:rPr>
              <a:t>t</a:t>
            </a:r>
            <a:r>
              <a:rPr lang="zh-CN" altLang="en-US" sz="1200" b="0" i="0" dirty="0">
                <a:solidFill>
                  <a:srgbClr val="060607"/>
                </a:solidFill>
                <a:effectLst/>
                <a:latin typeface="inherit"/>
              </a:rPr>
              <a:t>步的噪声。</a:t>
            </a:r>
            <a:r>
              <a:rPr lang="en-US" altLang="zh-CN" sz="1200" b="0" i="0" dirty="0">
                <a:solidFill>
                  <a:srgbClr val="060607"/>
                </a:solidFill>
                <a:effectLst/>
                <a:latin typeface="inherit"/>
              </a:rPr>
              <a:t>AdaGN</a:t>
            </a:r>
            <a:r>
              <a:rPr lang="zh-CN" altLang="en-US" sz="1200" b="0" i="0" dirty="0">
                <a:solidFill>
                  <a:srgbClr val="060607"/>
                </a:solidFill>
                <a:effectLst/>
                <a:latin typeface="inherit"/>
              </a:rPr>
              <a:t>将时间步</a:t>
            </a:r>
            <a:r>
              <a:rPr lang="en-US" altLang="zh-CN" sz="1200" b="0" i="0" dirty="0">
                <a:solidFill>
                  <a:srgbClr val="060607"/>
                </a:solidFill>
                <a:effectLst/>
                <a:latin typeface="inherit"/>
              </a:rPr>
              <a:t>t</a:t>
            </a:r>
            <a:r>
              <a:rPr lang="zh-CN" altLang="en-US" sz="1200" b="0" i="0" dirty="0">
                <a:solidFill>
                  <a:srgbClr val="060607"/>
                </a:solidFill>
                <a:effectLst/>
                <a:latin typeface="inherit"/>
              </a:rPr>
              <a:t>的嵌入向量通过一个小型</a:t>
            </a:r>
            <a:r>
              <a:rPr lang="en-US" altLang="zh-CN" sz="1200" b="0" i="0" dirty="0">
                <a:solidFill>
                  <a:srgbClr val="060607"/>
                </a:solidFill>
                <a:effectLst/>
                <a:latin typeface="inherit"/>
              </a:rPr>
              <a:t>MLP</a:t>
            </a:r>
            <a:r>
              <a:rPr lang="zh-CN" altLang="en-US" sz="1200" b="0" i="0" dirty="0">
                <a:solidFill>
                  <a:srgbClr val="060607"/>
                </a:solidFill>
                <a:effectLst/>
                <a:latin typeface="inherit"/>
              </a:rPr>
              <a:t>，输出每组通道的缩放因子</a:t>
            </a:r>
            <a:r>
              <a:rPr lang="en-US" altLang="zh-CN" sz="1200" b="0" i="0" dirty="0">
                <a:solidFill>
                  <a:srgbClr val="060607"/>
                </a:solidFill>
                <a:effectLst/>
                <a:latin typeface="inherit"/>
              </a:rPr>
              <a:t>γ</a:t>
            </a:r>
            <a:r>
              <a:rPr lang="zh-CN" altLang="en-US" sz="1200" b="0" i="0" dirty="0">
                <a:solidFill>
                  <a:srgbClr val="060607"/>
                </a:solidFill>
                <a:effectLst/>
                <a:latin typeface="inherit"/>
              </a:rPr>
              <a:t>和偏置</a:t>
            </a:r>
            <a:r>
              <a:rPr lang="en-US" altLang="zh-CN" sz="1200" b="0" i="0" dirty="0">
                <a:solidFill>
                  <a:srgbClr val="060607"/>
                </a:solidFill>
                <a:effectLst/>
                <a:latin typeface="inherit"/>
              </a:rPr>
              <a:t>β</a:t>
            </a:r>
            <a:r>
              <a:rPr lang="zh-CN" altLang="en-US" sz="1200" b="0" i="0" dirty="0">
                <a:solidFill>
                  <a:srgbClr val="060607"/>
                </a:solidFill>
                <a:effectLst/>
                <a:latin typeface="inherit"/>
              </a:rPr>
              <a:t>。这些参数在</a:t>
            </a:r>
            <a:r>
              <a:rPr lang="en-US" altLang="zh-CN" sz="1200" b="0" i="0" dirty="0">
                <a:solidFill>
                  <a:srgbClr val="060607"/>
                </a:solidFill>
                <a:effectLst/>
                <a:latin typeface="inherit"/>
              </a:rPr>
              <a:t>Group Normalization</a:t>
            </a:r>
            <a:r>
              <a:rPr lang="zh-CN" altLang="en-US" sz="1200" b="0" i="0" dirty="0">
                <a:solidFill>
                  <a:srgbClr val="060607"/>
                </a:solidFill>
                <a:effectLst/>
                <a:latin typeface="inherit"/>
              </a:rPr>
              <a:t>中调整特征图：  </a:t>
            </a:r>
          </a:p>
          <a:p>
            <a:pPr algn="l" fontAlgn="base">
              <a:lnSpc>
                <a:spcPts val="1800"/>
              </a:lnSpc>
            </a:pPr>
            <a:endParaRPr lang="en-US" altLang="zh-CN" sz="1200" b="0" i="0" dirty="0">
              <a:solidFill>
                <a:srgbClr val="060607"/>
              </a:solidFill>
              <a:effectLst/>
              <a:latin typeface="inherit"/>
            </a:endParaRPr>
          </a:p>
          <a:p>
            <a:pPr algn="l" fontAlgn="base">
              <a:lnSpc>
                <a:spcPts val="1800"/>
              </a:lnSpc>
            </a:pPr>
            <a:r>
              <a:rPr lang="zh-CN" altLang="en-US" sz="1200" b="0" i="0" dirty="0">
                <a:solidFill>
                  <a:srgbClr val="060607"/>
                </a:solidFill>
                <a:effectLst/>
                <a:latin typeface="inherit"/>
              </a:rPr>
              <a:t>其中，</a:t>
            </a:r>
            <a:r>
              <a:rPr lang="en-US" altLang="zh-CN" sz="1200" b="0" i="0" dirty="0">
                <a:solidFill>
                  <a:srgbClr val="060607"/>
                </a:solidFill>
                <a:effectLst/>
                <a:latin typeface="inherit"/>
              </a:rPr>
              <a:t>μ</a:t>
            </a:r>
            <a:r>
              <a:rPr lang="zh-CN" altLang="en-US" sz="1200" b="0" i="0" dirty="0">
                <a:solidFill>
                  <a:srgbClr val="060607"/>
                </a:solidFill>
                <a:effectLst/>
                <a:latin typeface="inherit"/>
              </a:rPr>
              <a:t>和</a:t>
            </a:r>
            <a:r>
              <a:rPr lang="en-US" altLang="zh-CN" sz="1200" b="0" i="0" dirty="0">
                <a:solidFill>
                  <a:srgbClr val="060607"/>
                </a:solidFill>
                <a:effectLst/>
                <a:latin typeface="inherit"/>
              </a:rPr>
              <a:t>σ</a:t>
            </a:r>
            <a:r>
              <a:rPr lang="zh-CN" altLang="en-US" sz="1200" b="0" i="0" dirty="0">
                <a:solidFill>
                  <a:srgbClr val="060607"/>
                </a:solidFill>
                <a:effectLst/>
                <a:latin typeface="inherit"/>
              </a:rPr>
              <a:t>是特征组的均值和标准差。这种条件化使网络能依据时间步动态调制特征，提升去噪精度。（回答来自</a:t>
            </a:r>
            <a:r>
              <a:rPr lang="en-US" altLang="zh-CN" sz="1200" b="0" i="0" dirty="0" err="1">
                <a:solidFill>
                  <a:srgbClr val="060607"/>
                </a:solidFill>
                <a:effectLst/>
                <a:latin typeface="inherit"/>
              </a:rPr>
              <a:t>Deepseek</a:t>
            </a:r>
            <a:r>
              <a:rPr lang="zh-CN" altLang="en-US" sz="1200" b="0" i="0" dirty="0">
                <a:solidFill>
                  <a:srgbClr val="060607"/>
                </a:solidFill>
                <a:effectLst/>
                <a:latin typeface="inherit"/>
              </a:rPr>
              <a:t>）</a:t>
            </a:r>
          </a:p>
        </p:txBody>
      </p:sp>
      <p:sp>
        <p:nvSpPr>
          <p:cNvPr id="6" name="文本框 5">
            <a:extLst>
              <a:ext uri="{FF2B5EF4-FFF2-40B4-BE49-F238E27FC236}">
                <a16:creationId xmlns:a16="http://schemas.microsoft.com/office/drawing/2014/main" id="{4BEFE262-14DD-1E6F-1EA0-8494AA128CFD}"/>
              </a:ext>
            </a:extLst>
          </p:cNvPr>
          <p:cNvSpPr txBox="1"/>
          <p:nvPr/>
        </p:nvSpPr>
        <p:spPr>
          <a:xfrm>
            <a:off x="10401300" y="180975"/>
            <a:ext cx="1552575" cy="369332"/>
          </a:xfrm>
          <a:prstGeom prst="rect">
            <a:avLst/>
          </a:prstGeom>
          <a:noFill/>
        </p:spPr>
        <p:txBody>
          <a:bodyPr wrap="square" rtlCol="0">
            <a:spAutoFit/>
          </a:bodyPr>
          <a:lstStyle/>
          <a:p>
            <a:r>
              <a:rPr lang="zh-CN" altLang="en-US" b="1" dirty="0"/>
              <a:t>模型架构</a:t>
            </a:r>
            <a:endParaRPr lang="en-US" altLang="zh-CN" b="1" dirty="0"/>
          </a:p>
        </p:txBody>
      </p:sp>
      <p:pic>
        <p:nvPicPr>
          <p:cNvPr id="5" name="图片 4">
            <a:extLst>
              <a:ext uri="{FF2B5EF4-FFF2-40B4-BE49-F238E27FC236}">
                <a16:creationId xmlns:a16="http://schemas.microsoft.com/office/drawing/2014/main" id="{557EAA17-C3B0-B989-CF84-132DB25FDB5D}"/>
              </a:ext>
            </a:extLst>
          </p:cNvPr>
          <p:cNvPicPr>
            <a:picLocks noChangeAspect="1"/>
          </p:cNvPicPr>
          <p:nvPr/>
        </p:nvPicPr>
        <p:blipFill>
          <a:blip r:embed="rId2"/>
          <a:stretch>
            <a:fillRect/>
          </a:stretch>
        </p:blipFill>
        <p:spPr>
          <a:xfrm>
            <a:off x="6604226" y="657225"/>
            <a:ext cx="5587774" cy="3110780"/>
          </a:xfrm>
          <a:prstGeom prst="rect">
            <a:avLst/>
          </a:prstGeom>
        </p:spPr>
      </p:pic>
      <p:pic>
        <p:nvPicPr>
          <p:cNvPr id="9" name="图片 8">
            <a:extLst>
              <a:ext uri="{FF2B5EF4-FFF2-40B4-BE49-F238E27FC236}">
                <a16:creationId xmlns:a16="http://schemas.microsoft.com/office/drawing/2014/main" id="{6F6317E0-8A73-CD20-A99C-EB11A678290C}"/>
              </a:ext>
            </a:extLst>
          </p:cNvPr>
          <p:cNvPicPr>
            <a:picLocks noChangeAspect="1"/>
          </p:cNvPicPr>
          <p:nvPr/>
        </p:nvPicPr>
        <p:blipFill>
          <a:blip r:embed="rId3"/>
          <a:stretch>
            <a:fillRect/>
          </a:stretch>
        </p:blipFill>
        <p:spPr>
          <a:xfrm>
            <a:off x="676275" y="5551447"/>
            <a:ext cx="2152648" cy="403306"/>
          </a:xfrm>
          <a:prstGeom prst="rect">
            <a:avLst/>
          </a:prstGeom>
        </p:spPr>
      </p:pic>
    </p:spTree>
    <p:extLst>
      <p:ext uri="{BB962C8B-B14F-4D97-AF65-F5344CB8AC3E}">
        <p14:creationId xmlns:p14="http://schemas.microsoft.com/office/powerpoint/2010/main" val="3776585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CE02F-2650-C810-C80A-3E1878FA76E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A9D0365-C3E4-3A7A-C433-B13E96219E33}"/>
              </a:ext>
            </a:extLst>
          </p:cNvPr>
          <p:cNvSpPr txBox="1"/>
          <p:nvPr/>
        </p:nvSpPr>
        <p:spPr>
          <a:xfrm>
            <a:off x="1142999" y="180975"/>
            <a:ext cx="3676651" cy="369332"/>
          </a:xfrm>
          <a:prstGeom prst="rect">
            <a:avLst/>
          </a:prstGeom>
          <a:noFill/>
        </p:spPr>
        <p:txBody>
          <a:bodyPr wrap="square" rtlCol="0">
            <a:spAutoFit/>
          </a:bodyPr>
          <a:lstStyle/>
          <a:p>
            <a:r>
              <a:rPr lang="en-US" altLang="zh-CN" b="1" dirty="0"/>
              <a:t>Cycle Exchange Consistency</a:t>
            </a:r>
          </a:p>
        </p:txBody>
      </p:sp>
      <p:sp>
        <p:nvSpPr>
          <p:cNvPr id="3" name="文本框 2">
            <a:extLst>
              <a:ext uri="{FF2B5EF4-FFF2-40B4-BE49-F238E27FC236}">
                <a16:creationId xmlns:a16="http://schemas.microsoft.com/office/drawing/2014/main" id="{B83BBD87-3C04-D6EE-03E2-AD465A8B3C0E}"/>
              </a:ext>
            </a:extLst>
          </p:cNvPr>
          <p:cNvSpPr txBox="1"/>
          <p:nvPr/>
        </p:nvSpPr>
        <p:spPr>
          <a:xfrm>
            <a:off x="0" y="604184"/>
            <a:ext cx="5734050" cy="6278642"/>
          </a:xfrm>
          <a:prstGeom prst="rect">
            <a:avLst/>
          </a:prstGeom>
          <a:noFill/>
        </p:spPr>
        <p:txBody>
          <a:bodyPr wrap="square" rtlCol="0">
            <a:spAutoFit/>
          </a:bodyPr>
          <a:lstStyle/>
          <a:p>
            <a:pPr algn="l" fontAlgn="base">
              <a:lnSpc>
                <a:spcPts val="1800"/>
              </a:lnSpc>
              <a:buFont typeface="+mj-lt"/>
              <a:buAutoNum type="arabicPeriod"/>
            </a:pPr>
            <a:r>
              <a:rPr lang="zh-CN" altLang="en-US" sz="1200" b="1" i="0" dirty="0">
                <a:solidFill>
                  <a:srgbClr val="060607"/>
                </a:solidFill>
                <a:effectLst/>
                <a:latin typeface="inherit"/>
              </a:rPr>
              <a:t>循环一致性策略</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en-US" altLang="zh-CN" sz="1200" b="0" i="0" dirty="0">
                <a:solidFill>
                  <a:srgbClr val="060607"/>
                </a:solidFill>
                <a:effectLst/>
                <a:latin typeface="inherit"/>
              </a:rPr>
              <a:t>CycleEx</a:t>
            </a:r>
            <a:r>
              <a:rPr lang="zh-CN" altLang="en-US" sz="1200" b="0" i="0" dirty="0">
                <a:solidFill>
                  <a:srgbClr val="060607"/>
                </a:solidFill>
                <a:effectLst/>
                <a:latin typeface="inherit"/>
              </a:rPr>
              <a:t>策略基于循环一致性的概念，即学习到的翻译映射应该满足前向和后向的循环一致性。对于每个</a:t>
            </a:r>
            <a:r>
              <a:rPr lang="en-US" altLang="zh-CN" sz="1200" b="0" i="0" dirty="0">
                <a:solidFill>
                  <a:srgbClr val="060607"/>
                </a:solidFill>
                <a:effectLst/>
                <a:latin typeface="inherit"/>
              </a:rPr>
              <a:t>MRI</a:t>
            </a:r>
            <a:r>
              <a:rPr lang="zh-CN" altLang="en-US" sz="1200" b="0" i="0" dirty="0">
                <a:solidFill>
                  <a:srgbClr val="060607"/>
                </a:solidFill>
                <a:effectLst/>
                <a:latin typeface="inherit"/>
              </a:rPr>
              <a:t>图像 </a:t>
            </a:r>
            <a:r>
              <a:rPr lang="en-US" altLang="zh-CN" sz="1200" b="0" i="1" dirty="0">
                <a:solidFill>
                  <a:srgbClr val="060607"/>
                </a:solidFill>
                <a:effectLst/>
                <a:latin typeface="KaTeX_Math"/>
              </a:rPr>
              <a:t>M</a:t>
            </a:r>
            <a:r>
              <a:rPr lang="en-US" altLang="zh-CN" sz="1200" b="0" i="1" baseline="-25000" dirty="0">
                <a:solidFill>
                  <a:srgbClr val="060607"/>
                </a:solidFill>
                <a:effectLst/>
                <a:latin typeface="KaTeX_Math"/>
              </a:rPr>
              <a:t>i</a:t>
            </a:r>
            <a:r>
              <a:rPr lang="zh-CN" altLang="en-US" sz="1200" b="0" i="0" baseline="-25000" dirty="0">
                <a:solidFill>
                  <a:srgbClr val="060607"/>
                </a:solidFill>
                <a:effectLst/>
                <a:latin typeface="inherit"/>
              </a:rPr>
              <a:t>​</a:t>
            </a:r>
            <a:r>
              <a:rPr lang="zh-CN" altLang="en-US" sz="1200" b="0" i="0" dirty="0">
                <a:solidFill>
                  <a:srgbClr val="060607"/>
                </a:solidFill>
                <a:effectLst/>
                <a:latin typeface="inherit"/>
              </a:rPr>
              <a:t>，通过两个映射 </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p</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M</a:t>
            </a:r>
            <a:r>
              <a:rPr lang="zh-CN" altLang="en-US" sz="1200" b="0" i="0" dirty="0">
                <a:solidFill>
                  <a:srgbClr val="060607"/>
                </a:solidFill>
                <a:effectLst/>
                <a:latin typeface="KaTeX_Main"/>
              </a:rPr>
              <a:t>→</a:t>
            </a:r>
            <a:r>
              <a:rPr lang="en-US" altLang="zh-CN" sz="1200" b="0" i="1" dirty="0">
                <a:solidFill>
                  <a:srgbClr val="060607"/>
                </a:solidFill>
                <a:effectLst/>
                <a:latin typeface="KaTeX_Math"/>
              </a:rPr>
              <a:t>P</a:t>
            </a:r>
            <a:r>
              <a:rPr lang="zh-CN" altLang="en-US" sz="1200" b="0" i="0" dirty="0">
                <a:solidFill>
                  <a:srgbClr val="060607"/>
                </a:solidFill>
                <a:effectLst/>
                <a:latin typeface="inherit"/>
              </a:rPr>
              <a:t> 和 </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P</a:t>
            </a:r>
            <a:r>
              <a:rPr lang="zh-CN" altLang="en-US" sz="1200" b="0" i="0" dirty="0">
                <a:solidFill>
                  <a:srgbClr val="060607"/>
                </a:solidFill>
                <a:effectLst/>
                <a:latin typeface="KaTeX_Main"/>
              </a:rPr>
              <a:t>→</a:t>
            </a:r>
            <a:r>
              <a:rPr lang="en-US" altLang="zh-CN" sz="1200" b="0" i="1" dirty="0">
                <a:solidFill>
                  <a:srgbClr val="060607"/>
                </a:solidFill>
                <a:effectLst/>
                <a:latin typeface="KaTeX_Math"/>
              </a:rPr>
              <a:t>M</a:t>
            </a:r>
            <a:r>
              <a:rPr lang="zh-CN" altLang="en-US" sz="1200" b="0" i="0" dirty="0">
                <a:solidFill>
                  <a:srgbClr val="060607"/>
                </a:solidFill>
                <a:effectLst/>
                <a:latin typeface="inherit"/>
              </a:rPr>
              <a:t>，图像翻译循环应该将 </a:t>
            </a:r>
            <a:r>
              <a:rPr lang="en-US" altLang="zh-CN" sz="1200" b="0" i="1" dirty="0">
                <a:solidFill>
                  <a:srgbClr val="060607"/>
                </a:solidFill>
                <a:effectLst/>
                <a:latin typeface="KaTeX_Math"/>
              </a:rPr>
              <a:t>M</a:t>
            </a:r>
            <a:r>
              <a:rPr lang="en-US" altLang="zh-CN" sz="1200" b="0" i="1" baseline="-25000" dirty="0">
                <a:solidFill>
                  <a:srgbClr val="060607"/>
                </a:solidFill>
                <a:effectLst/>
                <a:latin typeface="KaTeX_Math"/>
              </a:rPr>
              <a:t>i</a:t>
            </a:r>
            <a:r>
              <a:rPr lang="zh-CN" altLang="en-US" sz="1200" b="0" i="0" baseline="-25000" dirty="0">
                <a:solidFill>
                  <a:srgbClr val="060607"/>
                </a:solidFill>
                <a:effectLst/>
                <a:latin typeface="inherit"/>
              </a:rPr>
              <a:t>​ </a:t>
            </a:r>
            <a:r>
              <a:rPr lang="zh-CN" altLang="en-US" sz="1200" b="0" i="0" dirty="0">
                <a:solidFill>
                  <a:srgbClr val="060607"/>
                </a:solidFill>
                <a:effectLst/>
                <a:latin typeface="inherit"/>
              </a:rPr>
              <a:t>带回其原始图像，即 </a:t>
            </a:r>
            <a:r>
              <a:rPr lang="en-US" altLang="zh-CN" sz="1200" b="0" i="1" dirty="0">
                <a:solidFill>
                  <a:srgbClr val="060607"/>
                </a:solidFill>
                <a:effectLst/>
                <a:latin typeface="KaTeX_Math"/>
              </a:rPr>
              <a:t>M</a:t>
            </a:r>
            <a:r>
              <a:rPr lang="en-US" altLang="zh-CN" sz="1200" b="0" i="1" baseline="-25000" dirty="0">
                <a:solidFill>
                  <a:srgbClr val="060607"/>
                </a:solidFill>
                <a:effectLst/>
                <a:latin typeface="KaTeX_Math"/>
              </a:rPr>
              <a:t>i</a:t>
            </a:r>
            <a:r>
              <a:rPr lang="zh-CN" altLang="en-US" sz="1200" b="0" i="0" baseline="-25000" dirty="0">
                <a:solidFill>
                  <a:srgbClr val="060607"/>
                </a:solidFill>
                <a:effectLst/>
                <a:latin typeface="inherit"/>
              </a:rPr>
              <a:t>​</a:t>
            </a:r>
            <a:r>
              <a:rPr lang="zh-CN" altLang="en-US" sz="1200" b="0" i="0" dirty="0">
                <a:solidFill>
                  <a:srgbClr val="060607"/>
                </a:solidFill>
                <a:effectLst/>
                <a:latin typeface="KaTeX_Main"/>
              </a:rPr>
              <a:t>→</a:t>
            </a:r>
            <a:r>
              <a:rPr lang="en-US" altLang="zh-CN" sz="1200" b="0" i="1" dirty="0">
                <a:solidFill>
                  <a:srgbClr val="060607"/>
                </a:solidFill>
                <a:effectLst/>
                <a:latin typeface="KaTeX_Math"/>
              </a:rPr>
              <a:t>Gp</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M</a:t>
            </a:r>
            <a:r>
              <a:rPr lang="en-US" altLang="zh-CN" sz="1200" b="0" i="1" baseline="-25000" dirty="0">
                <a:solidFill>
                  <a:srgbClr val="060607"/>
                </a:solidFill>
                <a:effectLst/>
                <a:latin typeface="KaTeX_Math"/>
              </a:rPr>
              <a:t>i</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p</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M</a:t>
            </a:r>
            <a:r>
              <a:rPr lang="en-US" altLang="zh-CN" sz="1200" b="0" i="1" baseline="-25000" dirty="0">
                <a:solidFill>
                  <a:srgbClr val="060607"/>
                </a:solidFill>
                <a:effectLst/>
                <a:latin typeface="KaTeX_Math"/>
              </a:rPr>
              <a:t>i</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M</a:t>
            </a:r>
            <a:r>
              <a:rPr lang="en-US" altLang="zh-CN" sz="1200" b="0" i="1" baseline="-25000" dirty="0">
                <a:solidFill>
                  <a:srgbClr val="060607"/>
                </a:solidFill>
                <a:effectLst/>
                <a:latin typeface="KaTeX_Math"/>
              </a:rPr>
              <a:t>i</a:t>
            </a:r>
            <a:r>
              <a:rPr lang="zh-CN" altLang="en-US" sz="1200" b="0" i="0" dirty="0">
                <a:solidFill>
                  <a:srgbClr val="060607"/>
                </a:solidFill>
                <a:effectLst/>
                <a:latin typeface="inherit"/>
              </a:rPr>
              <a:t>​，这被称为前向循环一致性。类似地，对于每个</a:t>
            </a:r>
            <a:r>
              <a:rPr lang="en-US" altLang="zh-CN" sz="1200" b="0" i="0" dirty="0">
                <a:solidFill>
                  <a:srgbClr val="060607"/>
                </a:solidFill>
                <a:effectLst/>
                <a:latin typeface="inherit"/>
              </a:rPr>
              <a:t>PET</a:t>
            </a:r>
            <a:r>
              <a:rPr lang="zh-CN" altLang="en-US" sz="1200" b="0" i="0" dirty="0">
                <a:solidFill>
                  <a:srgbClr val="060607"/>
                </a:solidFill>
                <a:effectLst/>
                <a:latin typeface="inherit"/>
              </a:rPr>
              <a:t>图像 </a:t>
            </a:r>
            <a:r>
              <a:rPr lang="en-US" altLang="zh-CN" sz="1200" b="0" i="1" dirty="0">
                <a:solidFill>
                  <a:srgbClr val="060607"/>
                </a:solidFill>
                <a:effectLst/>
                <a:latin typeface="KaTeX_Math"/>
              </a:rPr>
              <a:t>Pi</a:t>
            </a:r>
            <a:r>
              <a:rPr lang="zh-CN" altLang="en-US" sz="1200" b="0" i="0" dirty="0">
                <a:solidFill>
                  <a:srgbClr val="060607"/>
                </a:solidFill>
                <a:effectLst/>
                <a:latin typeface="inherit"/>
              </a:rPr>
              <a:t>​，也应该满足后向循环一致性：</a:t>
            </a:r>
            <a:r>
              <a:rPr lang="en-US" altLang="zh-CN" sz="1200" b="0" i="1" dirty="0">
                <a:solidFill>
                  <a:srgbClr val="060607"/>
                </a:solidFill>
                <a:effectLst/>
                <a:latin typeface="KaTeX_Math"/>
              </a:rPr>
              <a:t>P</a:t>
            </a:r>
            <a:r>
              <a:rPr lang="en-US" altLang="zh-CN" sz="1200" b="0" i="1" baseline="-25000" dirty="0">
                <a:solidFill>
                  <a:srgbClr val="060607"/>
                </a:solidFill>
                <a:effectLst/>
                <a:latin typeface="KaTeX_Math"/>
              </a:rPr>
              <a:t>i</a:t>
            </a:r>
            <a:r>
              <a:rPr lang="zh-CN" altLang="en-US" sz="1200" b="0" i="0" dirty="0">
                <a:solidFill>
                  <a:srgbClr val="060607"/>
                </a:solidFill>
                <a:effectLst/>
                <a:latin typeface="inherit"/>
              </a:rPr>
              <a:t>​</a:t>
            </a:r>
            <a:r>
              <a:rPr lang="zh-CN" altLang="en-US" sz="1200" b="0" i="0" dirty="0">
                <a:solidFill>
                  <a:srgbClr val="060607"/>
                </a:solidFill>
                <a:effectLst/>
                <a:latin typeface="KaTeX_Main"/>
              </a:rPr>
              <a:t>→</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P</a:t>
            </a:r>
            <a:r>
              <a:rPr lang="en-US" altLang="zh-CN" sz="1200" b="0" i="1" baseline="-25000" dirty="0">
                <a:solidFill>
                  <a:srgbClr val="060607"/>
                </a:solidFill>
                <a:effectLst/>
                <a:latin typeface="KaTeX_Math"/>
              </a:rPr>
              <a:t>i</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p</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P</a:t>
            </a:r>
            <a:r>
              <a:rPr lang="en-US" altLang="zh-CN" sz="1200" b="0" i="1" baseline="-25000" dirty="0">
                <a:solidFill>
                  <a:srgbClr val="060607"/>
                </a:solidFill>
                <a:effectLst/>
                <a:latin typeface="KaTeX_Math"/>
              </a:rPr>
              <a:t>i</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P</a:t>
            </a:r>
            <a:r>
              <a:rPr lang="en-US" altLang="zh-CN" sz="1200" b="0" i="1" baseline="-25000" dirty="0">
                <a:solidFill>
                  <a:srgbClr val="060607"/>
                </a:solidFill>
                <a:effectLst/>
                <a:latin typeface="KaTeX_Math"/>
              </a:rPr>
              <a:t>i</a:t>
            </a:r>
            <a:r>
              <a:rPr lang="zh-CN" altLang="en-US" sz="1200" b="0" i="0" dirty="0">
                <a:solidFill>
                  <a:srgbClr val="060607"/>
                </a:solidFill>
                <a:effectLst/>
                <a:latin typeface="inherit"/>
              </a:rPr>
              <a:t>​。</a:t>
            </a:r>
          </a:p>
          <a:p>
            <a:pPr algn="l" fontAlgn="base">
              <a:lnSpc>
                <a:spcPts val="1800"/>
              </a:lnSpc>
              <a:buFont typeface="+mj-lt"/>
              <a:buAutoNum type="arabicPeriod"/>
            </a:pPr>
            <a:r>
              <a:rPr lang="zh-CN" altLang="en-US" sz="1200" b="1" i="0" dirty="0">
                <a:solidFill>
                  <a:srgbClr val="060607"/>
                </a:solidFill>
                <a:effectLst/>
                <a:latin typeface="inherit"/>
              </a:rPr>
              <a:t>双臂架构的对称性</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在</a:t>
            </a:r>
            <a:r>
              <a:rPr lang="en-US" altLang="zh-CN" sz="1200" b="0" i="0" dirty="0">
                <a:solidFill>
                  <a:srgbClr val="060607"/>
                </a:solidFill>
                <a:effectLst/>
                <a:latin typeface="inherit"/>
              </a:rPr>
              <a:t>CycleEx</a:t>
            </a:r>
            <a:r>
              <a:rPr lang="zh-CN" altLang="en-US" sz="1200" b="0" i="0" dirty="0">
                <a:solidFill>
                  <a:srgbClr val="060607"/>
                </a:solidFill>
                <a:effectLst/>
                <a:latin typeface="inherit"/>
              </a:rPr>
              <a:t>中，映射 </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 与 </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p</a:t>
            </a:r>
            <a:r>
              <a:rPr lang="zh-CN" altLang="en-US" sz="1200" b="0" i="0" dirty="0">
                <a:solidFill>
                  <a:srgbClr val="060607"/>
                </a:solidFill>
                <a:effectLst/>
                <a:latin typeface="inherit"/>
              </a:rPr>
              <a:t>​ 共享相同的网络，但仅交换了条件臂和去噪器臂。在前向循环中，用于处理</a:t>
            </a:r>
            <a:r>
              <a:rPr lang="en-US" altLang="zh-CN" sz="1200" b="0" i="0" dirty="0">
                <a:solidFill>
                  <a:srgbClr val="060607"/>
                </a:solidFill>
                <a:effectLst/>
                <a:latin typeface="inherit"/>
              </a:rPr>
              <a:t>MRI</a:t>
            </a:r>
            <a:r>
              <a:rPr lang="zh-CN" altLang="en-US" sz="1200" b="0" i="0" dirty="0">
                <a:solidFill>
                  <a:srgbClr val="060607"/>
                </a:solidFill>
                <a:effectLst/>
                <a:latin typeface="inherit"/>
              </a:rPr>
              <a:t>到 </a:t>
            </a:r>
            <a:r>
              <a:rPr lang="en-US" altLang="zh-CN" sz="1200" b="0" i="1" dirty="0">
                <a:solidFill>
                  <a:srgbClr val="060607"/>
                </a:solidFill>
                <a:effectLst/>
                <a:latin typeface="KaTeX_Math"/>
              </a:rPr>
              <a:t>h</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 的条件臂 </a:t>
            </a:r>
            <a:r>
              <a:rPr lang="en-US" altLang="zh-CN" sz="1200" b="0" i="1" dirty="0">
                <a:solidFill>
                  <a:srgbClr val="060607"/>
                </a:solidFill>
                <a:effectLst/>
                <a:latin typeface="KaTeX_Math"/>
              </a:rPr>
              <a:t>ϕ</a:t>
            </a:r>
            <a:r>
              <a:rPr lang="en-US" altLang="zh-CN" sz="1200" b="0" i="1" baseline="-25000" dirty="0">
                <a:solidFill>
                  <a:srgbClr val="060607"/>
                </a:solidFill>
                <a:effectLst/>
                <a:latin typeface="KaTeX_Math"/>
              </a:rPr>
              <a:t>ω</a:t>
            </a:r>
            <a:r>
              <a:rPr lang="zh-CN" altLang="en-US" sz="1200" b="0" i="0" dirty="0">
                <a:solidFill>
                  <a:srgbClr val="060607"/>
                </a:solidFill>
                <a:effectLst/>
                <a:latin typeface="inherit"/>
              </a:rPr>
              <a:t>​ 在映射 </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p</a:t>
            </a:r>
            <a:r>
              <a:rPr lang="zh-CN" altLang="en-US" sz="1200" b="0" i="0" dirty="0">
                <a:solidFill>
                  <a:srgbClr val="060607"/>
                </a:solidFill>
                <a:effectLst/>
                <a:latin typeface="inherit"/>
              </a:rPr>
              <a:t>​ 中，将在 </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m</a:t>
            </a:r>
            <a:r>
              <a:rPr lang="zh-CN" altLang="en-US" sz="1200" b="0" i="0" baseline="-25000" dirty="0">
                <a:solidFill>
                  <a:srgbClr val="060607"/>
                </a:solidFill>
                <a:effectLst/>
                <a:latin typeface="inherit"/>
              </a:rPr>
              <a:t>​ </a:t>
            </a:r>
            <a:r>
              <a:rPr lang="zh-CN" altLang="en-US" sz="1200" b="0" i="0" dirty="0">
                <a:solidFill>
                  <a:srgbClr val="060607"/>
                </a:solidFill>
                <a:effectLst/>
                <a:latin typeface="inherit"/>
              </a:rPr>
              <a:t>中重用于去噪以合成</a:t>
            </a:r>
            <a:r>
              <a:rPr lang="en-US" altLang="zh-CN" sz="1200" b="0" i="0" dirty="0">
                <a:solidFill>
                  <a:srgbClr val="060607"/>
                </a:solidFill>
                <a:effectLst/>
                <a:latin typeface="inherit"/>
              </a:rPr>
              <a:t>MRI</a:t>
            </a:r>
            <a:r>
              <a:rPr lang="zh-CN" altLang="en-US" sz="1200" b="0" i="0" dirty="0">
                <a:solidFill>
                  <a:srgbClr val="060607"/>
                </a:solidFill>
                <a:effectLst/>
                <a:latin typeface="inherit"/>
              </a:rPr>
              <a:t>；用于在 </a:t>
            </a:r>
            <a:r>
              <a:rPr lang="en-US" altLang="zh-CN" sz="1200" b="0" i="1" dirty="0">
                <a:solidFill>
                  <a:srgbClr val="060607"/>
                </a:solidFill>
                <a:effectLst/>
                <a:latin typeface="KaTeX_Math"/>
              </a:rPr>
              <a:t>Gp</a:t>
            </a:r>
            <a:r>
              <a:rPr lang="zh-CN" altLang="en-US" sz="1200" b="0" i="0" dirty="0">
                <a:solidFill>
                  <a:srgbClr val="060607"/>
                </a:solidFill>
                <a:effectLst/>
                <a:latin typeface="inherit"/>
              </a:rPr>
              <a:t>​ 中合成</a:t>
            </a:r>
            <a:r>
              <a:rPr lang="en-US" altLang="zh-CN" sz="1200" b="0" i="0" dirty="0">
                <a:solidFill>
                  <a:srgbClr val="060607"/>
                </a:solidFill>
                <a:effectLst/>
                <a:latin typeface="inherit"/>
              </a:rPr>
              <a:t>PET</a:t>
            </a:r>
            <a:r>
              <a:rPr lang="zh-CN" altLang="en-US" sz="1200" b="0" i="0" dirty="0">
                <a:solidFill>
                  <a:srgbClr val="060607"/>
                </a:solidFill>
                <a:effectLst/>
                <a:latin typeface="inherit"/>
              </a:rPr>
              <a:t>的去噪器臂 </a:t>
            </a:r>
            <a:r>
              <a:rPr lang="en-US" altLang="zh-CN" sz="1200" b="0" i="1" dirty="0">
                <a:solidFill>
                  <a:srgbClr val="060607"/>
                </a:solidFill>
                <a:effectLst/>
                <a:latin typeface="KaTeX_Math"/>
              </a:rPr>
              <a:t>xθ</a:t>
            </a:r>
            <a:r>
              <a:rPr lang="zh-CN" altLang="en-US" sz="1200" b="0" i="0" dirty="0">
                <a:solidFill>
                  <a:srgbClr val="060607"/>
                </a:solidFill>
                <a:effectLst/>
                <a:latin typeface="inherit"/>
              </a:rPr>
              <a:t>​ 将在 </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m</a:t>
            </a:r>
            <a:r>
              <a:rPr lang="zh-CN" altLang="en-US" sz="1200" b="0" i="0" baseline="-25000" dirty="0">
                <a:solidFill>
                  <a:srgbClr val="060607"/>
                </a:solidFill>
                <a:effectLst/>
                <a:latin typeface="inherit"/>
              </a:rPr>
              <a:t>​ </a:t>
            </a:r>
            <a:r>
              <a:rPr lang="zh-CN" altLang="en-US" sz="1200" b="0" i="0" dirty="0">
                <a:solidFill>
                  <a:srgbClr val="060607"/>
                </a:solidFill>
                <a:effectLst/>
                <a:latin typeface="inherit"/>
              </a:rPr>
              <a:t>中重用于处理</a:t>
            </a:r>
            <a:r>
              <a:rPr lang="en-US" altLang="zh-CN" sz="1200" b="0" i="0" dirty="0">
                <a:solidFill>
                  <a:srgbClr val="060607"/>
                </a:solidFill>
                <a:effectLst/>
                <a:latin typeface="inherit"/>
              </a:rPr>
              <a:t>PET</a:t>
            </a:r>
            <a:r>
              <a:rPr lang="zh-CN" altLang="en-US" sz="1200" b="0" i="0" dirty="0">
                <a:solidFill>
                  <a:srgbClr val="060607"/>
                </a:solidFill>
                <a:effectLst/>
                <a:latin typeface="inherit"/>
              </a:rPr>
              <a:t>到表示 </a:t>
            </a:r>
            <a:r>
              <a:rPr lang="en-US" altLang="zh-CN" sz="1200" b="0" i="1" dirty="0">
                <a:solidFill>
                  <a:srgbClr val="060607"/>
                </a:solidFill>
                <a:effectLst/>
                <a:latin typeface="KaTeX_Math"/>
              </a:rPr>
              <a:t>h</a:t>
            </a:r>
            <a:r>
              <a:rPr lang="en-US" altLang="zh-CN" sz="1200" b="0" i="1" baseline="-25000" dirty="0">
                <a:solidFill>
                  <a:srgbClr val="060607"/>
                </a:solidFill>
                <a:effectLst/>
                <a:latin typeface="KaTeX_Math"/>
              </a:rPr>
              <a:t>p</a:t>
            </a:r>
            <a:r>
              <a:rPr lang="zh-CN" altLang="en-US" sz="1200" b="0" i="0" baseline="-25000" dirty="0">
                <a:solidFill>
                  <a:srgbClr val="060607"/>
                </a:solidFill>
                <a:effectLst/>
                <a:latin typeface="inherit"/>
              </a:rPr>
              <a:t>​</a:t>
            </a:r>
            <a:r>
              <a:rPr lang="zh-CN" altLang="en-US" sz="1200" b="0" i="0" dirty="0">
                <a:solidFill>
                  <a:srgbClr val="060607"/>
                </a:solidFill>
                <a:effectLst/>
                <a:latin typeface="inherit"/>
              </a:rPr>
              <a:t>。后向循环的作用类似。由于双臂的对称性，这种交换可以方便地实现。</a:t>
            </a:r>
          </a:p>
          <a:p>
            <a:pPr algn="l" fontAlgn="base">
              <a:lnSpc>
                <a:spcPts val="1800"/>
              </a:lnSpc>
              <a:buFont typeface="+mj-lt"/>
              <a:buAutoNum type="arabicPeriod"/>
            </a:pPr>
            <a:r>
              <a:rPr lang="zh-CN" altLang="en-US" sz="1200" b="1" i="0" dirty="0">
                <a:solidFill>
                  <a:srgbClr val="060607"/>
                </a:solidFill>
                <a:effectLst/>
                <a:latin typeface="inherit"/>
              </a:rPr>
              <a:t>额外的条件扩散过程</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en-US" altLang="zh-CN" sz="1200" b="0" i="0" dirty="0">
                <a:solidFill>
                  <a:srgbClr val="060607"/>
                </a:solidFill>
                <a:effectLst/>
                <a:latin typeface="inherit"/>
              </a:rPr>
              <a:t>CycleEx</a:t>
            </a:r>
            <a:r>
              <a:rPr lang="zh-CN" altLang="en-US" sz="1200" b="0" i="0" dirty="0">
                <a:solidFill>
                  <a:srgbClr val="060607"/>
                </a:solidFill>
                <a:effectLst/>
                <a:latin typeface="inherit"/>
              </a:rPr>
              <a:t>引入了三个额外的条件扩散过程，而无需添加额外的可学习参数。这增强了模型的泛化能力，同时保持了参数效率。</a:t>
            </a:r>
          </a:p>
          <a:p>
            <a:pPr algn="l" fontAlgn="base">
              <a:lnSpc>
                <a:spcPts val="1800"/>
              </a:lnSpc>
              <a:buFont typeface="+mj-lt"/>
              <a:buAutoNum type="arabicPeriod"/>
            </a:pPr>
            <a:r>
              <a:rPr lang="zh-CN" altLang="en-US" sz="1200" b="1" i="0" dirty="0">
                <a:solidFill>
                  <a:srgbClr val="060607"/>
                </a:solidFill>
                <a:effectLst/>
                <a:latin typeface="inherit"/>
              </a:rPr>
              <a:t>循环一致性损失</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循环一致性损失 </a:t>
            </a:r>
            <a:r>
              <a:rPr lang="en-US" altLang="zh-CN" sz="1200" b="0" i="1" dirty="0">
                <a:solidFill>
                  <a:srgbClr val="060607"/>
                </a:solidFill>
                <a:effectLst/>
                <a:latin typeface="KaTeX_Math"/>
              </a:rPr>
              <a:t>L</a:t>
            </a:r>
            <a:r>
              <a:rPr lang="en-US" altLang="zh-CN" sz="1200" b="0" i="1" baseline="-25000" dirty="0">
                <a:solidFill>
                  <a:srgbClr val="060607"/>
                </a:solidFill>
                <a:effectLst/>
                <a:latin typeface="KaTeX_Math"/>
              </a:rPr>
              <a:t>cycle</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ω</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θ</a:t>
            </a:r>
            <a:r>
              <a:rPr lang="en-US" altLang="zh-CN" sz="1200" b="0" i="0" dirty="0">
                <a:solidFill>
                  <a:srgbClr val="060607"/>
                </a:solidFill>
                <a:effectLst/>
                <a:latin typeface="KaTeX_Main"/>
              </a:rPr>
              <a:t>)</a:t>
            </a:r>
            <a:r>
              <a:rPr lang="zh-CN" altLang="en-US" sz="1200" b="0" i="0" dirty="0">
                <a:solidFill>
                  <a:srgbClr val="060607"/>
                </a:solidFill>
                <a:effectLst/>
                <a:latin typeface="inherit"/>
              </a:rPr>
              <a:t> 被引入，以加强两个臂之间的信息共享，为图像翻译添加额外的监督和正则化。损失函数定义为：</a:t>
            </a:r>
          </a:p>
          <a:p>
            <a:pPr marL="742950" lvl="1" indent="-285750" algn="l" fontAlgn="base">
              <a:lnSpc>
                <a:spcPts val="1800"/>
              </a:lnSpc>
              <a:buFont typeface="+mj-lt"/>
              <a:buAutoNum type="arabicPeriod"/>
            </a:pPr>
            <a:r>
              <a:rPr lang="en-US" altLang="zh-CN" sz="1200" b="0" i="1" dirty="0">
                <a:solidFill>
                  <a:srgbClr val="060607"/>
                </a:solidFill>
                <a:effectLst/>
                <a:latin typeface="KaTeX_Math"/>
              </a:rPr>
              <a:t>L</a:t>
            </a:r>
            <a:r>
              <a:rPr lang="en-US" altLang="zh-CN" sz="1200" b="0" i="1" baseline="-25000" dirty="0">
                <a:solidFill>
                  <a:srgbClr val="060607"/>
                </a:solidFill>
                <a:effectLst/>
                <a:latin typeface="KaTeX_Math"/>
              </a:rPr>
              <a:t>cycle</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ω</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θ</a:t>
            </a:r>
            <a:r>
              <a:rPr lang="en-US" altLang="zh-CN" sz="1200" b="0" i="0" dirty="0">
                <a:solidFill>
                  <a:srgbClr val="060607"/>
                </a:solidFill>
                <a:effectLst/>
                <a:latin typeface="KaTeX_Main"/>
              </a:rPr>
              <a:t>)=</a:t>
            </a:r>
            <a:r>
              <a:rPr lang="en-US" altLang="zh-CN" sz="1200" b="0" i="0" dirty="0">
                <a:solidFill>
                  <a:srgbClr val="060607"/>
                </a:solidFill>
                <a:effectLst/>
                <a:latin typeface="KaTeX_AMS"/>
              </a:rPr>
              <a:t>E</a:t>
            </a:r>
            <a:r>
              <a:rPr lang="en-US" altLang="zh-CN" sz="1200" b="0" i="0" baseline="-25000" dirty="0">
                <a:solidFill>
                  <a:srgbClr val="060607"/>
                </a:solidFill>
                <a:effectLst/>
                <a:latin typeface="KaTeX_Caligraphic"/>
              </a:rPr>
              <a:t>M</a:t>
            </a:r>
            <a:r>
              <a:rPr lang="zh-CN" altLang="en-US" sz="1200" b="0" i="0" baseline="-25000" dirty="0">
                <a:solidFill>
                  <a:srgbClr val="060607"/>
                </a:solidFill>
                <a:effectLst/>
                <a:latin typeface="inherit"/>
              </a:rPr>
              <a:t>​</a:t>
            </a:r>
            <a:r>
              <a:rPr lang="en-US" altLang="zh-CN" sz="1200" b="0" i="1" baseline="-25000" dirty="0">
                <a:solidFill>
                  <a:srgbClr val="060607"/>
                </a:solidFill>
                <a:effectLst/>
                <a:latin typeface="KaTeX_Math"/>
              </a:rPr>
              <a:t>dist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p</a:t>
            </a:r>
            <a:r>
              <a:rPr lang="zh-CN" altLang="en-US" sz="1200" b="0" i="0" baseline="-25000" dirty="0">
                <a:solidFill>
                  <a:srgbClr val="060607"/>
                </a:solidFill>
                <a:effectLst/>
                <a:latin typeface="inherit"/>
              </a:rPr>
              <a:t>​</a:t>
            </a:r>
            <a:r>
              <a:rPr lang="en-US" altLang="zh-CN" sz="1200" b="0" i="0" dirty="0">
                <a:solidFill>
                  <a:srgbClr val="060607"/>
                </a:solidFill>
                <a:effectLst/>
                <a:latin typeface="KaTeX_Main"/>
              </a:rPr>
              <a:t>(</a:t>
            </a:r>
            <a:r>
              <a:rPr lang="en-US" altLang="zh-CN" sz="1200" b="0" i="0" dirty="0">
                <a:solidFill>
                  <a:srgbClr val="060607"/>
                </a:solidFill>
                <a:effectLst/>
                <a:latin typeface="KaTeX_Caligraphic"/>
              </a:rPr>
              <a:t>M</a:t>
            </a:r>
            <a:r>
              <a:rPr lang="en-US" altLang="zh-CN" sz="1200" b="0" i="0" dirty="0">
                <a:solidFill>
                  <a:srgbClr val="060607"/>
                </a:solidFill>
                <a:effectLst/>
                <a:latin typeface="KaTeX_Main"/>
              </a:rPr>
              <a:t>)),</a:t>
            </a:r>
            <a:r>
              <a:rPr lang="en-US" altLang="zh-CN" sz="1200" b="0" i="0" dirty="0">
                <a:solidFill>
                  <a:srgbClr val="060607"/>
                </a:solidFill>
                <a:effectLst/>
                <a:latin typeface="KaTeX_Caligraphic"/>
              </a:rPr>
              <a:t>M</a:t>
            </a:r>
            <a:r>
              <a:rPr lang="en-US" altLang="zh-CN" sz="1200" b="0" i="0" dirty="0">
                <a:solidFill>
                  <a:srgbClr val="060607"/>
                </a:solidFill>
                <a:effectLst/>
                <a:latin typeface="KaTeX_Main"/>
              </a:rPr>
              <a:t>)+</a:t>
            </a:r>
            <a:r>
              <a:rPr lang="en-US" altLang="zh-CN" sz="1200" b="0" i="0" dirty="0">
                <a:solidFill>
                  <a:srgbClr val="060607"/>
                </a:solidFill>
                <a:effectLst/>
                <a:latin typeface="KaTeX_AMS"/>
              </a:rPr>
              <a:t>E</a:t>
            </a:r>
            <a:r>
              <a:rPr lang="en-US" altLang="zh-CN" sz="1200" b="0" i="0" baseline="-25000" dirty="0">
                <a:solidFill>
                  <a:srgbClr val="060607"/>
                </a:solidFill>
                <a:effectLst/>
                <a:latin typeface="KaTeX_Caligraphic"/>
              </a:rPr>
              <a:t>P</a:t>
            </a:r>
            <a:r>
              <a:rPr lang="zh-CN" altLang="en-US" sz="1200" b="0" i="0" baseline="-25000" dirty="0">
                <a:solidFill>
                  <a:srgbClr val="060607"/>
                </a:solidFill>
                <a:effectLst/>
                <a:latin typeface="inherit"/>
              </a:rPr>
              <a:t>​</a:t>
            </a:r>
            <a:r>
              <a:rPr lang="en-US" altLang="zh-CN" sz="1200" b="0" i="1" baseline="-25000" dirty="0">
                <a:solidFill>
                  <a:srgbClr val="060607"/>
                </a:solidFill>
                <a:effectLst/>
                <a:latin typeface="KaTeX_Math"/>
              </a:rPr>
              <a:t>dist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p</a:t>
            </a:r>
            <a:r>
              <a:rPr lang="zh-CN" altLang="en-US" sz="1200" b="0" i="0" baseline="-2500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G</a:t>
            </a:r>
            <a:r>
              <a:rPr lang="en-US" altLang="zh-CN" sz="1200" b="0" i="1" baseline="-25000" dirty="0">
                <a:solidFill>
                  <a:srgbClr val="060607"/>
                </a:solidFill>
                <a:effectLst/>
                <a:latin typeface="KaTeX_Math"/>
              </a:rPr>
              <a:t>m</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0" dirty="0">
                <a:solidFill>
                  <a:srgbClr val="060607"/>
                </a:solidFill>
                <a:effectLst/>
                <a:latin typeface="KaTeX_Caligraphic"/>
              </a:rPr>
              <a:t>P</a:t>
            </a:r>
            <a:r>
              <a:rPr lang="en-US" altLang="zh-CN" sz="1200" b="0" i="0" dirty="0">
                <a:solidFill>
                  <a:srgbClr val="060607"/>
                </a:solidFill>
                <a:effectLst/>
                <a:latin typeface="KaTeX_Main"/>
              </a:rPr>
              <a:t>),</a:t>
            </a:r>
            <a:r>
              <a:rPr lang="en-US" altLang="zh-CN" sz="1200" b="0" i="0" dirty="0">
                <a:solidFill>
                  <a:srgbClr val="060607"/>
                </a:solidFill>
                <a:effectLst/>
                <a:latin typeface="KaTeX_Caligraphic"/>
              </a:rPr>
              <a:t>P</a:t>
            </a:r>
            <a:r>
              <a:rPr lang="en-US" altLang="zh-CN" sz="1200" b="0" i="0" dirty="0">
                <a:solidFill>
                  <a:srgbClr val="060607"/>
                </a:solidFill>
                <a:effectLst/>
                <a:latin typeface="KaTeX_Main"/>
              </a:rPr>
              <a:t>),</a:t>
            </a:r>
            <a:endParaRPr lang="zh-CN" altLang="en-US" sz="1200" b="0" i="0" dirty="0">
              <a:solidFill>
                <a:srgbClr val="060607"/>
              </a:solidFill>
              <a:effectLst/>
              <a:latin typeface="inherit"/>
            </a:endParaRPr>
          </a:p>
          <a:p>
            <a:pPr marL="742950" lvl="1" indent="-285750" algn="l" fontAlgn="base">
              <a:lnSpc>
                <a:spcPts val="1800"/>
              </a:lnSpc>
              <a:buFont typeface="+mj-lt"/>
              <a:buAutoNum type="arabicPeriod"/>
            </a:pPr>
            <a:r>
              <a:rPr lang="zh-CN" altLang="en-US" sz="1200" b="0" i="0" dirty="0">
                <a:solidFill>
                  <a:srgbClr val="060607"/>
                </a:solidFill>
                <a:effectLst/>
                <a:latin typeface="inherit"/>
              </a:rPr>
              <a:t>其中 </a:t>
            </a:r>
            <a:r>
              <a:rPr lang="en-US" altLang="zh-CN" sz="1200" b="0" i="1" dirty="0">
                <a:solidFill>
                  <a:srgbClr val="060607"/>
                </a:solidFill>
                <a:effectLst/>
                <a:latin typeface="KaTeX_Math"/>
              </a:rPr>
              <a:t>dist</a:t>
            </a:r>
            <a:r>
              <a:rPr lang="en-US" altLang="zh-CN" sz="1200" b="0" i="0" dirty="0">
                <a:solidFill>
                  <a:srgbClr val="060607"/>
                </a:solidFill>
                <a:effectLst/>
                <a:latin typeface="KaTeX_Main"/>
              </a:rPr>
              <a:t>(⋅)</a:t>
            </a:r>
            <a:r>
              <a:rPr lang="zh-CN" altLang="en-US" sz="1200" b="0" i="0" dirty="0">
                <a:solidFill>
                  <a:srgbClr val="060607"/>
                </a:solidFill>
                <a:effectLst/>
                <a:latin typeface="inherit"/>
              </a:rPr>
              <a:t> 可以是 </a:t>
            </a:r>
            <a:r>
              <a:rPr lang="en-US" altLang="zh-CN" sz="1200" b="0" i="1" dirty="0">
                <a:solidFill>
                  <a:srgbClr val="060607"/>
                </a:solidFill>
                <a:effectLst/>
                <a:latin typeface="KaTeX_Math"/>
              </a:rPr>
              <a:t>L</a:t>
            </a:r>
            <a:r>
              <a:rPr lang="en-US" altLang="zh-CN" sz="1200" b="0" i="0" dirty="0">
                <a:solidFill>
                  <a:srgbClr val="060607"/>
                </a:solidFill>
                <a:effectLst/>
                <a:latin typeface="inherit"/>
              </a:rPr>
              <a:t>1​ </a:t>
            </a:r>
            <a:r>
              <a:rPr lang="zh-CN" altLang="en-US" sz="1200" b="0" i="0" dirty="0">
                <a:solidFill>
                  <a:srgbClr val="060607"/>
                </a:solidFill>
                <a:effectLst/>
                <a:latin typeface="inherit"/>
              </a:rPr>
              <a:t>或 </a:t>
            </a:r>
            <a:r>
              <a:rPr lang="en-US" altLang="zh-CN" sz="1200" b="0" i="1" dirty="0">
                <a:solidFill>
                  <a:srgbClr val="060607"/>
                </a:solidFill>
                <a:effectLst/>
                <a:latin typeface="KaTeX_Math"/>
              </a:rPr>
              <a:t>L</a:t>
            </a:r>
            <a:r>
              <a:rPr lang="en-US" altLang="zh-CN" sz="1200" b="0" i="0" dirty="0">
                <a:solidFill>
                  <a:srgbClr val="060607"/>
                </a:solidFill>
                <a:effectLst/>
                <a:latin typeface="inherit"/>
              </a:rPr>
              <a:t>2​ </a:t>
            </a:r>
            <a:r>
              <a:rPr lang="zh-CN" altLang="en-US" sz="1200" b="0" i="0" dirty="0">
                <a:solidFill>
                  <a:srgbClr val="060607"/>
                </a:solidFill>
                <a:effectLst/>
                <a:latin typeface="inherit"/>
              </a:rPr>
              <a:t>距离。这种设置强制执行两个臂之间的信息共享，为图像翻译添加额外的监督和正则化。</a:t>
            </a:r>
          </a:p>
          <a:p>
            <a:pPr algn="l" fontAlgn="base">
              <a:lnSpc>
                <a:spcPts val="1800"/>
              </a:lnSpc>
              <a:buFont typeface="+mj-lt"/>
              <a:buAutoNum type="arabicPeriod"/>
            </a:pPr>
            <a:r>
              <a:rPr lang="zh-CN" altLang="en-US" sz="1200" b="1" i="0" dirty="0">
                <a:solidFill>
                  <a:srgbClr val="060607"/>
                </a:solidFill>
                <a:effectLst/>
                <a:latin typeface="inherit"/>
              </a:rPr>
              <a:t>综合训练目标</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en-US" altLang="zh-CN" sz="1200" b="0" i="0" dirty="0">
                <a:solidFill>
                  <a:srgbClr val="060607"/>
                </a:solidFill>
                <a:effectLst/>
                <a:latin typeface="inherit"/>
              </a:rPr>
              <a:t>PASTA</a:t>
            </a:r>
            <a:r>
              <a:rPr lang="zh-CN" altLang="en-US" sz="1200" b="0" i="0" dirty="0">
                <a:solidFill>
                  <a:srgbClr val="060607"/>
                </a:solidFill>
                <a:effectLst/>
                <a:latin typeface="inherit"/>
              </a:rPr>
              <a:t>的综合训练目标是：</a:t>
            </a:r>
          </a:p>
          <a:p>
            <a:pPr marL="742950" lvl="1" indent="-285750" algn="l" fontAlgn="base">
              <a:lnSpc>
                <a:spcPts val="1800"/>
              </a:lnSpc>
              <a:buFont typeface="+mj-lt"/>
              <a:buAutoNum type="arabicPeriod"/>
            </a:pPr>
            <a:r>
              <a:rPr lang="en-US" altLang="zh-CN" sz="1200" b="0" i="1" dirty="0">
                <a:solidFill>
                  <a:srgbClr val="060607"/>
                </a:solidFill>
                <a:effectLst/>
                <a:latin typeface="KaTeX_Math"/>
              </a:rPr>
              <a:t>L</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λ</a:t>
            </a:r>
            <a:r>
              <a:rPr lang="en-US" altLang="zh-CN" sz="1200" b="0" i="1" baseline="-25000" dirty="0">
                <a:solidFill>
                  <a:srgbClr val="060607"/>
                </a:solidFill>
                <a:effectLst/>
                <a:latin typeface="KaTeX_Math"/>
              </a:rPr>
              <a:t>task</a:t>
            </a:r>
            <a:r>
              <a:rPr lang="zh-CN" altLang="en-US" sz="1200" b="0" i="0" dirty="0">
                <a:solidFill>
                  <a:srgbClr val="060607"/>
                </a:solidFill>
                <a:effectLst/>
                <a:latin typeface="inherit"/>
              </a:rPr>
              <a:t>​</a:t>
            </a:r>
            <a:r>
              <a:rPr lang="zh-CN" altLang="en-US" sz="1200" b="0" i="0" dirty="0">
                <a:solidFill>
                  <a:srgbClr val="060607"/>
                </a:solidFill>
                <a:effectLst/>
                <a:latin typeface="KaTeX_Main"/>
              </a:rPr>
              <a:t>⋅</a:t>
            </a:r>
            <a:r>
              <a:rPr lang="en-US" altLang="zh-CN" sz="1200" b="0" i="1" dirty="0">
                <a:solidFill>
                  <a:srgbClr val="060607"/>
                </a:solidFill>
                <a:effectLst/>
                <a:latin typeface="KaTeX_Math"/>
              </a:rPr>
              <a:t>L</a:t>
            </a:r>
            <a:r>
              <a:rPr lang="en-US" altLang="zh-CN" sz="1200" b="0" i="1" baseline="-25000" dirty="0">
                <a:solidFill>
                  <a:srgbClr val="060607"/>
                </a:solidFill>
                <a:effectLst/>
                <a:latin typeface="KaTeX_Math"/>
              </a:rPr>
              <a:t>task</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λ</a:t>
            </a:r>
            <a:r>
              <a:rPr lang="en-US" altLang="zh-CN" sz="1200" b="0" i="1" baseline="-25000" dirty="0">
                <a:solidFill>
                  <a:srgbClr val="060607"/>
                </a:solidFill>
                <a:effectLst/>
                <a:latin typeface="KaTeX_Math"/>
              </a:rPr>
              <a:t>diff</a:t>
            </a:r>
            <a:r>
              <a:rPr lang="zh-CN" altLang="en-US" sz="1200" b="0" i="0" dirty="0">
                <a:solidFill>
                  <a:srgbClr val="060607"/>
                </a:solidFill>
                <a:effectLst/>
                <a:latin typeface="inherit"/>
              </a:rPr>
              <a:t>​</a:t>
            </a:r>
            <a:r>
              <a:rPr lang="zh-CN" altLang="en-US" sz="1200" b="0" i="0" dirty="0">
                <a:solidFill>
                  <a:srgbClr val="060607"/>
                </a:solidFill>
                <a:effectLst/>
                <a:latin typeface="KaTeX_Main"/>
              </a:rPr>
              <a:t>⋅</a:t>
            </a:r>
            <a:r>
              <a:rPr lang="en-US" altLang="zh-CN" sz="1200" b="0" i="1" dirty="0">
                <a:solidFill>
                  <a:srgbClr val="060607"/>
                </a:solidFill>
                <a:effectLst/>
                <a:latin typeface="KaTeX_Math"/>
              </a:rPr>
              <a:t>L</a:t>
            </a:r>
            <a:r>
              <a:rPr lang="en-US" altLang="zh-CN" sz="1200" b="0" i="1" baseline="-25000" dirty="0">
                <a:solidFill>
                  <a:srgbClr val="060607"/>
                </a:solidFill>
                <a:effectLst/>
                <a:latin typeface="KaTeX_Math"/>
              </a:rPr>
              <a:t>diff</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r>
              <a:rPr lang="en-US" altLang="zh-CN" sz="1200" b="0" i="1" dirty="0">
                <a:solidFill>
                  <a:srgbClr val="060607"/>
                </a:solidFill>
                <a:effectLst/>
                <a:latin typeface="KaTeX_Math"/>
              </a:rPr>
              <a:t>λ</a:t>
            </a:r>
            <a:r>
              <a:rPr lang="en-US" altLang="zh-CN" sz="1200" b="0" i="1" baseline="-25000" dirty="0">
                <a:solidFill>
                  <a:srgbClr val="060607"/>
                </a:solidFill>
                <a:effectLst/>
                <a:latin typeface="KaTeX_Math"/>
              </a:rPr>
              <a:t>cycle</a:t>
            </a:r>
            <a:r>
              <a:rPr lang="zh-CN" altLang="en-US" sz="1200" b="0" i="0" dirty="0">
                <a:solidFill>
                  <a:srgbClr val="060607"/>
                </a:solidFill>
                <a:effectLst/>
                <a:latin typeface="inherit"/>
              </a:rPr>
              <a:t>​</a:t>
            </a:r>
            <a:r>
              <a:rPr lang="zh-CN" altLang="en-US" sz="1200" b="0" i="0" dirty="0">
                <a:solidFill>
                  <a:srgbClr val="060607"/>
                </a:solidFill>
                <a:effectLst/>
                <a:latin typeface="KaTeX_Main"/>
              </a:rPr>
              <a:t>⋅</a:t>
            </a:r>
            <a:r>
              <a:rPr lang="en-US" altLang="zh-CN" sz="1200" b="0" i="1" dirty="0">
                <a:solidFill>
                  <a:srgbClr val="060607"/>
                </a:solidFill>
                <a:effectLst/>
                <a:latin typeface="KaTeX_Math"/>
              </a:rPr>
              <a:t>L</a:t>
            </a:r>
            <a:r>
              <a:rPr lang="en-US" altLang="zh-CN" sz="1200" b="0" i="1" baseline="-25000" dirty="0">
                <a:solidFill>
                  <a:srgbClr val="060607"/>
                </a:solidFill>
                <a:effectLst/>
                <a:latin typeface="KaTeX_Math"/>
              </a:rPr>
              <a:t>cycle</a:t>
            </a:r>
            <a:r>
              <a:rPr lang="zh-CN" altLang="en-US" sz="1200" b="0" i="0" dirty="0">
                <a:solidFill>
                  <a:srgbClr val="060607"/>
                </a:solidFill>
                <a:effectLst/>
                <a:latin typeface="inherit"/>
              </a:rPr>
              <a:t>​</a:t>
            </a:r>
            <a:r>
              <a:rPr lang="en-US" altLang="zh-CN" sz="1200" b="0" i="0" dirty="0">
                <a:solidFill>
                  <a:srgbClr val="060607"/>
                </a:solidFill>
                <a:effectLst/>
                <a:latin typeface="KaTeX_Main"/>
              </a:rPr>
              <a:t>,</a:t>
            </a:r>
            <a:endParaRPr lang="zh-CN" altLang="en-US" sz="1200" b="0" i="0" dirty="0">
              <a:solidFill>
                <a:srgbClr val="060607"/>
              </a:solidFill>
              <a:effectLst/>
              <a:latin typeface="inherit"/>
            </a:endParaRPr>
          </a:p>
          <a:p>
            <a:pPr marL="742950" lvl="1" indent="-285750" algn="l" fontAlgn="base">
              <a:lnSpc>
                <a:spcPts val="1800"/>
              </a:lnSpc>
              <a:buFont typeface="+mj-lt"/>
              <a:buAutoNum type="arabicPeriod"/>
            </a:pPr>
            <a:r>
              <a:rPr lang="zh-CN" altLang="en-US" sz="1200" b="0" i="0" dirty="0">
                <a:solidFill>
                  <a:srgbClr val="060607"/>
                </a:solidFill>
                <a:effectLst/>
                <a:latin typeface="inherit"/>
              </a:rPr>
              <a:t>其中 </a:t>
            </a:r>
            <a:r>
              <a:rPr lang="en-US" altLang="zh-CN" sz="1200" b="0" i="1" dirty="0">
                <a:solidFill>
                  <a:srgbClr val="060607"/>
                </a:solidFill>
                <a:effectLst/>
                <a:latin typeface="KaTeX_Math"/>
              </a:rPr>
              <a:t>λ</a:t>
            </a:r>
            <a:r>
              <a:rPr lang="en-US" altLang="zh-CN" sz="1200" b="0" i="1" baseline="-25000" dirty="0">
                <a:solidFill>
                  <a:srgbClr val="060607"/>
                </a:solidFill>
                <a:effectLst/>
                <a:latin typeface="KaTeX_Math"/>
              </a:rPr>
              <a:t>task</a:t>
            </a:r>
            <a:r>
              <a:rPr lang="zh-CN" altLang="en-US" sz="1200" b="0" i="0" dirty="0">
                <a:solidFill>
                  <a:srgbClr val="060607"/>
                </a:solidFill>
                <a:effectLst/>
                <a:latin typeface="inherit"/>
              </a:rPr>
              <a:t>​</a:t>
            </a:r>
            <a:r>
              <a:rPr lang="en-US" altLang="zh-CN" sz="1200" b="0" i="0" dirty="0">
                <a:solidFill>
                  <a:srgbClr val="060607"/>
                </a:solidFill>
                <a:effectLst/>
                <a:latin typeface="inherit"/>
              </a:rPr>
              <a:t>, </a:t>
            </a:r>
            <a:r>
              <a:rPr lang="en-US" altLang="zh-CN" sz="1200" b="0" i="1" dirty="0">
                <a:solidFill>
                  <a:srgbClr val="060607"/>
                </a:solidFill>
                <a:effectLst/>
                <a:latin typeface="KaTeX_Math"/>
              </a:rPr>
              <a:t>λ</a:t>
            </a:r>
            <a:r>
              <a:rPr lang="en-US" altLang="zh-CN" sz="1200" b="0" i="1" baseline="-25000" dirty="0">
                <a:solidFill>
                  <a:srgbClr val="060607"/>
                </a:solidFill>
                <a:effectLst/>
                <a:latin typeface="KaTeX_Math"/>
              </a:rPr>
              <a:t>diff</a:t>
            </a:r>
            <a:r>
              <a:rPr lang="zh-CN" altLang="en-US" sz="1200" b="0" i="0" dirty="0">
                <a:solidFill>
                  <a:srgbClr val="060607"/>
                </a:solidFill>
                <a:effectLst/>
                <a:latin typeface="inherit"/>
              </a:rPr>
              <a:t>​</a:t>
            </a:r>
            <a:r>
              <a:rPr lang="en-US" altLang="zh-CN" sz="1200" b="0" i="0" dirty="0">
                <a:solidFill>
                  <a:srgbClr val="060607"/>
                </a:solidFill>
                <a:effectLst/>
                <a:latin typeface="inherit"/>
              </a:rPr>
              <a:t>, </a:t>
            </a:r>
            <a:r>
              <a:rPr lang="zh-CN" altLang="en-US" sz="1200" b="0" i="0" dirty="0">
                <a:solidFill>
                  <a:srgbClr val="060607"/>
                </a:solidFill>
                <a:effectLst/>
                <a:latin typeface="inherit"/>
              </a:rPr>
              <a:t>和 </a:t>
            </a:r>
            <a:r>
              <a:rPr lang="en-US" altLang="zh-CN" sz="1200" b="0" i="1" dirty="0">
                <a:solidFill>
                  <a:srgbClr val="060607"/>
                </a:solidFill>
                <a:effectLst/>
                <a:latin typeface="KaTeX_Math"/>
              </a:rPr>
              <a:t>λ</a:t>
            </a:r>
            <a:r>
              <a:rPr lang="en-US" altLang="zh-CN" sz="1200" b="0" i="1" baseline="-25000" dirty="0">
                <a:solidFill>
                  <a:srgbClr val="060607"/>
                </a:solidFill>
                <a:effectLst/>
                <a:latin typeface="KaTeX_Math"/>
              </a:rPr>
              <a:t>cycle</a:t>
            </a:r>
            <a:r>
              <a:rPr lang="zh-CN" altLang="en-US" sz="1200" b="0" i="0" dirty="0">
                <a:solidFill>
                  <a:srgbClr val="060607"/>
                </a:solidFill>
                <a:effectLst/>
                <a:latin typeface="inherit"/>
              </a:rPr>
              <a:t>​ 是常数因子，用于平衡不同损失项的贡献。</a:t>
            </a:r>
            <a:r>
              <a:rPr lang="en-US" altLang="zh-CN" sz="1200" dirty="0">
                <a:solidFill>
                  <a:srgbClr val="0070C0"/>
                </a:solidFill>
                <a:latin typeface="inherit"/>
              </a:rPr>
              <a:t>[1]</a:t>
            </a:r>
            <a:endParaRPr lang="zh-CN" altLang="en-US" sz="1200" b="0" i="0" dirty="0">
              <a:solidFill>
                <a:srgbClr val="0070C0"/>
              </a:solidFill>
              <a:effectLst/>
              <a:latin typeface="inherit"/>
            </a:endParaRPr>
          </a:p>
          <a:p>
            <a:endParaRPr lang="en-US" altLang="zh-CN" sz="1200" dirty="0"/>
          </a:p>
        </p:txBody>
      </p:sp>
      <p:sp>
        <p:nvSpPr>
          <p:cNvPr id="6" name="文本框 5">
            <a:extLst>
              <a:ext uri="{FF2B5EF4-FFF2-40B4-BE49-F238E27FC236}">
                <a16:creationId xmlns:a16="http://schemas.microsoft.com/office/drawing/2014/main" id="{FBFF9B18-36DE-E484-B00E-A98B4F4E817C}"/>
              </a:ext>
            </a:extLst>
          </p:cNvPr>
          <p:cNvSpPr txBox="1"/>
          <p:nvPr/>
        </p:nvSpPr>
        <p:spPr>
          <a:xfrm>
            <a:off x="10401300" y="180975"/>
            <a:ext cx="1552575" cy="369332"/>
          </a:xfrm>
          <a:prstGeom prst="rect">
            <a:avLst/>
          </a:prstGeom>
          <a:noFill/>
        </p:spPr>
        <p:txBody>
          <a:bodyPr wrap="square" rtlCol="0">
            <a:spAutoFit/>
          </a:bodyPr>
          <a:lstStyle/>
          <a:p>
            <a:r>
              <a:rPr lang="zh-CN" altLang="en-US" b="1" dirty="0"/>
              <a:t>模型架构</a:t>
            </a:r>
            <a:endParaRPr lang="en-US" altLang="zh-CN" b="1" dirty="0"/>
          </a:p>
        </p:txBody>
      </p:sp>
      <p:pic>
        <p:nvPicPr>
          <p:cNvPr id="5" name="图片 4">
            <a:extLst>
              <a:ext uri="{FF2B5EF4-FFF2-40B4-BE49-F238E27FC236}">
                <a16:creationId xmlns:a16="http://schemas.microsoft.com/office/drawing/2014/main" id="{25F3BB8A-ADC6-01ED-8B2D-BC1A1604AF15}"/>
              </a:ext>
            </a:extLst>
          </p:cNvPr>
          <p:cNvPicPr>
            <a:picLocks noChangeAspect="1"/>
          </p:cNvPicPr>
          <p:nvPr/>
        </p:nvPicPr>
        <p:blipFill>
          <a:blip r:embed="rId2"/>
          <a:stretch>
            <a:fillRect/>
          </a:stretch>
        </p:blipFill>
        <p:spPr>
          <a:xfrm>
            <a:off x="5587774" y="701101"/>
            <a:ext cx="6604226" cy="3676650"/>
          </a:xfrm>
          <a:prstGeom prst="rect">
            <a:avLst/>
          </a:prstGeom>
        </p:spPr>
      </p:pic>
      <p:pic>
        <p:nvPicPr>
          <p:cNvPr id="7" name="图片 6">
            <a:extLst>
              <a:ext uri="{FF2B5EF4-FFF2-40B4-BE49-F238E27FC236}">
                <a16:creationId xmlns:a16="http://schemas.microsoft.com/office/drawing/2014/main" id="{08275CEF-BBBE-BAD3-2107-B0F91915F5BE}"/>
              </a:ext>
            </a:extLst>
          </p:cNvPr>
          <p:cNvPicPr>
            <a:picLocks noChangeAspect="1"/>
          </p:cNvPicPr>
          <p:nvPr/>
        </p:nvPicPr>
        <p:blipFill>
          <a:blip r:embed="rId3"/>
          <a:stretch>
            <a:fillRect/>
          </a:stretch>
        </p:blipFill>
        <p:spPr>
          <a:xfrm>
            <a:off x="6010532" y="4377751"/>
            <a:ext cx="5485886" cy="2299274"/>
          </a:xfrm>
          <a:prstGeom prst="rect">
            <a:avLst/>
          </a:prstGeom>
        </p:spPr>
      </p:pic>
    </p:spTree>
    <p:extLst>
      <p:ext uri="{BB962C8B-B14F-4D97-AF65-F5344CB8AC3E}">
        <p14:creationId xmlns:p14="http://schemas.microsoft.com/office/powerpoint/2010/main" val="256736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F9B3F-A775-4202-EF5D-A313DCC891A5}"/>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E57E115E-9C10-5A40-CE65-BBE7CD5D15CA}"/>
              </a:ext>
            </a:extLst>
          </p:cNvPr>
          <p:cNvPicPr>
            <a:picLocks noChangeAspect="1"/>
          </p:cNvPicPr>
          <p:nvPr/>
        </p:nvPicPr>
        <p:blipFill>
          <a:blip r:embed="rId2"/>
          <a:stretch>
            <a:fillRect/>
          </a:stretch>
        </p:blipFill>
        <p:spPr>
          <a:xfrm>
            <a:off x="5321173" y="742950"/>
            <a:ext cx="6750304" cy="2829224"/>
          </a:xfrm>
          <a:prstGeom prst="rect">
            <a:avLst/>
          </a:prstGeom>
        </p:spPr>
      </p:pic>
      <p:sp>
        <p:nvSpPr>
          <p:cNvPr id="2" name="文本框 1">
            <a:extLst>
              <a:ext uri="{FF2B5EF4-FFF2-40B4-BE49-F238E27FC236}">
                <a16:creationId xmlns:a16="http://schemas.microsoft.com/office/drawing/2014/main" id="{9551CA23-9B55-C615-6E65-8CCDAC5286BC}"/>
              </a:ext>
            </a:extLst>
          </p:cNvPr>
          <p:cNvSpPr txBox="1"/>
          <p:nvPr/>
        </p:nvSpPr>
        <p:spPr>
          <a:xfrm>
            <a:off x="1142999" y="180975"/>
            <a:ext cx="3676651" cy="369332"/>
          </a:xfrm>
          <a:prstGeom prst="rect">
            <a:avLst/>
          </a:prstGeom>
          <a:noFill/>
        </p:spPr>
        <p:txBody>
          <a:bodyPr wrap="square" rtlCol="0">
            <a:spAutoFit/>
          </a:bodyPr>
          <a:lstStyle/>
          <a:p>
            <a:r>
              <a:rPr lang="en-US" altLang="zh-CN" b="1" dirty="0"/>
              <a:t>Cycle Exchange Consistency</a:t>
            </a:r>
          </a:p>
        </p:txBody>
      </p:sp>
      <p:sp>
        <p:nvSpPr>
          <p:cNvPr id="3" name="文本框 2">
            <a:extLst>
              <a:ext uri="{FF2B5EF4-FFF2-40B4-BE49-F238E27FC236}">
                <a16:creationId xmlns:a16="http://schemas.microsoft.com/office/drawing/2014/main" id="{A48F4FC3-C74F-F597-9BE8-A2794F9D1946}"/>
              </a:ext>
            </a:extLst>
          </p:cNvPr>
          <p:cNvSpPr txBox="1"/>
          <p:nvPr/>
        </p:nvSpPr>
        <p:spPr>
          <a:xfrm>
            <a:off x="120524" y="1120676"/>
            <a:ext cx="5032502" cy="3970318"/>
          </a:xfrm>
          <a:prstGeom prst="rect">
            <a:avLst/>
          </a:prstGeom>
          <a:noFill/>
        </p:spPr>
        <p:txBody>
          <a:bodyPr wrap="square" rtlCol="0">
            <a:spAutoFit/>
          </a:bodyPr>
          <a:lstStyle/>
          <a:p>
            <a:r>
              <a:rPr lang="en-US" altLang="zh-CN" dirty="0"/>
              <a:t>PASTA</a:t>
            </a:r>
            <a:r>
              <a:rPr lang="zh-CN" altLang="en-US" dirty="0"/>
              <a:t>的图上似乎没有体现，这应该就是一个训练中的策略</a:t>
            </a:r>
            <a:endParaRPr lang="en-US" altLang="zh-CN" dirty="0"/>
          </a:p>
          <a:p>
            <a:endParaRPr lang="en-US" altLang="zh-CN" dirty="0"/>
          </a:p>
          <a:p>
            <a:r>
              <a:rPr lang="zh-CN" altLang="en-US" dirty="0"/>
              <a:t>我们来看图理解这个过程：在生成图像的过程中用到了条件臂（我称为</a:t>
            </a:r>
            <a:r>
              <a:rPr lang="en-US" altLang="zh-CN" dirty="0"/>
              <a:t>CA</a:t>
            </a:r>
            <a:r>
              <a:rPr lang="zh-CN" altLang="en-US" dirty="0"/>
              <a:t>），去噪臂（</a:t>
            </a:r>
            <a:r>
              <a:rPr lang="en-US" altLang="zh-CN" dirty="0"/>
              <a:t>DA</a:t>
            </a:r>
            <a:r>
              <a:rPr lang="zh-CN" altLang="en-US" dirty="0"/>
              <a:t>）。</a:t>
            </a:r>
            <a:r>
              <a:rPr lang="en-US" altLang="zh-CN" dirty="0"/>
              <a:t>MRI</a:t>
            </a:r>
            <a:r>
              <a:rPr lang="zh-CN" altLang="en-US" dirty="0"/>
              <a:t>图像经过</a:t>
            </a:r>
            <a:r>
              <a:rPr lang="en-US" altLang="zh-CN" dirty="0"/>
              <a:t>CA</a:t>
            </a:r>
            <a:r>
              <a:rPr lang="zh-CN" altLang="en-US" dirty="0"/>
              <a:t>和</a:t>
            </a:r>
            <a:r>
              <a:rPr lang="en-US" altLang="zh-CN" dirty="0"/>
              <a:t>DA</a:t>
            </a:r>
            <a:r>
              <a:rPr lang="zh-CN" altLang="en-US" dirty="0"/>
              <a:t>生成了</a:t>
            </a:r>
            <a:r>
              <a:rPr lang="en-US" altLang="zh-CN" dirty="0"/>
              <a:t>PET</a:t>
            </a:r>
            <a:r>
              <a:rPr lang="zh-CN" altLang="en-US" dirty="0"/>
              <a:t>图像，在生成的</a:t>
            </a:r>
            <a:r>
              <a:rPr lang="en-US" altLang="zh-CN" dirty="0"/>
              <a:t>PET</a:t>
            </a:r>
            <a:r>
              <a:rPr lang="zh-CN" altLang="en-US" dirty="0"/>
              <a:t>图像的基础上经过</a:t>
            </a:r>
            <a:r>
              <a:rPr lang="en-US" altLang="zh-CN" dirty="0"/>
              <a:t>DA</a:t>
            </a:r>
            <a:r>
              <a:rPr lang="zh-CN" altLang="en-US" dirty="0"/>
              <a:t>再经过</a:t>
            </a:r>
            <a:r>
              <a:rPr lang="en-US" altLang="zh-CN" dirty="0"/>
              <a:t>CA</a:t>
            </a:r>
            <a:r>
              <a:rPr lang="zh-CN" altLang="en-US" dirty="0"/>
              <a:t>还原成原本的</a:t>
            </a:r>
            <a:r>
              <a:rPr lang="en-US" altLang="zh-CN" dirty="0"/>
              <a:t>MRI</a:t>
            </a:r>
            <a:r>
              <a:rPr lang="zh-CN" altLang="en-US" dirty="0"/>
              <a:t>图像。</a:t>
            </a:r>
            <a:r>
              <a:rPr lang="en-US" altLang="zh-CN" dirty="0"/>
              <a:t>PET</a:t>
            </a:r>
            <a:r>
              <a:rPr lang="zh-CN" altLang="en-US" dirty="0"/>
              <a:t>图像同理，无非一个是前向过程，一个是反向过程。</a:t>
            </a:r>
            <a:endParaRPr lang="en-US" altLang="zh-CN" dirty="0"/>
          </a:p>
          <a:p>
            <a:endParaRPr lang="en-US" altLang="zh-CN" dirty="0"/>
          </a:p>
          <a:p>
            <a:r>
              <a:rPr lang="zh-CN" altLang="en-US" dirty="0"/>
              <a:t>在经历过这个过程以后，实现了</a:t>
            </a:r>
            <a:r>
              <a:rPr lang="en-US" altLang="zh-CN" dirty="0"/>
              <a:t>CA</a:t>
            </a:r>
            <a:r>
              <a:rPr lang="zh-CN" altLang="en-US" dirty="0"/>
              <a:t>和</a:t>
            </a:r>
            <a:r>
              <a:rPr lang="en-US" altLang="zh-CN" dirty="0"/>
              <a:t>DA</a:t>
            </a:r>
            <a:r>
              <a:rPr lang="zh-CN" altLang="en-US" dirty="0"/>
              <a:t>的联合，让模型在整体功能上更好（类似</a:t>
            </a:r>
            <a:r>
              <a:rPr lang="en-US" altLang="zh-CN" dirty="0"/>
              <a:t>1+1</a:t>
            </a:r>
            <a:r>
              <a:rPr lang="zh-CN" altLang="en-US" dirty="0"/>
              <a:t>大于</a:t>
            </a:r>
            <a:r>
              <a:rPr lang="en-US" altLang="zh-CN" dirty="0"/>
              <a:t>2</a:t>
            </a:r>
            <a:r>
              <a:rPr lang="zh-CN" altLang="en-US" dirty="0"/>
              <a:t>）的效果，我个人认为这种训练可以提高模型的稳定性和协同性。</a:t>
            </a:r>
            <a:endParaRPr lang="en-US" altLang="zh-CN" dirty="0"/>
          </a:p>
        </p:txBody>
      </p:sp>
      <p:sp>
        <p:nvSpPr>
          <p:cNvPr id="6" name="文本框 5">
            <a:extLst>
              <a:ext uri="{FF2B5EF4-FFF2-40B4-BE49-F238E27FC236}">
                <a16:creationId xmlns:a16="http://schemas.microsoft.com/office/drawing/2014/main" id="{250D72BF-8FA2-8341-89AE-017910485AE7}"/>
              </a:ext>
            </a:extLst>
          </p:cNvPr>
          <p:cNvSpPr txBox="1"/>
          <p:nvPr/>
        </p:nvSpPr>
        <p:spPr>
          <a:xfrm>
            <a:off x="10401300" y="180975"/>
            <a:ext cx="1552575" cy="369332"/>
          </a:xfrm>
          <a:prstGeom prst="rect">
            <a:avLst/>
          </a:prstGeom>
          <a:noFill/>
        </p:spPr>
        <p:txBody>
          <a:bodyPr wrap="square" rtlCol="0">
            <a:spAutoFit/>
          </a:bodyPr>
          <a:lstStyle/>
          <a:p>
            <a:r>
              <a:rPr lang="zh-CN" altLang="en-US" b="1" dirty="0"/>
              <a:t>模型架构</a:t>
            </a:r>
            <a:endParaRPr lang="en-US" altLang="zh-CN" b="1" dirty="0"/>
          </a:p>
        </p:txBody>
      </p:sp>
      <p:pic>
        <p:nvPicPr>
          <p:cNvPr id="5" name="图片 4">
            <a:extLst>
              <a:ext uri="{FF2B5EF4-FFF2-40B4-BE49-F238E27FC236}">
                <a16:creationId xmlns:a16="http://schemas.microsoft.com/office/drawing/2014/main" id="{1069B238-4F4B-0455-B46D-9557F86C9149}"/>
              </a:ext>
            </a:extLst>
          </p:cNvPr>
          <p:cNvPicPr>
            <a:picLocks noChangeAspect="1"/>
          </p:cNvPicPr>
          <p:nvPr/>
        </p:nvPicPr>
        <p:blipFill>
          <a:blip r:embed="rId3"/>
          <a:stretch>
            <a:fillRect/>
          </a:stretch>
        </p:blipFill>
        <p:spPr>
          <a:xfrm>
            <a:off x="6096000" y="3429000"/>
            <a:ext cx="5435374" cy="3025936"/>
          </a:xfrm>
          <a:prstGeom prst="rect">
            <a:avLst/>
          </a:prstGeom>
        </p:spPr>
      </p:pic>
    </p:spTree>
    <p:extLst>
      <p:ext uri="{BB962C8B-B14F-4D97-AF65-F5344CB8AC3E}">
        <p14:creationId xmlns:p14="http://schemas.microsoft.com/office/powerpoint/2010/main" val="2744251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84EBA-6D58-BAB0-8964-98D8DC005C82}"/>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DD2B330-7A1F-A496-8F84-2A9E4F146B50}"/>
              </a:ext>
            </a:extLst>
          </p:cNvPr>
          <p:cNvSpPr txBox="1"/>
          <p:nvPr/>
        </p:nvSpPr>
        <p:spPr>
          <a:xfrm>
            <a:off x="1142999" y="180975"/>
            <a:ext cx="3676651" cy="369332"/>
          </a:xfrm>
          <a:prstGeom prst="rect">
            <a:avLst/>
          </a:prstGeom>
          <a:noFill/>
        </p:spPr>
        <p:txBody>
          <a:bodyPr wrap="square" rtlCol="0">
            <a:spAutoFit/>
          </a:bodyPr>
          <a:lstStyle/>
          <a:p>
            <a:r>
              <a:rPr lang="en-US" altLang="zh-CN" b="1" dirty="0"/>
              <a:t>Volumetric Generation</a:t>
            </a:r>
          </a:p>
        </p:txBody>
      </p:sp>
      <p:sp>
        <p:nvSpPr>
          <p:cNvPr id="3" name="文本框 2">
            <a:extLst>
              <a:ext uri="{FF2B5EF4-FFF2-40B4-BE49-F238E27FC236}">
                <a16:creationId xmlns:a16="http://schemas.microsoft.com/office/drawing/2014/main" id="{EAFCF01A-9E24-423E-68A4-43F77F9DD78E}"/>
              </a:ext>
            </a:extLst>
          </p:cNvPr>
          <p:cNvSpPr txBox="1"/>
          <p:nvPr/>
        </p:nvSpPr>
        <p:spPr>
          <a:xfrm>
            <a:off x="1" y="657225"/>
            <a:ext cx="5587773" cy="3999749"/>
          </a:xfrm>
          <a:prstGeom prst="rect">
            <a:avLst/>
          </a:prstGeom>
          <a:noFill/>
        </p:spPr>
        <p:txBody>
          <a:bodyPr wrap="square" rtlCol="0">
            <a:spAutoFit/>
          </a:bodyPr>
          <a:lstStyle/>
          <a:p>
            <a:pPr algn="l" fontAlgn="base">
              <a:lnSpc>
                <a:spcPts val="1800"/>
              </a:lnSpc>
              <a:buFont typeface="+mj-lt"/>
              <a:buAutoNum type="arabicPeriod"/>
            </a:pPr>
            <a:r>
              <a:rPr lang="zh-CN" altLang="en-US" sz="1200" b="1" i="0" dirty="0">
                <a:solidFill>
                  <a:srgbClr val="060607"/>
                </a:solidFill>
                <a:effectLst/>
                <a:latin typeface="inherit"/>
              </a:rPr>
              <a:t>体积合成的挑战</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使用完整的</a:t>
            </a:r>
            <a:r>
              <a:rPr lang="en-US" altLang="zh-CN" sz="1200" b="0" i="0" dirty="0">
                <a:solidFill>
                  <a:srgbClr val="060607"/>
                </a:solidFill>
                <a:effectLst/>
                <a:latin typeface="inherit"/>
              </a:rPr>
              <a:t>3D</a:t>
            </a:r>
            <a:r>
              <a:rPr lang="zh-CN" altLang="en-US" sz="1200" b="0" i="0" dirty="0">
                <a:solidFill>
                  <a:srgbClr val="060607"/>
                </a:solidFill>
                <a:effectLst/>
                <a:latin typeface="inherit"/>
              </a:rPr>
              <a:t>网络可以提供固有的切片间一致性，但计算需求高，限制了其应用。</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此外，成对的多模态医学数据的缺乏也阻碍了</a:t>
            </a:r>
            <a:r>
              <a:rPr lang="en-US" altLang="zh-CN" sz="1200" b="0" i="0" dirty="0">
                <a:solidFill>
                  <a:srgbClr val="060607"/>
                </a:solidFill>
                <a:effectLst/>
                <a:latin typeface="inherit"/>
              </a:rPr>
              <a:t>3D</a:t>
            </a:r>
            <a:r>
              <a:rPr lang="zh-CN" altLang="en-US" sz="1200" b="0" i="0" dirty="0">
                <a:solidFill>
                  <a:srgbClr val="060607"/>
                </a:solidFill>
                <a:effectLst/>
                <a:latin typeface="inherit"/>
              </a:rPr>
              <a:t>网络的有效训练。</a:t>
            </a:r>
          </a:p>
          <a:p>
            <a:pPr algn="l" fontAlgn="base">
              <a:lnSpc>
                <a:spcPts val="1800"/>
              </a:lnSpc>
              <a:buFont typeface="+mj-lt"/>
              <a:buAutoNum type="arabicPeriod"/>
            </a:pPr>
            <a:r>
              <a:rPr lang="en-US" altLang="zh-CN" sz="1200" b="1" i="0" dirty="0">
                <a:solidFill>
                  <a:srgbClr val="060607"/>
                </a:solidFill>
                <a:effectLst/>
                <a:latin typeface="inherit"/>
              </a:rPr>
              <a:t>2.5D</a:t>
            </a:r>
            <a:r>
              <a:rPr lang="zh-CN" altLang="en-US" sz="1200" b="1" i="0" dirty="0">
                <a:solidFill>
                  <a:srgbClr val="060607"/>
                </a:solidFill>
                <a:effectLst/>
                <a:latin typeface="inherit"/>
              </a:rPr>
              <a:t>策略</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为了解决上述问题，</a:t>
            </a:r>
            <a:r>
              <a:rPr lang="en-US" altLang="zh-CN" sz="1200" b="0" i="0" dirty="0">
                <a:solidFill>
                  <a:srgbClr val="060607"/>
                </a:solidFill>
                <a:effectLst/>
                <a:latin typeface="inherit"/>
              </a:rPr>
              <a:t>PASTA</a:t>
            </a:r>
            <a:r>
              <a:rPr lang="zh-CN" altLang="en-US" sz="1200" b="0" i="0" dirty="0">
                <a:solidFill>
                  <a:srgbClr val="060607"/>
                </a:solidFill>
                <a:effectLst/>
                <a:latin typeface="inherit"/>
              </a:rPr>
              <a:t>采用了</a:t>
            </a:r>
            <a:r>
              <a:rPr lang="en-US" altLang="zh-CN" sz="1200" b="0" i="0" dirty="0">
                <a:solidFill>
                  <a:srgbClr val="060607"/>
                </a:solidFill>
                <a:effectLst/>
                <a:latin typeface="inherit"/>
              </a:rPr>
              <a:t>2.5D</a:t>
            </a:r>
            <a:r>
              <a:rPr lang="zh-CN" altLang="en-US" sz="1200" b="0" i="0" dirty="0">
                <a:solidFill>
                  <a:srgbClr val="060607"/>
                </a:solidFill>
                <a:effectLst/>
                <a:latin typeface="inherit"/>
              </a:rPr>
              <a:t>策略，即使用</a:t>
            </a:r>
            <a:r>
              <a:rPr lang="en-US" altLang="zh-CN" sz="1200" b="0" i="0" dirty="0">
                <a:solidFill>
                  <a:srgbClr val="060607"/>
                </a:solidFill>
                <a:effectLst/>
                <a:latin typeface="inherit"/>
              </a:rPr>
              <a:t>2D</a:t>
            </a:r>
            <a:r>
              <a:rPr lang="zh-CN" altLang="en-US" sz="1200" b="0" i="0" dirty="0">
                <a:solidFill>
                  <a:srgbClr val="060607"/>
                </a:solidFill>
                <a:effectLst/>
                <a:latin typeface="inherit"/>
              </a:rPr>
              <a:t>卷积层处理</a:t>
            </a:r>
            <a:r>
              <a:rPr lang="en-US" altLang="zh-CN" sz="1200" b="0" i="0" dirty="0">
                <a:solidFill>
                  <a:srgbClr val="060607"/>
                </a:solidFill>
                <a:effectLst/>
                <a:latin typeface="inherit"/>
              </a:rPr>
              <a:t>2D</a:t>
            </a:r>
            <a:r>
              <a:rPr lang="zh-CN" altLang="en-US" sz="1200" b="0" i="0" dirty="0">
                <a:solidFill>
                  <a:srgbClr val="060607"/>
                </a:solidFill>
                <a:effectLst/>
                <a:latin typeface="inherit"/>
              </a:rPr>
              <a:t>切片作为输入。</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在输入通道中，</a:t>
            </a:r>
            <a:r>
              <a:rPr lang="zh-CN" altLang="en-US" sz="1200" b="1" i="0" dirty="0">
                <a:solidFill>
                  <a:srgbClr val="FFC000"/>
                </a:solidFill>
                <a:effectLst/>
                <a:latin typeface="inherit"/>
              </a:rPr>
              <a:t>每个输入切片沿同一轴包含</a:t>
            </a:r>
            <a:r>
              <a:rPr lang="en-US" altLang="zh-CN" sz="1200" b="1" i="0" dirty="0">
                <a:solidFill>
                  <a:srgbClr val="FFC000"/>
                </a:solidFill>
                <a:effectLst/>
                <a:latin typeface="inherit"/>
              </a:rPr>
              <a:t>N</a:t>
            </a:r>
            <a:r>
              <a:rPr lang="zh-CN" altLang="en-US" sz="1200" b="1" i="0" dirty="0">
                <a:solidFill>
                  <a:srgbClr val="FFC000"/>
                </a:solidFill>
                <a:effectLst/>
                <a:latin typeface="inherit"/>
              </a:rPr>
              <a:t>个连续的相邻切片</a:t>
            </a:r>
            <a:r>
              <a:rPr lang="zh-CN" altLang="en-US" sz="1200" b="0" i="0" dirty="0">
                <a:solidFill>
                  <a:srgbClr val="060607"/>
                </a:solidFill>
                <a:effectLst/>
                <a:latin typeface="inherit"/>
              </a:rPr>
              <a:t>。这样可以在保持较低计算需求的同时，考虑到切片间的上下文信息。</a:t>
            </a:r>
          </a:p>
          <a:p>
            <a:pPr algn="l" fontAlgn="base">
              <a:lnSpc>
                <a:spcPts val="1800"/>
              </a:lnSpc>
              <a:buFont typeface="+mj-lt"/>
              <a:buAutoNum type="arabicPeriod"/>
            </a:pPr>
            <a:r>
              <a:rPr lang="zh-CN" altLang="en-US" sz="1200" b="1" i="0" dirty="0">
                <a:solidFill>
                  <a:srgbClr val="060607"/>
                </a:solidFill>
                <a:effectLst/>
                <a:latin typeface="inherit"/>
              </a:rPr>
              <a:t>网络训练和输出</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训练完成后，网络生成目标切片及其</a:t>
            </a:r>
            <a:r>
              <a:rPr lang="en-US" altLang="zh-CN" sz="1200" b="0" i="0" dirty="0">
                <a:solidFill>
                  <a:srgbClr val="060607"/>
                </a:solidFill>
                <a:effectLst/>
                <a:latin typeface="inherit"/>
              </a:rPr>
              <a:t>N</a:t>
            </a:r>
            <a:r>
              <a:rPr lang="zh-CN" altLang="en-US" sz="1200" b="0" i="0" dirty="0">
                <a:solidFill>
                  <a:srgbClr val="060607"/>
                </a:solidFill>
                <a:effectLst/>
                <a:latin typeface="inherit"/>
              </a:rPr>
              <a:t>个相邻切片。</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这些相邻切片根据与目标切片的距离进行加权，距离越近的切片权重越高。</a:t>
            </a:r>
          </a:p>
          <a:p>
            <a:pPr algn="l" fontAlgn="base">
              <a:lnSpc>
                <a:spcPts val="1800"/>
              </a:lnSpc>
              <a:buFont typeface="+mj-lt"/>
              <a:buAutoNum type="arabicPeriod"/>
            </a:pPr>
            <a:r>
              <a:rPr lang="zh-CN" altLang="en-US" sz="1200" b="1" i="0" dirty="0">
                <a:solidFill>
                  <a:srgbClr val="060607"/>
                </a:solidFill>
                <a:effectLst/>
                <a:latin typeface="inherit"/>
              </a:rPr>
              <a:t>生成一致的</a:t>
            </a:r>
            <a:r>
              <a:rPr lang="en-US" altLang="zh-CN" sz="1200" b="1" i="0" dirty="0">
                <a:solidFill>
                  <a:srgbClr val="060607"/>
                </a:solidFill>
                <a:effectLst/>
                <a:latin typeface="inherit"/>
              </a:rPr>
              <a:t>3D</a:t>
            </a:r>
            <a:r>
              <a:rPr lang="zh-CN" altLang="en-US" sz="1200" b="1" i="0" dirty="0">
                <a:solidFill>
                  <a:srgbClr val="060607"/>
                </a:solidFill>
                <a:effectLst/>
                <a:latin typeface="inherit"/>
              </a:rPr>
              <a:t>扫描</a:t>
            </a:r>
            <a:r>
              <a:rPr lang="zh-CN" altLang="en-US" sz="1200" b="0" i="0" dirty="0">
                <a:solidFill>
                  <a:srgbClr val="060607"/>
                </a:solidFill>
                <a:effectLst/>
                <a:latin typeface="inherit"/>
              </a:rPr>
              <a:t>：</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将所有加权切片相加，并在每个切片位置上对重叠部分进行平均，从而得到一致的</a:t>
            </a:r>
            <a:r>
              <a:rPr lang="en-US" altLang="zh-CN" sz="1200" b="0" i="0" dirty="0">
                <a:solidFill>
                  <a:srgbClr val="060607"/>
                </a:solidFill>
                <a:effectLst/>
                <a:latin typeface="inherit"/>
              </a:rPr>
              <a:t>3D</a:t>
            </a:r>
            <a:r>
              <a:rPr lang="zh-CN" altLang="en-US" sz="1200" b="0" i="0" dirty="0">
                <a:solidFill>
                  <a:srgbClr val="060607"/>
                </a:solidFill>
                <a:effectLst/>
                <a:latin typeface="inherit"/>
              </a:rPr>
              <a:t>扫描。</a:t>
            </a:r>
          </a:p>
          <a:p>
            <a:pPr marL="742950" lvl="1" indent="-285750" algn="l" fontAlgn="base">
              <a:lnSpc>
                <a:spcPts val="1800"/>
              </a:lnSpc>
              <a:buFont typeface="+mj-lt"/>
              <a:buAutoNum type="arabicPeriod"/>
            </a:pPr>
            <a:r>
              <a:rPr lang="zh-CN" altLang="en-US" sz="1200" b="0" i="0" dirty="0">
                <a:solidFill>
                  <a:srgbClr val="060607"/>
                </a:solidFill>
                <a:effectLst/>
                <a:latin typeface="inherit"/>
              </a:rPr>
              <a:t>这种策略使模型能够有效地减轻由</a:t>
            </a:r>
            <a:r>
              <a:rPr lang="en-US" altLang="zh-CN" sz="1200" b="0" i="0" dirty="0">
                <a:solidFill>
                  <a:srgbClr val="060607"/>
                </a:solidFill>
                <a:effectLst/>
                <a:latin typeface="inherit"/>
              </a:rPr>
              <a:t>2D</a:t>
            </a:r>
            <a:r>
              <a:rPr lang="zh-CN" altLang="en-US" sz="1200" b="0" i="0" dirty="0">
                <a:solidFill>
                  <a:srgbClr val="060607"/>
                </a:solidFill>
                <a:effectLst/>
                <a:latin typeface="inherit"/>
              </a:rPr>
              <a:t>网络引入的切片不一致性。</a:t>
            </a:r>
            <a:r>
              <a:rPr lang="en-US" altLang="zh-CN" sz="1200" dirty="0">
                <a:solidFill>
                  <a:schemeClr val="accent1"/>
                </a:solidFill>
                <a:latin typeface="inherit"/>
              </a:rPr>
              <a:t>[1]</a:t>
            </a:r>
            <a:endParaRPr lang="zh-CN" altLang="en-US" sz="1200" b="0" i="0" dirty="0">
              <a:solidFill>
                <a:schemeClr val="accent1"/>
              </a:solidFill>
              <a:effectLst/>
              <a:latin typeface="inherit"/>
            </a:endParaRPr>
          </a:p>
        </p:txBody>
      </p:sp>
      <p:sp>
        <p:nvSpPr>
          <p:cNvPr id="6" name="文本框 5">
            <a:extLst>
              <a:ext uri="{FF2B5EF4-FFF2-40B4-BE49-F238E27FC236}">
                <a16:creationId xmlns:a16="http://schemas.microsoft.com/office/drawing/2014/main" id="{6C98F633-7EF3-66DE-B615-E3EA1BDD04DB}"/>
              </a:ext>
            </a:extLst>
          </p:cNvPr>
          <p:cNvSpPr txBox="1"/>
          <p:nvPr/>
        </p:nvSpPr>
        <p:spPr>
          <a:xfrm>
            <a:off x="10401300" y="180975"/>
            <a:ext cx="1552575" cy="369332"/>
          </a:xfrm>
          <a:prstGeom prst="rect">
            <a:avLst/>
          </a:prstGeom>
          <a:noFill/>
        </p:spPr>
        <p:txBody>
          <a:bodyPr wrap="square" rtlCol="0">
            <a:spAutoFit/>
          </a:bodyPr>
          <a:lstStyle/>
          <a:p>
            <a:r>
              <a:rPr lang="zh-CN" altLang="en-US" b="1" dirty="0"/>
              <a:t>模型架构</a:t>
            </a:r>
            <a:endParaRPr lang="en-US" altLang="zh-CN" b="1" dirty="0"/>
          </a:p>
        </p:txBody>
      </p:sp>
      <p:pic>
        <p:nvPicPr>
          <p:cNvPr id="5" name="图片 4">
            <a:extLst>
              <a:ext uri="{FF2B5EF4-FFF2-40B4-BE49-F238E27FC236}">
                <a16:creationId xmlns:a16="http://schemas.microsoft.com/office/drawing/2014/main" id="{30874082-847A-86FC-5863-38E14AEBC8C8}"/>
              </a:ext>
            </a:extLst>
          </p:cNvPr>
          <p:cNvPicPr>
            <a:picLocks noChangeAspect="1"/>
          </p:cNvPicPr>
          <p:nvPr/>
        </p:nvPicPr>
        <p:blipFill>
          <a:blip r:embed="rId2"/>
          <a:stretch>
            <a:fillRect/>
          </a:stretch>
        </p:blipFill>
        <p:spPr>
          <a:xfrm>
            <a:off x="5587774" y="657225"/>
            <a:ext cx="6604226" cy="3676650"/>
          </a:xfrm>
          <a:prstGeom prst="rect">
            <a:avLst/>
          </a:prstGeom>
        </p:spPr>
      </p:pic>
      <p:sp>
        <p:nvSpPr>
          <p:cNvPr id="4" name="文本框 3">
            <a:extLst>
              <a:ext uri="{FF2B5EF4-FFF2-40B4-BE49-F238E27FC236}">
                <a16:creationId xmlns:a16="http://schemas.microsoft.com/office/drawing/2014/main" id="{418F2535-508E-8628-F393-314E086B7537}"/>
              </a:ext>
            </a:extLst>
          </p:cNvPr>
          <p:cNvSpPr txBox="1"/>
          <p:nvPr/>
        </p:nvSpPr>
        <p:spPr>
          <a:xfrm>
            <a:off x="7029450" y="4555093"/>
            <a:ext cx="3371850" cy="1754326"/>
          </a:xfrm>
          <a:prstGeom prst="rect">
            <a:avLst/>
          </a:prstGeom>
          <a:noFill/>
        </p:spPr>
        <p:txBody>
          <a:bodyPr wrap="square" rtlCol="0">
            <a:spAutoFit/>
          </a:bodyPr>
          <a:lstStyle/>
          <a:p>
            <a:r>
              <a:rPr lang="zh-CN" altLang="en-US" dirty="0"/>
              <a:t>文章中提出的</a:t>
            </a:r>
            <a:r>
              <a:rPr lang="en-US" altLang="zh-CN" dirty="0"/>
              <a:t>2.5D</a:t>
            </a:r>
            <a:r>
              <a:rPr lang="zh-CN" altLang="en-US" dirty="0"/>
              <a:t>处理可以理解为将</a:t>
            </a:r>
            <a:r>
              <a:rPr lang="en-US" altLang="zh-CN" dirty="0"/>
              <a:t>3D</a:t>
            </a:r>
            <a:r>
              <a:rPr lang="zh-CN" altLang="en-US" dirty="0"/>
              <a:t>切片，在训练时保留切片图像相邻的一些切片图像的特征，通过保持连续性来保留</a:t>
            </a:r>
            <a:r>
              <a:rPr lang="en-US" altLang="zh-CN" dirty="0"/>
              <a:t>3D</a:t>
            </a:r>
            <a:r>
              <a:rPr lang="zh-CN" altLang="en-US" dirty="0"/>
              <a:t>的特征，生成时也以组为单位生成，得到伪</a:t>
            </a:r>
            <a:r>
              <a:rPr lang="en-US" altLang="zh-CN" dirty="0"/>
              <a:t>3D</a:t>
            </a:r>
            <a:r>
              <a:rPr lang="zh-CN" altLang="en-US" dirty="0"/>
              <a:t>扫描</a:t>
            </a:r>
          </a:p>
        </p:txBody>
      </p:sp>
    </p:spTree>
    <p:extLst>
      <p:ext uri="{BB962C8B-B14F-4D97-AF65-F5344CB8AC3E}">
        <p14:creationId xmlns:p14="http://schemas.microsoft.com/office/powerpoint/2010/main" val="2916558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B84C-833D-EC80-3FDE-13487E4268D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6692799-8831-EA09-6CBD-2BEB22CA5006}"/>
              </a:ext>
            </a:extLst>
          </p:cNvPr>
          <p:cNvSpPr txBox="1"/>
          <p:nvPr/>
        </p:nvSpPr>
        <p:spPr>
          <a:xfrm>
            <a:off x="1142999" y="180975"/>
            <a:ext cx="3676651" cy="369332"/>
          </a:xfrm>
          <a:prstGeom prst="rect">
            <a:avLst/>
          </a:prstGeom>
          <a:noFill/>
        </p:spPr>
        <p:txBody>
          <a:bodyPr wrap="square" rtlCol="0">
            <a:spAutoFit/>
          </a:bodyPr>
          <a:lstStyle/>
          <a:p>
            <a:r>
              <a:rPr lang="en-US" altLang="zh-CN" b="1" dirty="0"/>
              <a:t>Quantitative Results</a:t>
            </a:r>
          </a:p>
        </p:txBody>
      </p:sp>
      <p:sp>
        <p:nvSpPr>
          <p:cNvPr id="3" name="文本框 2">
            <a:extLst>
              <a:ext uri="{FF2B5EF4-FFF2-40B4-BE49-F238E27FC236}">
                <a16:creationId xmlns:a16="http://schemas.microsoft.com/office/drawing/2014/main" id="{57C889EB-564D-D676-FD97-5C7BF7A38D00}"/>
              </a:ext>
            </a:extLst>
          </p:cNvPr>
          <p:cNvSpPr txBox="1"/>
          <p:nvPr/>
        </p:nvSpPr>
        <p:spPr>
          <a:xfrm>
            <a:off x="123824" y="842725"/>
            <a:ext cx="5124451" cy="3970318"/>
          </a:xfrm>
          <a:prstGeom prst="rect">
            <a:avLst/>
          </a:prstGeom>
          <a:noFill/>
        </p:spPr>
        <p:txBody>
          <a:bodyPr wrap="square" rtlCol="0">
            <a:spAutoFit/>
          </a:bodyPr>
          <a:lstStyle/>
          <a:p>
            <a:r>
              <a:rPr lang="en-US" altLang="zh-CN" dirty="0"/>
              <a:t>Tab. 1 reports quantitative metrics between GT and</a:t>
            </a:r>
          </a:p>
          <a:p>
            <a:r>
              <a:rPr lang="en-US" altLang="zh-CN" dirty="0"/>
              <a:t>synthesized PET for all methods. Consistent with the qualitative results, PASTA</a:t>
            </a:r>
          </a:p>
          <a:p>
            <a:r>
              <a:rPr lang="en-US" altLang="zh-CN" dirty="0"/>
              <a:t>generates PETs with the highest quality, owning the lowest MAE (3.45%), MSE</a:t>
            </a:r>
          </a:p>
          <a:p>
            <a:r>
              <a:rPr lang="en-US" altLang="zh-CN" dirty="0"/>
              <a:t>(0.43%), and highest PSNR (24.59), SSIM (86.29%). DM-based method BBDM</a:t>
            </a:r>
          </a:p>
          <a:p>
            <a:r>
              <a:rPr lang="en-US" altLang="zh-CN" dirty="0"/>
              <a:t>consistently has the second-best results, with a similar performance for BBDM-</a:t>
            </a:r>
          </a:p>
          <a:p>
            <a:r>
              <a:rPr lang="en-US" altLang="zh-CN" dirty="0"/>
              <a:t>LDM. However, the other GAN-based baselines, especially </a:t>
            </a:r>
            <a:r>
              <a:rPr lang="en-US" altLang="zh-CN" dirty="0" err="1"/>
              <a:t>CycleGAN</a:t>
            </a:r>
            <a:r>
              <a:rPr lang="en-US" altLang="zh-CN" dirty="0"/>
              <a:t>, cannot</a:t>
            </a:r>
          </a:p>
          <a:p>
            <a:r>
              <a:rPr lang="en-US" altLang="zh-CN" dirty="0"/>
              <a:t>reach on-par performance. These results confirm the potential of DMs.</a:t>
            </a:r>
            <a:r>
              <a:rPr lang="en-US" altLang="zh-CN" dirty="0">
                <a:solidFill>
                  <a:schemeClr val="accent1"/>
                </a:solidFill>
              </a:rPr>
              <a:t>[1]</a:t>
            </a:r>
          </a:p>
        </p:txBody>
      </p:sp>
      <p:sp>
        <p:nvSpPr>
          <p:cNvPr id="6" name="文本框 5">
            <a:extLst>
              <a:ext uri="{FF2B5EF4-FFF2-40B4-BE49-F238E27FC236}">
                <a16:creationId xmlns:a16="http://schemas.microsoft.com/office/drawing/2014/main" id="{69C8AEA3-C07A-4325-A1BB-954A855069BB}"/>
              </a:ext>
            </a:extLst>
          </p:cNvPr>
          <p:cNvSpPr txBox="1"/>
          <p:nvPr/>
        </p:nvSpPr>
        <p:spPr>
          <a:xfrm>
            <a:off x="9791700" y="180975"/>
            <a:ext cx="2162175" cy="369332"/>
          </a:xfrm>
          <a:prstGeom prst="rect">
            <a:avLst/>
          </a:prstGeom>
          <a:noFill/>
        </p:spPr>
        <p:txBody>
          <a:bodyPr wrap="square" rtlCol="0">
            <a:spAutoFit/>
          </a:bodyPr>
          <a:lstStyle/>
          <a:p>
            <a:r>
              <a:rPr lang="zh-CN" altLang="en-US" b="1" dirty="0"/>
              <a:t>实验结果及分析</a:t>
            </a:r>
            <a:endParaRPr lang="en-US" altLang="zh-CN" b="1" dirty="0"/>
          </a:p>
        </p:txBody>
      </p:sp>
      <p:pic>
        <p:nvPicPr>
          <p:cNvPr id="7" name="图片 6">
            <a:extLst>
              <a:ext uri="{FF2B5EF4-FFF2-40B4-BE49-F238E27FC236}">
                <a16:creationId xmlns:a16="http://schemas.microsoft.com/office/drawing/2014/main" id="{FA9C7AE2-192F-EE9E-BE72-314403686EF3}"/>
              </a:ext>
            </a:extLst>
          </p:cNvPr>
          <p:cNvPicPr>
            <a:picLocks noChangeAspect="1"/>
          </p:cNvPicPr>
          <p:nvPr/>
        </p:nvPicPr>
        <p:blipFill>
          <a:blip r:embed="rId2"/>
          <a:stretch>
            <a:fillRect/>
          </a:stretch>
        </p:blipFill>
        <p:spPr>
          <a:xfrm>
            <a:off x="5164776" y="714375"/>
            <a:ext cx="7027224" cy="2161580"/>
          </a:xfrm>
          <a:prstGeom prst="rect">
            <a:avLst/>
          </a:prstGeom>
        </p:spPr>
      </p:pic>
    </p:spTree>
    <p:extLst>
      <p:ext uri="{BB962C8B-B14F-4D97-AF65-F5344CB8AC3E}">
        <p14:creationId xmlns:p14="http://schemas.microsoft.com/office/powerpoint/2010/main" val="2090969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FAE08-EFA4-8870-3C17-CBB27F9774F6}"/>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D186E039-053E-6B17-BA12-916BB9357DEE}"/>
              </a:ext>
            </a:extLst>
          </p:cNvPr>
          <p:cNvPicPr>
            <a:picLocks noChangeAspect="1"/>
          </p:cNvPicPr>
          <p:nvPr/>
        </p:nvPicPr>
        <p:blipFill>
          <a:blip r:embed="rId2"/>
          <a:stretch>
            <a:fillRect/>
          </a:stretch>
        </p:blipFill>
        <p:spPr>
          <a:xfrm>
            <a:off x="5186944" y="838201"/>
            <a:ext cx="7005056" cy="2000248"/>
          </a:xfrm>
          <a:prstGeom prst="rect">
            <a:avLst/>
          </a:prstGeom>
        </p:spPr>
      </p:pic>
      <p:sp>
        <p:nvSpPr>
          <p:cNvPr id="2" name="文本框 1">
            <a:extLst>
              <a:ext uri="{FF2B5EF4-FFF2-40B4-BE49-F238E27FC236}">
                <a16:creationId xmlns:a16="http://schemas.microsoft.com/office/drawing/2014/main" id="{DCE962CC-EF25-5D2A-D11A-D3D2980626BA}"/>
              </a:ext>
            </a:extLst>
          </p:cNvPr>
          <p:cNvSpPr txBox="1"/>
          <p:nvPr/>
        </p:nvSpPr>
        <p:spPr>
          <a:xfrm>
            <a:off x="1142999" y="180975"/>
            <a:ext cx="4314826" cy="369332"/>
          </a:xfrm>
          <a:prstGeom prst="rect">
            <a:avLst/>
          </a:prstGeom>
          <a:noFill/>
        </p:spPr>
        <p:txBody>
          <a:bodyPr wrap="square" rtlCol="0">
            <a:spAutoFit/>
          </a:bodyPr>
          <a:lstStyle/>
          <a:p>
            <a:r>
              <a:rPr lang="en-US" altLang="zh-CN" b="1" dirty="0"/>
              <a:t>Classification Results for AD Diagnosis</a:t>
            </a:r>
          </a:p>
        </p:txBody>
      </p:sp>
      <p:sp>
        <p:nvSpPr>
          <p:cNvPr id="3" name="文本框 2">
            <a:extLst>
              <a:ext uri="{FF2B5EF4-FFF2-40B4-BE49-F238E27FC236}">
                <a16:creationId xmlns:a16="http://schemas.microsoft.com/office/drawing/2014/main" id="{C9CFDC64-F025-EF7B-AB5A-63DB12A70108}"/>
              </a:ext>
            </a:extLst>
          </p:cNvPr>
          <p:cNvSpPr txBox="1"/>
          <p:nvPr/>
        </p:nvSpPr>
        <p:spPr>
          <a:xfrm>
            <a:off x="212802" y="2838449"/>
            <a:ext cx="11398173" cy="2800767"/>
          </a:xfrm>
          <a:prstGeom prst="rect">
            <a:avLst/>
          </a:prstGeom>
          <a:noFill/>
        </p:spPr>
        <p:txBody>
          <a:bodyPr wrap="square" rtlCol="0">
            <a:spAutoFit/>
          </a:bodyPr>
          <a:lstStyle/>
          <a:p>
            <a:r>
              <a:rPr lang="en-US" altLang="zh-CN" sz="1600" dirty="0"/>
              <a:t>To assess the synthesized 3D PET in AD diagnosis, we train AD classifiers on MRI, MRI with clinical data (c), GT PET, and synthesized (Syn) PET, respectively, using a 3D </a:t>
            </a:r>
            <a:r>
              <a:rPr lang="en-US" altLang="zh-CN" sz="1600" dirty="0" err="1"/>
              <a:t>ResNet</a:t>
            </a:r>
            <a:r>
              <a:rPr lang="en-US" altLang="zh-CN" sz="1600" dirty="0"/>
              <a:t>. We use </a:t>
            </a:r>
            <a:r>
              <a:rPr lang="en-US" altLang="zh-CN" sz="1600" dirty="0" err="1"/>
              <a:t>ResVit</a:t>
            </a:r>
            <a:r>
              <a:rPr lang="en-US" altLang="zh-CN" sz="1600" dirty="0"/>
              <a:t>, BBDM, and PASTA for the PET generation. To mitigate potential domain shift issues and ensure fair comparison, we train and test classifiers on images from the same source. Tab. 2 reports the results, and, as expected, GT PET has a higher performance than MRI. The results for PASTA also surpass MRI in all metrics with an increase of over 4%. Clinical data only boosted MRI’s BACC by 2%, suggesting that PASTA’s high pathology awareness is likely due to its more effective learning of the interaction between MRI and clinical data. While the results for PASTA in BACC are between those for MRI and GT PET, it is almost on par with GT PET in F1-Score and achieves the highest AUC. The results for BBDM are worse than MRI, confirming its issues with pathology transfer, consistent with Fig. 4. </a:t>
            </a:r>
            <a:r>
              <a:rPr lang="en-US" altLang="zh-CN" sz="1600" dirty="0" err="1"/>
              <a:t>ResVit</a:t>
            </a:r>
            <a:r>
              <a:rPr lang="en-US" altLang="zh-CN" sz="1600" dirty="0"/>
              <a:t> achieves better accuracy than BBDM, stemming from its better pathology awareness, as shown in the qualitative results, yet is still lower than for MRI. It demonstrates the high potential of PASTA for AD diagnosis and the necessity for pathology-aware transfer.</a:t>
            </a:r>
            <a:r>
              <a:rPr lang="en-US" altLang="zh-CN" sz="1600" dirty="0">
                <a:solidFill>
                  <a:schemeClr val="accent1"/>
                </a:solidFill>
              </a:rPr>
              <a:t>[1]</a:t>
            </a:r>
          </a:p>
        </p:txBody>
      </p:sp>
      <p:sp>
        <p:nvSpPr>
          <p:cNvPr id="6" name="文本框 5">
            <a:extLst>
              <a:ext uri="{FF2B5EF4-FFF2-40B4-BE49-F238E27FC236}">
                <a16:creationId xmlns:a16="http://schemas.microsoft.com/office/drawing/2014/main" id="{9444D649-5A7B-3040-CC06-E550255CA76E}"/>
              </a:ext>
            </a:extLst>
          </p:cNvPr>
          <p:cNvSpPr txBox="1"/>
          <p:nvPr/>
        </p:nvSpPr>
        <p:spPr>
          <a:xfrm>
            <a:off x="9791700" y="180975"/>
            <a:ext cx="2162175" cy="369332"/>
          </a:xfrm>
          <a:prstGeom prst="rect">
            <a:avLst/>
          </a:prstGeom>
          <a:noFill/>
        </p:spPr>
        <p:txBody>
          <a:bodyPr wrap="square" rtlCol="0">
            <a:spAutoFit/>
          </a:bodyPr>
          <a:lstStyle/>
          <a:p>
            <a:r>
              <a:rPr lang="zh-CN" altLang="en-US" b="1" dirty="0"/>
              <a:t>实验结果及分析</a:t>
            </a:r>
            <a:endParaRPr lang="en-US" altLang="zh-CN" b="1" dirty="0"/>
          </a:p>
        </p:txBody>
      </p:sp>
    </p:spTree>
    <p:extLst>
      <p:ext uri="{BB962C8B-B14F-4D97-AF65-F5344CB8AC3E}">
        <p14:creationId xmlns:p14="http://schemas.microsoft.com/office/powerpoint/2010/main" val="951470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BF724-7824-A101-1CF1-E01C47CAF27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49B968E-A7D8-77E2-3F78-915C15E82E6B}"/>
              </a:ext>
            </a:extLst>
          </p:cNvPr>
          <p:cNvSpPr txBox="1"/>
          <p:nvPr/>
        </p:nvSpPr>
        <p:spPr>
          <a:xfrm>
            <a:off x="1142999" y="180975"/>
            <a:ext cx="4314826" cy="369332"/>
          </a:xfrm>
          <a:prstGeom prst="rect">
            <a:avLst/>
          </a:prstGeom>
          <a:noFill/>
        </p:spPr>
        <p:txBody>
          <a:bodyPr wrap="square" rtlCol="0">
            <a:spAutoFit/>
          </a:bodyPr>
          <a:lstStyle/>
          <a:p>
            <a:r>
              <a:rPr lang="en-US" altLang="zh-CN" b="1" dirty="0"/>
              <a:t>Ablation Study</a:t>
            </a:r>
          </a:p>
        </p:txBody>
      </p:sp>
      <p:sp>
        <p:nvSpPr>
          <p:cNvPr id="3" name="文本框 2">
            <a:extLst>
              <a:ext uri="{FF2B5EF4-FFF2-40B4-BE49-F238E27FC236}">
                <a16:creationId xmlns:a16="http://schemas.microsoft.com/office/drawing/2014/main" id="{BBCBAA89-2D39-DC1D-DBB2-97E3B847CE7F}"/>
              </a:ext>
            </a:extLst>
          </p:cNvPr>
          <p:cNvSpPr txBox="1"/>
          <p:nvPr/>
        </p:nvSpPr>
        <p:spPr>
          <a:xfrm>
            <a:off x="219075" y="3343458"/>
            <a:ext cx="6953250" cy="3139321"/>
          </a:xfrm>
          <a:prstGeom prst="rect">
            <a:avLst/>
          </a:prstGeom>
          <a:noFill/>
        </p:spPr>
        <p:txBody>
          <a:bodyPr wrap="square" rtlCol="0">
            <a:spAutoFit/>
          </a:bodyPr>
          <a:lstStyle/>
          <a:p>
            <a:r>
              <a:rPr lang="en-US" altLang="zh-CN" dirty="0"/>
              <a:t>We perform ablations to verify several designs in PASTA,</a:t>
            </a:r>
          </a:p>
          <a:p>
            <a:r>
              <a:rPr lang="en-US" altLang="zh-CN" dirty="0"/>
              <a:t>including CycleEx, the inclusion of pathology priors (λR) and clinical data (c),</a:t>
            </a:r>
          </a:p>
          <a:p>
            <a:r>
              <a:rPr lang="en-US" altLang="zh-CN" dirty="0"/>
              <a:t>different predefined task in the conditioner arm (MRI reconstruction (M2M))</a:t>
            </a:r>
          </a:p>
          <a:p>
            <a:r>
              <a:rPr lang="en-US" altLang="zh-CN" dirty="0"/>
              <a:t>and its loss weight (λtask). Sec. A.3 reports further ablations about condition</a:t>
            </a:r>
          </a:p>
          <a:p>
            <a:r>
              <a:rPr lang="en-US" altLang="zh-CN" dirty="0"/>
              <a:t>integration and positions. Tab. 3 indicates that CycleEx significantly elevates</a:t>
            </a:r>
          </a:p>
          <a:p>
            <a:r>
              <a:rPr lang="en-US" altLang="zh-CN" dirty="0"/>
              <a:t>generation quality, followed by the choice of predefined tasks and its loss weight.</a:t>
            </a:r>
            <a:r>
              <a:rPr lang="en-US" altLang="zh-CN" dirty="0">
                <a:solidFill>
                  <a:schemeClr val="accent1"/>
                </a:solidFill>
              </a:rPr>
              <a:t>[1]</a:t>
            </a:r>
          </a:p>
        </p:txBody>
      </p:sp>
      <p:sp>
        <p:nvSpPr>
          <p:cNvPr id="6" name="文本框 5">
            <a:extLst>
              <a:ext uri="{FF2B5EF4-FFF2-40B4-BE49-F238E27FC236}">
                <a16:creationId xmlns:a16="http://schemas.microsoft.com/office/drawing/2014/main" id="{23F2F92B-9B0F-9143-5878-2F01848B3A54}"/>
              </a:ext>
            </a:extLst>
          </p:cNvPr>
          <p:cNvSpPr txBox="1"/>
          <p:nvPr/>
        </p:nvSpPr>
        <p:spPr>
          <a:xfrm>
            <a:off x="9791700" y="180975"/>
            <a:ext cx="2162175" cy="369332"/>
          </a:xfrm>
          <a:prstGeom prst="rect">
            <a:avLst/>
          </a:prstGeom>
          <a:noFill/>
        </p:spPr>
        <p:txBody>
          <a:bodyPr wrap="square" rtlCol="0">
            <a:spAutoFit/>
          </a:bodyPr>
          <a:lstStyle/>
          <a:p>
            <a:r>
              <a:rPr lang="zh-CN" altLang="en-US" b="1" dirty="0"/>
              <a:t>实验结果及分析</a:t>
            </a:r>
            <a:endParaRPr lang="en-US" altLang="zh-CN" b="1" dirty="0"/>
          </a:p>
        </p:txBody>
      </p:sp>
      <p:pic>
        <p:nvPicPr>
          <p:cNvPr id="7" name="图片 6">
            <a:extLst>
              <a:ext uri="{FF2B5EF4-FFF2-40B4-BE49-F238E27FC236}">
                <a16:creationId xmlns:a16="http://schemas.microsoft.com/office/drawing/2014/main" id="{121A05C9-D5DD-4EEE-61D4-CCA6482BAE80}"/>
              </a:ext>
            </a:extLst>
          </p:cNvPr>
          <p:cNvPicPr>
            <a:picLocks noChangeAspect="1"/>
          </p:cNvPicPr>
          <p:nvPr/>
        </p:nvPicPr>
        <p:blipFill>
          <a:blip r:embed="rId2"/>
          <a:stretch>
            <a:fillRect/>
          </a:stretch>
        </p:blipFill>
        <p:spPr>
          <a:xfrm>
            <a:off x="4675726" y="714191"/>
            <a:ext cx="7516274" cy="2629267"/>
          </a:xfrm>
          <a:prstGeom prst="rect">
            <a:avLst/>
          </a:prstGeom>
        </p:spPr>
      </p:pic>
    </p:spTree>
    <p:extLst>
      <p:ext uri="{BB962C8B-B14F-4D97-AF65-F5344CB8AC3E}">
        <p14:creationId xmlns:p14="http://schemas.microsoft.com/office/powerpoint/2010/main" val="1820627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F061F-0399-DEED-A6B5-198170772C4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5C2A135-9390-4573-B54C-703A3C26CD85}"/>
              </a:ext>
            </a:extLst>
          </p:cNvPr>
          <p:cNvSpPr txBox="1"/>
          <p:nvPr/>
        </p:nvSpPr>
        <p:spPr>
          <a:xfrm>
            <a:off x="1266825" y="1657350"/>
            <a:ext cx="2686050" cy="1754326"/>
          </a:xfrm>
          <a:prstGeom prst="rect">
            <a:avLst/>
          </a:prstGeom>
          <a:noFill/>
        </p:spPr>
        <p:txBody>
          <a:bodyPr wrap="square" rtlCol="0">
            <a:spAutoFit/>
          </a:bodyPr>
          <a:lstStyle/>
          <a:p>
            <a:r>
              <a:rPr lang="zh-CN" altLang="en-US" dirty="0"/>
              <a:t>这里就讲一下论文中使用的数据集，以及现在正在寻找的数据集，还有数据集的分类架构</a:t>
            </a:r>
            <a:r>
              <a:rPr lang="en-US" altLang="zh-CN" dirty="0"/>
              <a:t>,</a:t>
            </a:r>
            <a:r>
              <a:rPr lang="zh-CN" altLang="en-US" dirty="0"/>
              <a:t>后续能够拿到数据后会补充在这里</a:t>
            </a:r>
            <a:endParaRPr lang="en-US" altLang="zh-CN" dirty="0"/>
          </a:p>
        </p:txBody>
      </p:sp>
      <p:sp>
        <p:nvSpPr>
          <p:cNvPr id="6" name="文本框 5">
            <a:extLst>
              <a:ext uri="{FF2B5EF4-FFF2-40B4-BE49-F238E27FC236}">
                <a16:creationId xmlns:a16="http://schemas.microsoft.com/office/drawing/2014/main" id="{1CB0A597-A673-DC86-1728-B5CD65EDFA39}"/>
              </a:ext>
            </a:extLst>
          </p:cNvPr>
          <p:cNvSpPr txBox="1"/>
          <p:nvPr/>
        </p:nvSpPr>
        <p:spPr>
          <a:xfrm>
            <a:off x="9639300" y="180975"/>
            <a:ext cx="2314575" cy="369332"/>
          </a:xfrm>
          <a:prstGeom prst="rect">
            <a:avLst/>
          </a:prstGeom>
          <a:noFill/>
        </p:spPr>
        <p:txBody>
          <a:bodyPr wrap="square" rtlCol="0">
            <a:spAutoFit/>
          </a:bodyPr>
          <a:lstStyle/>
          <a:p>
            <a:r>
              <a:rPr lang="zh-CN" altLang="en-US" b="1" dirty="0"/>
              <a:t>复现数据集相关</a:t>
            </a:r>
            <a:endParaRPr lang="en-US" altLang="zh-CN" b="1" dirty="0"/>
          </a:p>
        </p:txBody>
      </p:sp>
    </p:spTree>
    <p:extLst>
      <p:ext uri="{BB962C8B-B14F-4D97-AF65-F5344CB8AC3E}">
        <p14:creationId xmlns:p14="http://schemas.microsoft.com/office/powerpoint/2010/main" val="1395068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3FB55-9B3F-D93F-DAFA-7C9F33FE51DD}"/>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9006195E-D3A1-34BE-C542-9450557F35A4}"/>
              </a:ext>
            </a:extLst>
          </p:cNvPr>
          <p:cNvSpPr txBox="1"/>
          <p:nvPr/>
        </p:nvSpPr>
        <p:spPr>
          <a:xfrm>
            <a:off x="9639300" y="180975"/>
            <a:ext cx="2314575" cy="369332"/>
          </a:xfrm>
          <a:prstGeom prst="rect">
            <a:avLst/>
          </a:prstGeom>
          <a:noFill/>
        </p:spPr>
        <p:txBody>
          <a:bodyPr wrap="square" rtlCol="0">
            <a:spAutoFit/>
          </a:bodyPr>
          <a:lstStyle/>
          <a:p>
            <a:r>
              <a:rPr lang="en-US" altLang="zh-CN" b="1" dirty="0"/>
              <a:t>PPT</a:t>
            </a:r>
            <a:r>
              <a:rPr lang="zh-CN" altLang="en-US" b="1" dirty="0"/>
              <a:t>引用的链接汇总</a:t>
            </a:r>
            <a:endParaRPr lang="en-US" altLang="zh-CN" b="1" dirty="0"/>
          </a:p>
        </p:txBody>
      </p:sp>
      <p:sp>
        <p:nvSpPr>
          <p:cNvPr id="2" name="文本框 1">
            <a:extLst>
              <a:ext uri="{FF2B5EF4-FFF2-40B4-BE49-F238E27FC236}">
                <a16:creationId xmlns:a16="http://schemas.microsoft.com/office/drawing/2014/main" id="{30008D41-698E-F1B6-6995-D8CA6188C8D4}"/>
              </a:ext>
            </a:extLst>
          </p:cNvPr>
          <p:cNvSpPr txBox="1"/>
          <p:nvPr/>
        </p:nvSpPr>
        <p:spPr>
          <a:xfrm>
            <a:off x="1038225" y="1352550"/>
            <a:ext cx="9372600" cy="1200329"/>
          </a:xfrm>
          <a:prstGeom prst="rect">
            <a:avLst/>
          </a:prstGeom>
          <a:noFill/>
        </p:spPr>
        <p:txBody>
          <a:bodyPr wrap="square" rtlCol="0">
            <a:spAutoFit/>
          </a:bodyPr>
          <a:lstStyle/>
          <a:p>
            <a:r>
              <a:rPr lang="en-US" altLang="zh-CN" dirty="0"/>
              <a:t>[1] PASTA Pathology-Aware MRI to PET Cross-Modal Translation with Diffusion Models</a:t>
            </a:r>
          </a:p>
          <a:p>
            <a:r>
              <a:rPr lang="en-US" altLang="zh-CN" dirty="0"/>
              <a:t>[2]</a:t>
            </a:r>
            <a:r>
              <a:rPr lang="en-US" altLang="zh-CN" dirty="0">
                <a:hlinkClick r:id="rId2"/>
              </a:rPr>
              <a:t> SPECT</a:t>
            </a:r>
            <a:r>
              <a:rPr lang="zh-CN" altLang="en-US" dirty="0">
                <a:hlinkClick r:id="rId2"/>
              </a:rPr>
              <a:t>、</a:t>
            </a:r>
            <a:r>
              <a:rPr lang="en-US" altLang="zh-CN" dirty="0">
                <a:hlinkClick r:id="rId2"/>
              </a:rPr>
              <a:t>PET</a:t>
            </a:r>
            <a:r>
              <a:rPr lang="zh-CN" altLang="en-US" dirty="0">
                <a:hlinkClick r:id="rId2"/>
              </a:rPr>
              <a:t>、</a:t>
            </a:r>
            <a:r>
              <a:rPr lang="en-US" altLang="zh-CN" dirty="0">
                <a:hlinkClick r:id="rId2"/>
              </a:rPr>
              <a:t>CT</a:t>
            </a:r>
            <a:r>
              <a:rPr lang="zh-CN" altLang="en-US" dirty="0">
                <a:hlinkClick r:id="rId2"/>
              </a:rPr>
              <a:t>与</a:t>
            </a:r>
            <a:r>
              <a:rPr lang="en-US" altLang="zh-CN" dirty="0">
                <a:hlinkClick r:id="rId2"/>
              </a:rPr>
              <a:t>MRI</a:t>
            </a:r>
            <a:r>
              <a:rPr lang="zh-CN" altLang="en-US" dirty="0">
                <a:hlinkClick r:id="rId2"/>
              </a:rPr>
              <a:t>成像原理及其特点的比较</a:t>
            </a:r>
            <a:r>
              <a:rPr lang="en-US" altLang="zh-CN" dirty="0">
                <a:hlinkClick r:id="rId2"/>
              </a:rPr>
              <a:t>_</a:t>
            </a:r>
            <a:r>
              <a:rPr lang="en-US" altLang="zh-CN" dirty="0" err="1">
                <a:hlinkClick r:id="rId2"/>
              </a:rPr>
              <a:t>spect</a:t>
            </a:r>
            <a:r>
              <a:rPr lang="zh-CN" altLang="en-US" dirty="0">
                <a:hlinkClick r:id="rId2"/>
              </a:rPr>
              <a:t>与</a:t>
            </a:r>
            <a:r>
              <a:rPr lang="en-US" altLang="zh-CN" dirty="0" err="1">
                <a:hlinkClick r:id="rId2"/>
              </a:rPr>
              <a:t>petct</a:t>
            </a:r>
            <a:r>
              <a:rPr lang="zh-CN" altLang="en-US" dirty="0">
                <a:hlinkClick r:id="rId2"/>
              </a:rPr>
              <a:t>有何不同</a:t>
            </a:r>
            <a:r>
              <a:rPr lang="en-US" altLang="zh-CN" dirty="0">
                <a:hlinkClick r:id="rId2"/>
              </a:rPr>
              <a:t>-CSDN</a:t>
            </a:r>
            <a:r>
              <a:rPr lang="zh-CN" altLang="en-US" dirty="0">
                <a:hlinkClick r:id="rId2"/>
              </a:rPr>
              <a:t>博客</a:t>
            </a:r>
            <a:endParaRPr lang="en-US" altLang="zh-CN" dirty="0"/>
          </a:p>
          <a:p>
            <a:r>
              <a:rPr lang="en-US" altLang="zh-CN" dirty="0"/>
              <a:t>[3]</a:t>
            </a:r>
            <a:r>
              <a:rPr lang="en-US" altLang="zh-CN" dirty="0">
                <a:hlinkClick r:id="rId3"/>
              </a:rPr>
              <a:t> U-net</a:t>
            </a:r>
            <a:r>
              <a:rPr lang="zh-CN" altLang="en-US" dirty="0">
                <a:hlinkClick r:id="rId3"/>
              </a:rPr>
              <a:t>深度解析</a:t>
            </a:r>
            <a:r>
              <a:rPr lang="en-US" altLang="zh-CN" dirty="0">
                <a:hlinkClick r:id="rId3"/>
              </a:rPr>
              <a:t>-CSDN</a:t>
            </a:r>
            <a:r>
              <a:rPr lang="zh-CN" altLang="en-US" dirty="0">
                <a:hlinkClick r:id="rId3"/>
              </a:rPr>
              <a:t>博客</a:t>
            </a:r>
            <a:endParaRPr lang="en-US" altLang="zh-CN" dirty="0"/>
          </a:p>
          <a:p>
            <a:endParaRPr lang="zh-CN" altLang="en-US" dirty="0"/>
          </a:p>
        </p:txBody>
      </p:sp>
    </p:spTree>
    <p:extLst>
      <p:ext uri="{BB962C8B-B14F-4D97-AF65-F5344CB8AC3E}">
        <p14:creationId xmlns:p14="http://schemas.microsoft.com/office/powerpoint/2010/main" val="715284160"/>
      </p:ext>
    </p:extLst>
  </p:cSld>
  <p:clrMapOvr>
    <a:masterClrMapping/>
  </p:clrMapOvr>
</p:sld>
</file>

<file path=ppt/theme/theme1.xml><?xml version="1.0" encoding="utf-8"?>
<a:theme xmlns:a="http://schemas.openxmlformats.org/drawingml/2006/main" name="PASTA论文笔记">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rdri Tools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PASTA论文笔记</Template>
  <TotalTime>196</TotalTime>
  <Words>3834</Words>
  <Application>Microsoft Office PowerPoint</Application>
  <PresentationFormat>宽屏</PresentationFormat>
  <Paragraphs>194</Paragraphs>
  <Slides>18</Slides>
  <Notes>1</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18</vt:i4>
      </vt:variant>
    </vt:vector>
  </HeadingPairs>
  <TitlesOfParts>
    <vt:vector size="30" baseType="lpstr">
      <vt:lpstr>-apple-system</vt:lpstr>
      <vt:lpstr>inherit</vt:lpstr>
      <vt:lpstr>KaTeX_AMS</vt:lpstr>
      <vt:lpstr>KaTeX_Caligraphic</vt:lpstr>
      <vt:lpstr>KaTeX_Main</vt:lpstr>
      <vt:lpstr>KaTeX_Math</vt:lpstr>
      <vt:lpstr>等线</vt:lpstr>
      <vt:lpstr>等线 Light</vt:lpstr>
      <vt:lpstr>Arial</vt:lpstr>
      <vt:lpstr>Calibri Light</vt:lpstr>
      <vt:lpstr>PASTA论文笔记</vt:lpstr>
      <vt:lpstr>Nordri ToolsTheme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ROG</dc:creator>
  <cp:lastModifiedBy>ROG</cp:lastModifiedBy>
  <cp:revision>7</cp:revision>
  <dcterms:created xsi:type="dcterms:W3CDTF">2025-04-05T07:57:50Z</dcterms:created>
  <dcterms:modified xsi:type="dcterms:W3CDTF">2025-04-05T13:48:50Z</dcterms:modified>
</cp:coreProperties>
</file>